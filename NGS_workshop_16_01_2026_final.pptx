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95" r:id="rId3"/>
    <p:sldId id="297" r:id="rId4"/>
    <p:sldId id="294" r:id="rId5"/>
    <p:sldId id="269" r:id="rId6"/>
    <p:sldId id="257" r:id="rId7"/>
    <p:sldId id="284" r:id="rId8"/>
    <p:sldId id="285" r:id="rId9"/>
    <p:sldId id="258" r:id="rId10"/>
    <p:sldId id="270" r:id="rId11"/>
    <p:sldId id="271" r:id="rId12"/>
    <p:sldId id="272" r:id="rId13"/>
    <p:sldId id="273" r:id="rId14"/>
    <p:sldId id="299" r:id="rId15"/>
    <p:sldId id="300" r:id="rId16"/>
    <p:sldId id="301" r:id="rId17"/>
    <p:sldId id="305" r:id="rId18"/>
    <p:sldId id="275" r:id="rId19"/>
    <p:sldId id="259" r:id="rId20"/>
    <p:sldId id="276" r:id="rId21"/>
    <p:sldId id="277" r:id="rId22"/>
    <p:sldId id="278" r:id="rId23"/>
    <p:sldId id="302" r:id="rId24"/>
    <p:sldId id="286" r:id="rId25"/>
    <p:sldId id="287" r:id="rId26"/>
    <p:sldId id="288" r:id="rId27"/>
    <p:sldId id="264" r:id="rId28"/>
    <p:sldId id="279" r:id="rId29"/>
    <p:sldId id="280" r:id="rId30"/>
    <p:sldId id="282" r:id="rId31"/>
    <p:sldId id="283" r:id="rId32"/>
    <p:sldId id="303" r:id="rId33"/>
    <p:sldId id="289" r:id="rId34"/>
    <p:sldId id="290" r:id="rId35"/>
    <p:sldId id="291" r:id="rId36"/>
    <p:sldId id="306" r:id="rId37"/>
    <p:sldId id="292" r:id="rId38"/>
    <p:sldId id="307" r:id="rId39"/>
    <p:sldId id="308" r:id="rId40"/>
    <p:sldId id="281" r:id="rId41"/>
    <p:sldId id="267" r:id="rId42"/>
    <p:sldId id="268"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8113C62-D156-E47A-DE43-888530AD7080}" name="Sara Dobbins" initials="SD" userId="S::sdobbins@sgul.ac.uk::d7d99492-7887-4dcf-ab77-95c22cd05c1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3862DC-D677-4D86-B334-EBCE923F5DAE}" v="13" dt="2026-01-12T13:54:01.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98" d="100"/>
          <a:sy n="98" d="100"/>
        </p:scale>
        <p:origin x="84" y="5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D32B3E-51FF-487E-9758-13C5AD810C2A}" type="datetimeFigureOut">
              <a:rPr lang="en-GB" smtClean="0"/>
              <a:t>12/01/2026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68BB09-B59C-47D5-B427-692A7F45A170}" type="slidenum">
              <a:rPr lang="en-GB" smtClean="0"/>
              <a:t>‹#›</a:t>
            </a:fld>
            <a:endParaRPr lang="en-GB"/>
          </a:p>
        </p:txBody>
      </p:sp>
    </p:spTree>
    <p:extLst>
      <p:ext uri="{BB962C8B-B14F-4D97-AF65-F5344CB8AC3E}">
        <p14:creationId xmlns:p14="http://schemas.microsoft.com/office/powerpoint/2010/main" val="1457109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shell: is a program that takes commands from the keyboard and gives them to the operating system to perform.</a:t>
            </a:r>
          </a:p>
          <a:p>
            <a:r>
              <a:rPr lang="en-GB" sz="1200" b="0" i="0" kern="1200" dirty="0">
                <a:solidFill>
                  <a:schemeClr val="tx1"/>
                </a:solidFill>
                <a:effectLst/>
                <a:latin typeface="+mn-lt"/>
                <a:ea typeface="+mn-ea"/>
                <a:cs typeface="+mn-cs"/>
              </a:rPr>
              <a:t>Terminal: is a program that opens a window and lets you interact with the shell. </a:t>
            </a:r>
          </a:p>
          <a:p>
            <a:r>
              <a:rPr lang="en-GB" sz="1200" b="0" i="0" kern="1200" dirty="0">
                <a:solidFill>
                  <a:schemeClr val="tx1"/>
                </a:solidFill>
                <a:effectLst/>
                <a:latin typeface="+mn-lt"/>
                <a:ea typeface="+mn-ea"/>
                <a:cs typeface="+mn-cs"/>
              </a:rPr>
              <a:t>shell prompt: contains your user name and the name of the machine followed by a dollar sign</a:t>
            </a:r>
            <a:endParaRPr lang="en-GB" dirty="0"/>
          </a:p>
        </p:txBody>
      </p:sp>
      <p:sp>
        <p:nvSpPr>
          <p:cNvPr id="4" name="Slide Number Placeholder 3"/>
          <p:cNvSpPr>
            <a:spLocks noGrp="1"/>
          </p:cNvSpPr>
          <p:nvPr>
            <p:ph type="sldNum" sz="quarter" idx="5"/>
          </p:nvPr>
        </p:nvSpPr>
        <p:spPr/>
        <p:txBody>
          <a:bodyPr/>
          <a:lstStyle/>
          <a:p>
            <a:fld id="{6768BB09-B59C-47D5-B427-692A7F45A170}" type="slidenum">
              <a:rPr lang="en-GB" smtClean="0"/>
              <a:t>7</a:t>
            </a:fld>
            <a:endParaRPr lang="en-GB"/>
          </a:p>
        </p:txBody>
      </p:sp>
    </p:spTree>
    <p:extLst>
      <p:ext uri="{BB962C8B-B14F-4D97-AF65-F5344CB8AC3E}">
        <p14:creationId xmlns:p14="http://schemas.microsoft.com/office/powerpoint/2010/main" val="22178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423E4-1334-4E9D-BB84-9055BDB247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E60994E-F6DF-48A3-AC11-03CD11A9D2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FE02457-B823-4095-9535-4BF404DC5DA0}"/>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5" name="Footer Placeholder 4">
            <a:extLst>
              <a:ext uri="{FF2B5EF4-FFF2-40B4-BE49-F238E27FC236}">
                <a16:creationId xmlns:a16="http://schemas.microsoft.com/office/drawing/2014/main" id="{C74499E4-BA28-4C12-9BF0-EA0DDE8277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717400-2FAE-4B24-BA72-1D260C5E3410}"/>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960779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4AC89-85C9-455E-B716-4B0991196C5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EA8AFD5-89CE-468A-BD54-D4EA2CD20ED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98388A-E5D3-48F4-8708-74076B3D7160}"/>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5" name="Footer Placeholder 4">
            <a:extLst>
              <a:ext uri="{FF2B5EF4-FFF2-40B4-BE49-F238E27FC236}">
                <a16:creationId xmlns:a16="http://schemas.microsoft.com/office/drawing/2014/main" id="{D92B6B81-745D-43EF-B2F4-8BAD012BB54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571355-931E-4BA6-9AFF-2D5ACD1573D9}"/>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2070942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CDFC5-24F5-4FA0-9E6A-B688FE6471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C9C1A1C-0FBA-4B51-8E15-E5F8493FE3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0735DF5-F00F-4382-B894-046B52FE6FD2}"/>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5" name="Footer Placeholder 4">
            <a:extLst>
              <a:ext uri="{FF2B5EF4-FFF2-40B4-BE49-F238E27FC236}">
                <a16:creationId xmlns:a16="http://schemas.microsoft.com/office/drawing/2014/main" id="{241C6920-098C-4977-A946-C6CE2335A9C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23EE8FD-E249-49A6-B4A7-6BE5427F5D56}"/>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114888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7A034-3160-4546-BED0-5706D44748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324386F-695E-4458-91E2-47ABD79862B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10505D1-005B-49ED-BBC7-70DEE52F0D6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85E32BB-E5BF-42FB-B621-ECD8E8CD6418}"/>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6" name="Footer Placeholder 5">
            <a:extLst>
              <a:ext uri="{FF2B5EF4-FFF2-40B4-BE49-F238E27FC236}">
                <a16:creationId xmlns:a16="http://schemas.microsoft.com/office/drawing/2014/main" id="{7FAB4E37-B1B4-4925-AAF1-6AA2BB8344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51E7691-D75B-412A-8EE0-A7DC75B81C49}"/>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414771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2350-9D01-4E4F-ACCC-F5FF25CE786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92C1622-9B02-4397-B910-269E51BF46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7820B0-A8FD-44CD-8E56-1E9D3B9919A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00B3CCA-8D6D-4978-BEDF-11E87103FC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AC6185D-1D12-45DE-A234-A319C61651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734F17F-8E53-44E8-B766-11BAA83C682A}"/>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8" name="Footer Placeholder 7">
            <a:extLst>
              <a:ext uri="{FF2B5EF4-FFF2-40B4-BE49-F238E27FC236}">
                <a16:creationId xmlns:a16="http://schemas.microsoft.com/office/drawing/2014/main" id="{1CCEFE92-6DA3-4A85-BDAF-2262E9B80B8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F723DE8-FE45-470F-8B45-E91E4238384E}"/>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2104521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99A5-9530-4A8B-8D12-A24F809E535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83CC9F2-1C1E-41D6-A2F4-BF0027F4D7BA}"/>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4" name="Footer Placeholder 3">
            <a:extLst>
              <a:ext uri="{FF2B5EF4-FFF2-40B4-BE49-F238E27FC236}">
                <a16:creationId xmlns:a16="http://schemas.microsoft.com/office/drawing/2014/main" id="{F9C5426B-398C-4D2D-987D-E8D193BEA4D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84C14F-3439-49A2-B258-D8FDC27511FE}"/>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837434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0D8336-BD83-43A9-865E-D07509053137}"/>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3" name="Footer Placeholder 2">
            <a:extLst>
              <a:ext uri="{FF2B5EF4-FFF2-40B4-BE49-F238E27FC236}">
                <a16:creationId xmlns:a16="http://schemas.microsoft.com/office/drawing/2014/main" id="{651FF2F0-FC6A-4539-87E9-BF982C39CE8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ADAA9D6-7F3D-4CC9-9BB5-A94D2F4F4E14}"/>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1435518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A3404-3D42-44EF-8D7B-8C814D72D4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CDF3406-46C0-4AFC-9E7B-12890B2B2E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80476DF-323A-4606-8C0F-1A0A4BB51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883DB1-1E4B-4EBF-B477-2B889C9E1534}"/>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6" name="Footer Placeholder 5">
            <a:extLst>
              <a:ext uri="{FF2B5EF4-FFF2-40B4-BE49-F238E27FC236}">
                <a16:creationId xmlns:a16="http://schemas.microsoft.com/office/drawing/2014/main" id="{B3F524AA-9F32-4603-9647-18CF8D98CF2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F277951-9F5A-42FE-B641-187E934C7C05}"/>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3047427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5F30-003A-4859-AE16-AFFEF434C1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26440EB-C748-44D3-B988-28B4DBDB56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A34512D-6C7B-44EC-BFEB-80B9285B5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B0E5D01-E3D9-4993-9AB6-1F4238A1B62C}"/>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6" name="Footer Placeholder 5">
            <a:extLst>
              <a:ext uri="{FF2B5EF4-FFF2-40B4-BE49-F238E27FC236}">
                <a16:creationId xmlns:a16="http://schemas.microsoft.com/office/drawing/2014/main" id="{15F43DDF-A2A2-4A30-95A7-EA4CC82CDB8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F5F855-3392-4C25-B5BD-A34C72BFEDFE}"/>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3843995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EDE68-260D-4566-B07B-A5F3FFA05CC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8EA399B-8CD7-41AC-8559-701E3E00027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2D3CBD5-1ED2-4B84-A568-8E5569CA4E22}"/>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5" name="Footer Placeholder 4">
            <a:extLst>
              <a:ext uri="{FF2B5EF4-FFF2-40B4-BE49-F238E27FC236}">
                <a16:creationId xmlns:a16="http://schemas.microsoft.com/office/drawing/2014/main" id="{69F19317-C8CD-4C6A-BA2F-8B66841E4F2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C077D9-4D52-4911-938A-025482CD26DB}"/>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3569618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0FBD92-7EF7-4E6F-A7AB-9F69F6652C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D3F588E-870E-4658-9925-EC819687DDB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57EF69A-9FE8-4F94-8AE6-5E8143911B57}"/>
              </a:ext>
            </a:extLst>
          </p:cNvPr>
          <p:cNvSpPr>
            <a:spLocks noGrp="1"/>
          </p:cNvSpPr>
          <p:nvPr>
            <p:ph type="dt" sz="half" idx="10"/>
          </p:nvPr>
        </p:nvSpPr>
        <p:spPr/>
        <p:txBody>
          <a:bodyPr/>
          <a:lstStyle/>
          <a:p>
            <a:fld id="{72D76B72-FBD1-40FE-86FD-ADE4662CF974}" type="datetimeFigureOut">
              <a:rPr lang="en-GB" smtClean="0"/>
              <a:t>12/01/2026</a:t>
            </a:fld>
            <a:endParaRPr lang="en-GB"/>
          </a:p>
        </p:txBody>
      </p:sp>
      <p:sp>
        <p:nvSpPr>
          <p:cNvPr id="5" name="Footer Placeholder 4">
            <a:extLst>
              <a:ext uri="{FF2B5EF4-FFF2-40B4-BE49-F238E27FC236}">
                <a16:creationId xmlns:a16="http://schemas.microsoft.com/office/drawing/2014/main" id="{B52EEDBF-B93B-4000-8CFF-EE276D9F7E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2C0377-D046-4963-A57A-EE0263D1A6B5}"/>
              </a:ext>
            </a:extLst>
          </p:cNvPr>
          <p:cNvSpPr>
            <a:spLocks noGrp="1"/>
          </p:cNvSpPr>
          <p:nvPr>
            <p:ph type="sldNum" sz="quarter" idx="12"/>
          </p:nvPr>
        </p:nvSpPr>
        <p:spPr/>
        <p:txBody>
          <a:bodyPr/>
          <a:lstStyle/>
          <a:p>
            <a:fld id="{B07469EC-BA12-45C6-AEB4-B78FE7B8CAF1}" type="slidenum">
              <a:rPr lang="en-GB" smtClean="0"/>
              <a:t>‹#›</a:t>
            </a:fld>
            <a:endParaRPr lang="en-GB"/>
          </a:p>
        </p:txBody>
      </p:sp>
    </p:spTree>
    <p:extLst>
      <p:ext uri="{BB962C8B-B14F-4D97-AF65-F5344CB8AC3E}">
        <p14:creationId xmlns:p14="http://schemas.microsoft.com/office/powerpoint/2010/main" val="194254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CF3A91-D559-49F2-A3AD-00215C9EE8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9EF06F1-6C4C-44AC-BD25-88E72FBB77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843C1C1-C9C2-47D3-9BDD-F08BDEDFAE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76B72-FBD1-40FE-86FD-ADE4662CF974}" type="datetimeFigureOut">
              <a:rPr lang="en-GB" smtClean="0"/>
              <a:t>12/01/2026</a:t>
            </a:fld>
            <a:endParaRPr lang="en-GB"/>
          </a:p>
        </p:txBody>
      </p:sp>
      <p:sp>
        <p:nvSpPr>
          <p:cNvPr id="5" name="Footer Placeholder 4">
            <a:extLst>
              <a:ext uri="{FF2B5EF4-FFF2-40B4-BE49-F238E27FC236}">
                <a16:creationId xmlns:a16="http://schemas.microsoft.com/office/drawing/2014/main" id="{835B966B-1751-4ECD-9547-313A704E2D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1DB63FD-D9D2-4C17-8027-8C3C2A7209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7469EC-BA12-45C6-AEB4-B78FE7B8CAF1}" type="slidenum">
              <a:rPr lang="en-GB" smtClean="0"/>
              <a:t>‹#›</a:t>
            </a:fld>
            <a:endParaRPr lang="en-GB"/>
          </a:p>
        </p:txBody>
      </p:sp>
    </p:spTree>
    <p:extLst>
      <p:ext uri="{BB962C8B-B14F-4D97-AF65-F5344CB8AC3E}">
        <p14:creationId xmlns:p14="http://schemas.microsoft.com/office/powerpoint/2010/main" val="2455374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sgul-genetics-centre-bioinformatics/NGS-workshop_CSG_16-01-202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tats4.sgul.ac.uk/rstudio/"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maq.sourceforge.net/fastq.shtml" TargetMode="Externa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htslib.or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www.bioinformatics.babraham.ac.uk/projects/fastqc/Help/3%20Analysis%20Module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gatk.broadinstitute.org/hc/en-us/articles/360035531412-HaplotypeCaller-in-a-nutshell"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samtools.github.io/hts-specs/VCFv4.2.pdf" TargetMode="Externa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hyperlink" Target="https://www.acmg.net/docs/standards_guidelines_for_the_interpretation_of_sequence_variants.pdf" TargetMode="External"/><Relationship Id="rId4" Type="http://schemas.openxmlformats.org/officeDocument/2006/relationships/image" Target="../media/image43.svg"/></Relationships>
</file>

<file path=ppt/slides/_rels/slide40.xml.rels><?xml version="1.0" encoding="UTF-8" standalone="yes"?>
<Relationships xmlns="http://schemas.openxmlformats.org/package/2006/relationships"><Relationship Id="rId3" Type="http://schemas.openxmlformats.org/officeDocument/2006/relationships/hyperlink" Target="https://www.ensembl.org/Homo_sapiens/Tools/VEP/Results?tl=RwZWCBkDkpCg3hzZ-6010919" TargetMode="External"/><Relationship Id="rId2" Type="http://schemas.openxmlformats.org/officeDocument/2006/relationships/hyperlink" Target="https://www.ensembl.org/Multi/Tools/VEP"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samtools.github.io/hts-specs/VCFv4.2.pdf%20and%20Part4" TargetMode="External"/><Relationship Id="rId2" Type="http://schemas.openxmlformats.org/officeDocument/2006/relationships/hyperlink" Target="https://askubuntu.com/questions/420981/how-do-i-save-terminal-output-to-a-file" TargetMode="External"/><Relationship Id="rId1" Type="http://schemas.openxmlformats.org/officeDocument/2006/relationships/slideLayout" Target="../slideLayouts/slideLayout2.xml"/><Relationship Id="rId4" Type="http://schemas.openxmlformats.org/officeDocument/2006/relationships/hyperlink" Target="http://www.htslib.org/doc/samtool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A7BAC-8826-43A9-AD0E-4D789BFE76B7}"/>
              </a:ext>
            </a:extLst>
          </p:cNvPr>
          <p:cNvSpPr>
            <a:spLocks noGrp="1"/>
          </p:cNvSpPr>
          <p:nvPr>
            <p:ph type="ctrTitle"/>
          </p:nvPr>
        </p:nvSpPr>
        <p:spPr>
          <a:xfrm>
            <a:off x="1524000" y="1122363"/>
            <a:ext cx="9439656" cy="2387600"/>
          </a:xfrm>
        </p:spPr>
        <p:txBody>
          <a:bodyPr>
            <a:normAutofit/>
          </a:bodyPr>
          <a:lstStyle/>
          <a:p>
            <a:r>
              <a:rPr lang="en-GB" dirty="0">
                <a:latin typeface="Arial" panose="020B0604020202020204" pitchFamily="34" charset="0"/>
                <a:cs typeface="Arial" panose="020B0604020202020204" pitchFamily="34" charset="0"/>
              </a:rPr>
              <a:t>Next-Generation Sequencing Analysis</a:t>
            </a:r>
          </a:p>
        </p:txBody>
      </p:sp>
      <p:sp>
        <p:nvSpPr>
          <p:cNvPr id="3" name="Subtitle 2">
            <a:extLst>
              <a:ext uri="{FF2B5EF4-FFF2-40B4-BE49-F238E27FC236}">
                <a16:creationId xmlns:a16="http://schemas.microsoft.com/office/drawing/2014/main" id="{E6F3307D-4FB0-41DC-9E46-27A441B1075E}"/>
              </a:ext>
            </a:extLst>
          </p:cNvPr>
          <p:cNvSpPr>
            <a:spLocks noGrp="1"/>
          </p:cNvSpPr>
          <p:nvPr>
            <p:ph type="subTitle" idx="1"/>
          </p:nvPr>
        </p:nvSpPr>
        <p:spPr>
          <a:xfrm>
            <a:off x="1524000" y="3602038"/>
            <a:ext cx="9144000" cy="2650270"/>
          </a:xfrm>
        </p:spPr>
        <p:txBody>
          <a:bodyPr>
            <a:normAutofit lnSpcReduction="10000"/>
          </a:bodyPr>
          <a:lstStyle/>
          <a:p>
            <a:pPr algn="l"/>
            <a:endParaRPr lang="en-GB" dirty="0"/>
          </a:p>
          <a:p>
            <a:pPr algn="l"/>
            <a:endParaRPr lang="en-GB" dirty="0">
              <a:latin typeface="Arial" panose="020B0604020202020204" pitchFamily="34" charset="0"/>
              <a:cs typeface="Arial" panose="020B0604020202020204" pitchFamily="34" charset="0"/>
            </a:endParaRPr>
          </a:p>
          <a:p>
            <a:pPr algn="l"/>
            <a:r>
              <a:rPr lang="en-GB" dirty="0">
                <a:latin typeface="Arial" panose="020B0604020202020204" pitchFamily="34" charset="0"/>
                <a:cs typeface="Arial" panose="020B0604020202020204" pitchFamily="34" charset="0"/>
              </a:rPr>
              <a:t>Dr. Alan Pittman and Dr. Sara Dobbins</a:t>
            </a:r>
          </a:p>
          <a:p>
            <a:pPr algn="l"/>
            <a:r>
              <a:rPr lang="en-GB" dirty="0">
                <a:latin typeface="Arial" panose="020B0604020202020204" pitchFamily="34" charset="0"/>
                <a:cs typeface="Arial" panose="020B0604020202020204" pitchFamily="34" charset="0"/>
              </a:rPr>
              <a:t>CSG Bioinformatics Unit</a:t>
            </a:r>
          </a:p>
          <a:p>
            <a:pPr algn="l"/>
            <a:endParaRPr lang="en-GB" dirty="0">
              <a:latin typeface="Arial" panose="020B0604020202020204" pitchFamily="34" charset="0"/>
              <a:cs typeface="Arial" panose="020B0604020202020204" pitchFamily="34" charset="0"/>
            </a:endParaRPr>
          </a:p>
          <a:p>
            <a:pPr algn="l"/>
            <a:r>
              <a:rPr lang="en-GB" dirty="0">
                <a:latin typeface="Arial" panose="020B0604020202020204" pitchFamily="34" charset="0"/>
                <a:cs typeface="Arial" panose="020B0604020202020204" pitchFamily="34" charset="0"/>
              </a:rPr>
              <a:t>Friday 16</a:t>
            </a:r>
            <a:r>
              <a:rPr lang="en-GB" baseline="30000" dirty="0">
                <a:latin typeface="Arial" panose="020B0604020202020204" pitchFamily="34" charset="0"/>
                <a:cs typeface="Arial" panose="020B0604020202020204" pitchFamily="34" charset="0"/>
              </a:rPr>
              <a:t>th</a:t>
            </a:r>
            <a:r>
              <a:rPr lang="en-GB" dirty="0">
                <a:latin typeface="Arial" panose="020B0604020202020204" pitchFamily="34" charset="0"/>
                <a:cs typeface="Arial" panose="020B0604020202020204" pitchFamily="34" charset="0"/>
              </a:rPr>
              <a:t> January 2026</a:t>
            </a:r>
          </a:p>
          <a:p>
            <a:pPr algn="l"/>
            <a:endParaRPr lang="en-GB" dirty="0">
              <a:latin typeface="Garamond" panose="02020404030301010803" pitchFamily="18" charset="0"/>
            </a:endParaRPr>
          </a:p>
        </p:txBody>
      </p:sp>
    </p:spTree>
    <p:extLst>
      <p:ext uri="{BB962C8B-B14F-4D97-AF65-F5344CB8AC3E}">
        <p14:creationId xmlns:p14="http://schemas.microsoft.com/office/powerpoint/2010/main" val="2030193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5C067-F68B-49D1-950D-40D61F7DA790}"/>
              </a:ext>
            </a:extLst>
          </p:cNvPr>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Workshop set-up</a:t>
            </a:r>
          </a:p>
        </p:txBody>
      </p:sp>
      <p:sp>
        <p:nvSpPr>
          <p:cNvPr id="8" name="TextBox 7">
            <a:extLst>
              <a:ext uri="{FF2B5EF4-FFF2-40B4-BE49-F238E27FC236}">
                <a16:creationId xmlns:a16="http://schemas.microsoft.com/office/drawing/2014/main" id="{8BECB336-4388-4679-BE1F-6BA60315850E}"/>
              </a:ext>
            </a:extLst>
          </p:cNvPr>
          <p:cNvSpPr txBox="1"/>
          <p:nvPr/>
        </p:nvSpPr>
        <p:spPr>
          <a:xfrm>
            <a:off x="447129" y="2228671"/>
            <a:ext cx="10814839" cy="3139321"/>
          </a:xfrm>
          <a:prstGeom prst="rect">
            <a:avLst/>
          </a:prstGeom>
          <a:noFill/>
        </p:spPr>
        <p:txBody>
          <a:bodyPr wrap="square" rtlCol="0">
            <a:spAutoFit/>
          </a:bodyPr>
          <a:lstStyle/>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GB" sz="2400" dirty="0">
                <a:latin typeface="Arial" panose="020B0604020202020204" pitchFamily="34" charset="0"/>
                <a:cs typeface="Arial" panose="020B0604020202020204" pitchFamily="34" charset="0"/>
              </a:rPr>
              <a:t>Open a web browser</a:t>
            </a:r>
          </a:p>
          <a:p>
            <a:pPr marL="285750" indent="-285750">
              <a:buFont typeface="Wingdings" panose="05000000000000000000" pitchFamily="2" charset="2"/>
              <a:buChar char="Ø"/>
            </a:pPr>
            <a:endParaRPr lang="en-GB" sz="2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GB" sz="2400" dirty="0">
                <a:latin typeface="Arial" panose="020B0604020202020204" pitchFamily="34" charset="0"/>
                <a:cs typeface="Arial" panose="020B0604020202020204" pitchFamily="34" charset="0"/>
              </a:rPr>
              <a:t>Go to: </a:t>
            </a:r>
            <a:r>
              <a:rPr lang="en-GB" sz="2400" dirty="0">
                <a:latin typeface="Arial" panose="020B0604020202020204" pitchFamily="34" charset="0"/>
                <a:cs typeface="Arial" panose="020B0604020202020204" pitchFamily="34" charset="0"/>
                <a:hlinkClick r:id="rId2"/>
              </a:rPr>
              <a:t>https://github.com/sgul-genetics-centre-bioinformatics/NGS-workshop_CSG_16-01-2026</a:t>
            </a:r>
            <a:endParaRPr lang="en-GB" sz="2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endParaRPr lang="en-GB" sz="2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GB" sz="2400" dirty="0">
                <a:latin typeface="Arial" panose="020B0604020202020204" pitchFamily="34" charset="0"/>
                <a:cs typeface="Arial" panose="020B0604020202020204" pitchFamily="34" charset="0"/>
              </a:rPr>
              <a:t>Click on </a:t>
            </a:r>
            <a:r>
              <a:rPr lang="en-GB" sz="2400" b="1" dirty="0">
                <a:latin typeface="Arial" panose="020B0604020202020204" pitchFamily="34" charset="0"/>
                <a:cs typeface="Arial" panose="020B0604020202020204" pitchFamily="34" charset="0"/>
              </a:rPr>
              <a:t>NGS_workshop.md</a:t>
            </a:r>
            <a:r>
              <a:rPr lang="en-GB" sz="2400" dirty="0">
                <a:latin typeface="Arial" panose="020B0604020202020204" pitchFamily="34" charset="0"/>
                <a:cs typeface="Arial" panose="020B0604020202020204" pitchFamily="34" charset="0"/>
              </a:rPr>
              <a:t> to open instructions</a:t>
            </a:r>
          </a:p>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Garamond" panose="02020404030301010803" pitchFamily="18" charset="0"/>
            </a:endParaRPr>
          </a:p>
        </p:txBody>
      </p:sp>
    </p:spTree>
    <p:extLst>
      <p:ext uri="{BB962C8B-B14F-4D97-AF65-F5344CB8AC3E}">
        <p14:creationId xmlns:p14="http://schemas.microsoft.com/office/powerpoint/2010/main" val="186336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465F9-77FF-3B56-CEC4-226FFED9DCA2}"/>
              </a:ext>
            </a:extLst>
          </p:cNvPr>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Workshop set-up</a:t>
            </a:r>
            <a:endParaRPr lang="en-GB" b="1" dirty="0"/>
          </a:p>
        </p:txBody>
      </p:sp>
      <p:pic>
        <p:nvPicPr>
          <p:cNvPr id="4" name="Picture 3">
            <a:extLst>
              <a:ext uri="{FF2B5EF4-FFF2-40B4-BE49-F238E27FC236}">
                <a16:creationId xmlns:a16="http://schemas.microsoft.com/office/drawing/2014/main" id="{9877B8B8-28F4-6F9B-A5CF-F367F5B307D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878375" y="2208084"/>
            <a:ext cx="3750250" cy="2031325"/>
          </a:xfrm>
          <a:prstGeom prst="rect">
            <a:avLst/>
          </a:prstGeom>
        </p:spPr>
      </p:pic>
      <p:sp>
        <p:nvSpPr>
          <p:cNvPr id="5" name="TextBox 4">
            <a:extLst>
              <a:ext uri="{FF2B5EF4-FFF2-40B4-BE49-F238E27FC236}">
                <a16:creationId xmlns:a16="http://schemas.microsoft.com/office/drawing/2014/main" id="{A0E38B3C-3832-7C08-6FDC-4053679EA551}"/>
              </a:ext>
            </a:extLst>
          </p:cNvPr>
          <p:cNvSpPr txBox="1"/>
          <p:nvPr/>
        </p:nvSpPr>
        <p:spPr>
          <a:xfrm>
            <a:off x="339814" y="4714775"/>
            <a:ext cx="2015680" cy="1292662"/>
          </a:xfrm>
          <a:prstGeom prst="rect">
            <a:avLst/>
          </a:prstGeom>
          <a:noFill/>
        </p:spPr>
        <p:txBody>
          <a:bodyPr wrap="none" rtlCol="0">
            <a:spAutoFit/>
          </a:bodyPr>
          <a:lstStyle/>
          <a:p>
            <a:r>
              <a:rPr lang="en-GB" sz="2000" b="1" dirty="0">
                <a:solidFill>
                  <a:schemeClr val="bg1">
                    <a:lumMod val="10000"/>
                  </a:schemeClr>
                </a:solidFill>
                <a:latin typeface="Arial" panose="020B0604020202020204" pitchFamily="34" charset="0"/>
                <a:cs typeface="Arial" panose="020B0604020202020204" pitchFamily="34" charset="0"/>
              </a:rPr>
              <a:t>STATS4</a:t>
            </a:r>
            <a:r>
              <a:rPr lang="en-GB" sz="2000" dirty="0">
                <a:solidFill>
                  <a:schemeClr val="bg1">
                    <a:lumMod val="10000"/>
                  </a:schemeClr>
                </a:solidFill>
                <a:latin typeface="Arial" panose="020B0604020202020204" pitchFamily="34" charset="0"/>
                <a:cs typeface="Arial" panose="020B0604020202020204" pitchFamily="34" charset="0"/>
              </a:rPr>
              <a:t> Cluster</a:t>
            </a:r>
          </a:p>
          <a:p>
            <a:r>
              <a:rPr lang="en-GB" sz="2000" dirty="0">
                <a:solidFill>
                  <a:schemeClr val="bg1">
                    <a:lumMod val="10000"/>
                  </a:schemeClr>
                </a:solidFill>
                <a:latin typeface="Arial" panose="020B0604020202020204" pitchFamily="34" charset="0"/>
                <a:cs typeface="Arial" panose="020B0604020202020204" pitchFamily="34" charset="0"/>
              </a:rPr>
              <a:t>96 CPUs</a:t>
            </a:r>
          </a:p>
          <a:p>
            <a:r>
              <a:rPr lang="en-GB" sz="2000" dirty="0">
                <a:solidFill>
                  <a:schemeClr val="bg1">
                    <a:lumMod val="10000"/>
                  </a:schemeClr>
                </a:solidFill>
                <a:latin typeface="Arial" panose="020B0604020202020204" pitchFamily="34" charset="0"/>
                <a:cs typeface="Arial" panose="020B0604020202020204" pitchFamily="34" charset="0"/>
              </a:rPr>
              <a:t>1TB RAM</a:t>
            </a:r>
          </a:p>
          <a:p>
            <a:endParaRPr lang="en-GB" dirty="0"/>
          </a:p>
        </p:txBody>
      </p:sp>
      <p:sp>
        <p:nvSpPr>
          <p:cNvPr id="6" name="TextBox 5">
            <a:extLst>
              <a:ext uri="{FF2B5EF4-FFF2-40B4-BE49-F238E27FC236}">
                <a16:creationId xmlns:a16="http://schemas.microsoft.com/office/drawing/2014/main" id="{45E66475-4928-C4DF-1813-C9CD51DF18AA}"/>
              </a:ext>
            </a:extLst>
          </p:cNvPr>
          <p:cNvSpPr txBox="1"/>
          <p:nvPr/>
        </p:nvSpPr>
        <p:spPr>
          <a:xfrm>
            <a:off x="7878375" y="4461550"/>
            <a:ext cx="4445448" cy="2215991"/>
          </a:xfrm>
          <a:prstGeom prst="rect">
            <a:avLst/>
          </a:prstGeom>
          <a:noFill/>
        </p:spPr>
        <p:txBody>
          <a:bodyPr wrap="none" rtlCol="0">
            <a:spAutoFit/>
          </a:bodyPr>
          <a:lstStyle/>
          <a:p>
            <a:r>
              <a:rPr lang="en-GB" sz="2000" dirty="0">
                <a:solidFill>
                  <a:schemeClr val="bg1">
                    <a:lumMod val="10000"/>
                  </a:schemeClr>
                </a:solidFill>
                <a:latin typeface="Arial" panose="020B0604020202020204" pitchFamily="34" charset="0"/>
                <a:cs typeface="Arial" panose="020B0604020202020204" pitchFamily="34" charset="0"/>
              </a:rPr>
              <a:t>High Performance Computing Cluster</a:t>
            </a:r>
          </a:p>
          <a:p>
            <a:r>
              <a:rPr lang="en-GB" sz="2000" dirty="0">
                <a:solidFill>
                  <a:schemeClr val="bg1">
                    <a:lumMod val="10000"/>
                  </a:schemeClr>
                </a:solidFill>
                <a:latin typeface="Arial" panose="020B0604020202020204" pitchFamily="34" charset="0"/>
                <a:cs typeface="Arial" panose="020B0604020202020204" pitchFamily="34" charset="0"/>
              </a:rPr>
              <a:t>4 CPU nodes – 20 CPUs per node</a:t>
            </a:r>
          </a:p>
          <a:p>
            <a:r>
              <a:rPr lang="en-GB" sz="2000" dirty="0">
                <a:solidFill>
                  <a:schemeClr val="bg1">
                    <a:lumMod val="10000"/>
                  </a:schemeClr>
                </a:solidFill>
                <a:latin typeface="Arial" panose="020B0604020202020204" pitchFamily="34" charset="0"/>
                <a:cs typeface="Arial" panose="020B0604020202020204" pitchFamily="34" charset="0"/>
              </a:rPr>
              <a:t>2 GPU nodes – 40 GPUs per node</a:t>
            </a:r>
          </a:p>
          <a:p>
            <a:r>
              <a:rPr lang="en-GB" sz="2000" dirty="0">
                <a:solidFill>
                  <a:schemeClr val="bg1">
                    <a:lumMod val="10000"/>
                  </a:schemeClr>
                </a:solidFill>
                <a:latin typeface="Arial" panose="020B0604020202020204" pitchFamily="34" charset="0"/>
                <a:cs typeface="Arial" panose="020B0604020202020204" pitchFamily="34" charset="0"/>
              </a:rPr>
              <a:t>250 GB RAM</a:t>
            </a:r>
          </a:p>
          <a:p>
            <a:r>
              <a:rPr lang="en-GB" sz="2000" dirty="0">
                <a:solidFill>
                  <a:schemeClr val="bg1">
                    <a:lumMod val="10000"/>
                  </a:schemeClr>
                </a:solidFill>
                <a:latin typeface="Arial" panose="020B0604020202020204" pitchFamily="34" charset="0"/>
                <a:cs typeface="Arial" panose="020B0604020202020204" pitchFamily="34" charset="0"/>
              </a:rPr>
              <a:t>Requires special account</a:t>
            </a:r>
          </a:p>
          <a:p>
            <a:r>
              <a:rPr lang="en-GB" sz="2000" dirty="0">
                <a:solidFill>
                  <a:schemeClr val="bg1">
                    <a:lumMod val="10000"/>
                  </a:schemeClr>
                </a:solidFill>
                <a:latin typeface="Arial" panose="020B0604020202020204" pitchFamily="34" charset="0"/>
                <a:cs typeface="Arial" panose="020B0604020202020204" pitchFamily="34" charset="0"/>
              </a:rPr>
              <a:t>Queue Management software</a:t>
            </a:r>
          </a:p>
          <a:p>
            <a:endParaRPr lang="en-GB" dirty="0"/>
          </a:p>
        </p:txBody>
      </p:sp>
      <p:grpSp>
        <p:nvGrpSpPr>
          <p:cNvPr id="7" name="Group 6">
            <a:extLst>
              <a:ext uri="{FF2B5EF4-FFF2-40B4-BE49-F238E27FC236}">
                <a16:creationId xmlns:a16="http://schemas.microsoft.com/office/drawing/2014/main" id="{42F2662E-B5F0-2B67-7CC3-4454129D2910}"/>
              </a:ext>
            </a:extLst>
          </p:cNvPr>
          <p:cNvGrpSpPr/>
          <p:nvPr/>
        </p:nvGrpSpPr>
        <p:grpSpPr>
          <a:xfrm>
            <a:off x="4665674" y="2216987"/>
            <a:ext cx="2672441" cy="3864088"/>
            <a:chOff x="5377391" y="1217763"/>
            <a:chExt cx="2672441" cy="3864088"/>
          </a:xfrm>
        </p:grpSpPr>
        <p:pic>
          <p:nvPicPr>
            <p:cNvPr id="8" name="Picture 7">
              <a:extLst>
                <a:ext uri="{FF2B5EF4-FFF2-40B4-BE49-F238E27FC236}">
                  <a16:creationId xmlns:a16="http://schemas.microsoft.com/office/drawing/2014/main" id="{667FC5C9-5F13-2B77-C0E3-4D4D98B61750}"/>
                </a:ext>
              </a:extLst>
            </p:cNvPr>
            <p:cNvPicPr>
              <a:picLocks noChangeAspect="1"/>
            </p:cNvPicPr>
            <p:nvPr/>
          </p:nvPicPr>
          <p:blipFill>
            <a:blip r:embed="rId3"/>
            <a:stretch>
              <a:fillRect/>
            </a:stretch>
          </p:blipFill>
          <p:spPr>
            <a:xfrm>
              <a:off x="5581330" y="2070997"/>
              <a:ext cx="2194425" cy="2031325"/>
            </a:xfrm>
            <a:prstGeom prst="rect">
              <a:avLst/>
            </a:prstGeom>
          </p:spPr>
        </p:pic>
        <p:sp>
          <p:nvSpPr>
            <p:cNvPr id="9" name="TextBox 8">
              <a:extLst>
                <a:ext uri="{FF2B5EF4-FFF2-40B4-BE49-F238E27FC236}">
                  <a16:creationId xmlns:a16="http://schemas.microsoft.com/office/drawing/2014/main" id="{05F91268-8608-0618-D705-620863BA8BE2}"/>
                </a:ext>
              </a:extLst>
            </p:cNvPr>
            <p:cNvSpPr txBox="1"/>
            <p:nvPr/>
          </p:nvSpPr>
          <p:spPr>
            <a:xfrm>
              <a:off x="5782303" y="1384193"/>
              <a:ext cx="1792478" cy="738664"/>
            </a:xfrm>
            <a:prstGeom prst="rect">
              <a:avLst/>
            </a:prstGeom>
            <a:noFill/>
          </p:spPr>
          <p:txBody>
            <a:bodyPr wrap="none" rtlCol="0">
              <a:spAutoFit/>
            </a:bodyPr>
            <a:lstStyle/>
            <a:p>
              <a:pPr algn="ctr"/>
              <a:r>
                <a:rPr lang="en-GB" sz="2400" b="1" dirty="0">
                  <a:solidFill>
                    <a:schemeClr val="bg1">
                      <a:lumMod val="10000"/>
                    </a:schemeClr>
                  </a:solidFill>
                  <a:latin typeface="Arial" panose="020B0604020202020204" pitchFamily="34" charset="0"/>
                  <a:cs typeface="Arial" panose="020B0604020202020204" pitchFamily="34" charset="0"/>
                </a:rPr>
                <a:t>HYPERION</a:t>
              </a:r>
            </a:p>
            <a:p>
              <a:endParaRPr lang="en-GB" dirty="0"/>
            </a:p>
          </p:txBody>
        </p:sp>
        <p:sp>
          <p:nvSpPr>
            <p:cNvPr id="10" name="TextBox 9">
              <a:extLst>
                <a:ext uri="{FF2B5EF4-FFF2-40B4-BE49-F238E27FC236}">
                  <a16:creationId xmlns:a16="http://schemas.microsoft.com/office/drawing/2014/main" id="{8E03A32F-5E46-EE8F-BAD3-18C5E2BD85F7}"/>
                </a:ext>
              </a:extLst>
            </p:cNvPr>
            <p:cNvSpPr txBox="1"/>
            <p:nvPr/>
          </p:nvSpPr>
          <p:spPr>
            <a:xfrm>
              <a:off x="5732093" y="4294837"/>
              <a:ext cx="2043662" cy="707886"/>
            </a:xfrm>
            <a:prstGeom prst="rect">
              <a:avLst/>
            </a:prstGeom>
            <a:noFill/>
          </p:spPr>
          <p:txBody>
            <a:bodyPr wrap="square" rtlCol="0">
              <a:spAutoFit/>
            </a:bodyPr>
            <a:lstStyle/>
            <a:p>
              <a:r>
                <a:rPr lang="en-GB" sz="2000" b="0" i="0" dirty="0">
                  <a:solidFill>
                    <a:srgbClr val="1E1E1E"/>
                  </a:solidFill>
                  <a:effectLst/>
                  <a:latin typeface="Arial" panose="020B0604020202020204" pitchFamily="34" charset="0"/>
                  <a:cs typeface="Arial" panose="020B0604020202020204" pitchFamily="34" charset="0"/>
                </a:rPr>
                <a:t>3,500 CPUs with 30 TB RAM</a:t>
              </a:r>
              <a:endParaRPr lang="en-GB" sz="20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67B60752-ED73-0AA0-F586-FD7FB22F32FC}"/>
                </a:ext>
              </a:extLst>
            </p:cNvPr>
            <p:cNvSpPr/>
            <p:nvPr/>
          </p:nvSpPr>
          <p:spPr>
            <a:xfrm>
              <a:off x="5377391" y="1217763"/>
              <a:ext cx="2672441" cy="3864088"/>
            </a:xfrm>
            <a:prstGeom prst="rect">
              <a:avLst/>
            </a:prstGeom>
            <a:noFill/>
            <a:ln w="476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5D786B34-FDA1-52B7-79AE-DFF2B0A014D0}"/>
              </a:ext>
            </a:extLst>
          </p:cNvPr>
          <p:cNvPicPr>
            <a:picLocks noChangeAspect="1"/>
          </p:cNvPicPr>
          <p:nvPr/>
        </p:nvPicPr>
        <p:blipFill>
          <a:blip r:embed="rId4"/>
          <a:stretch>
            <a:fillRect/>
          </a:stretch>
        </p:blipFill>
        <p:spPr>
          <a:xfrm>
            <a:off x="339814" y="2216987"/>
            <a:ext cx="3973813" cy="2380228"/>
          </a:xfrm>
          <a:prstGeom prst="rect">
            <a:avLst/>
          </a:prstGeom>
        </p:spPr>
      </p:pic>
    </p:spTree>
    <p:extLst>
      <p:ext uri="{BB962C8B-B14F-4D97-AF65-F5344CB8AC3E}">
        <p14:creationId xmlns:p14="http://schemas.microsoft.com/office/powerpoint/2010/main" val="2790315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5C067-F68B-49D1-950D-40D61F7DA790}"/>
              </a:ext>
            </a:extLst>
          </p:cNvPr>
          <p:cNvSpPr>
            <a:spLocks noGrp="1"/>
          </p:cNvSpPr>
          <p:nvPr>
            <p:ph type="title"/>
          </p:nvPr>
        </p:nvSpPr>
        <p:spPr>
          <a:xfrm>
            <a:off x="737616" y="203093"/>
            <a:ext cx="10515600" cy="896747"/>
          </a:xfrm>
        </p:spPr>
        <p:txBody>
          <a:bodyPr/>
          <a:lstStyle/>
          <a:p>
            <a:pPr algn="ctr"/>
            <a:r>
              <a:rPr lang="en-GB" b="1" dirty="0">
                <a:latin typeface="Arial" panose="020B0604020202020204" pitchFamily="34" charset="0"/>
                <a:cs typeface="Arial" panose="020B0604020202020204" pitchFamily="34" charset="0"/>
              </a:rPr>
              <a:t>Workshop set-up</a:t>
            </a:r>
          </a:p>
        </p:txBody>
      </p:sp>
      <p:sp>
        <p:nvSpPr>
          <p:cNvPr id="8" name="TextBox 7">
            <a:extLst>
              <a:ext uri="{FF2B5EF4-FFF2-40B4-BE49-F238E27FC236}">
                <a16:creationId xmlns:a16="http://schemas.microsoft.com/office/drawing/2014/main" id="{8BECB336-4388-4679-BE1F-6BA60315850E}"/>
              </a:ext>
            </a:extLst>
          </p:cNvPr>
          <p:cNvSpPr txBox="1"/>
          <p:nvPr/>
        </p:nvSpPr>
        <p:spPr>
          <a:xfrm>
            <a:off x="526237" y="1000270"/>
            <a:ext cx="7522608" cy="3477875"/>
          </a:xfrm>
          <a:prstGeom prst="rect">
            <a:avLst/>
          </a:prstGeom>
          <a:noFill/>
        </p:spPr>
        <p:txBody>
          <a:bodyPr wrap="square" rtlCol="0">
            <a:spAutoFit/>
          </a:bodyPr>
          <a:lstStyle/>
          <a:p>
            <a:pPr marL="285750" indent="-285750">
              <a:buFont typeface="Arial" panose="020B0604020202020204" pitchFamily="34" charset="0"/>
              <a:buChar char="•"/>
            </a:pPr>
            <a:endParaRPr lang="en-GB" sz="2000" dirty="0">
              <a:latin typeface="Garamond" panose="02020404030301010803" pitchFamily="18" charset="0"/>
            </a:endParaRPr>
          </a:p>
          <a:p>
            <a:pPr marL="285750" indent="-285750">
              <a:buFont typeface="Wingdings" panose="05000000000000000000" pitchFamily="2" charset="2"/>
              <a:buChar char="Ø"/>
            </a:pPr>
            <a:r>
              <a:rPr lang="en-GB" sz="2000" dirty="0">
                <a:latin typeface="Arial" panose="020B0604020202020204" pitchFamily="34" charset="0"/>
                <a:cs typeface="Arial" panose="020B0604020202020204" pitchFamily="34" charset="0"/>
              </a:rPr>
              <a:t>We’re going to use STATS4 via </a:t>
            </a:r>
            <a:r>
              <a:rPr lang="en-GB" sz="2000" dirty="0" err="1">
                <a:latin typeface="Arial" panose="020B0604020202020204" pitchFamily="34" charset="0"/>
                <a:cs typeface="Arial" panose="020B0604020202020204" pitchFamily="34" charset="0"/>
              </a:rPr>
              <a:t>Rstudio</a:t>
            </a:r>
            <a:endParaRPr lang="en-GB" sz="20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endParaRPr lang="en-GB" sz="20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GB" sz="2000" dirty="0">
                <a:latin typeface="Arial" panose="020B0604020202020204" pitchFamily="34" charset="0"/>
                <a:cs typeface="Arial" panose="020B0604020202020204" pitchFamily="34" charset="0"/>
              </a:rPr>
              <a:t>Open a web browser and navigate to </a:t>
            </a:r>
            <a:r>
              <a:rPr lang="en-GB" sz="2000" u="sng" dirty="0">
                <a:latin typeface="Arial" panose="020B0604020202020204" pitchFamily="34" charset="0"/>
                <a:cs typeface="Arial" panose="020B0604020202020204" pitchFamily="34" charset="0"/>
                <a:hlinkClick r:id="rId2"/>
              </a:rPr>
              <a:t>https://stats4.sgul.ac.uk/rstudio/</a:t>
            </a:r>
            <a:endParaRPr lang="en-GB" sz="2000" u="sng"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endParaRPr lang="en-GB" sz="20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GB" sz="2000" dirty="0">
                <a:latin typeface="Arial" panose="020B0604020202020204" pitchFamily="34" charset="0"/>
                <a:cs typeface="Arial" panose="020B0604020202020204" pitchFamily="34" charset="0"/>
              </a:rPr>
              <a:t>Click "New Project“ and select "New Directory", "New Project" and call your directory "</a:t>
            </a:r>
            <a:r>
              <a:rPr lang="en-GB" sz="2000" dirty="0" err="1">
                <a:latin typeface="Arial" panose="020B0604020202020204" pitchFamily="34" charset="0"/>
                <a:cs typeface="Arial" panose="020B0604020202020204" pitchFamily="34" charset="0"/>
              </a:rPr>
              <a:t>NGS_workshop</a:t>
            </a:r>
            <a:r>
              <a:rPr lang="en-GB" sz="2000" dirty="0">
                <a:latin typeface="Arial" panose="020B0604020202020204" pitchFamily="34" charset="0"/>
                <a:cs typeface="Arial" panose="020B0604020202020204" pitchFamily="34" charset="0"/>
              </a:rPr>
              <a:t>" or something similar. </a:t>
            </a:r>
          </a:p>
          <a:p>
            <a:pPr marL="285750" indent="-285750">
              <a:buFont typeface="Wingdings" panose="05000000000000000000" pitchFamily="2" charset="2"/>
              <a:buChar char="Ø"/>
            </a:pPr>
            <a:endParaRPr lang="en-GB" sz="20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GB" sz="2000" dirty="0">
                <a:latin typeface="Arial" panose="020B0604020202020204" pitchFamily="34" charset="0"/>
                <a:cs typeface="Arial" panose="020B0604020202020204" pitchFamily="34" charset="0"/>
              </a:rPr>
              <a:t>Navigate to the Terminal tab of the Console pane (on the left hand side of </a:t>
            </a:r>
            <a:r>
              <a:rPr lang="en-GB" sz="2000" dirty="0" err="1">
                <a:latin typeface="Arial" panose="020B0604020202020204" pitchFamily="34" charset="0"/>
                <a:cs typeface="Arial" panose="020B0604020202020204" pitchFamily="34" charset="0"/>
              </a:rPr>
              <a:t>Rstudio</a:t>
            </a:r>
            <a:r>
              <a:rPr lang="en-GB" sz="2000" dirty="0">
                <a:latin typeface="Arial" panose="020B0604020202020204" pitchFamily="34" charset="0"/>
                <a:cs typeface="Arial" panose="020B0604020202020204" pitchFamily="34" charset="0"/>
              </a:rPr>
              <a:t>). </a:t>
            </a:r>
            <a:endParaRPr lang="en-US" sz="2000" dirty="0">
              <a:latin typeface="Garamond" panose="02020404030301010803" pitchFamily="18" charset="0"/>
            </a:endParaRPr>
          </a:p>
        </p:txBody>
      </p:sp>
      <p:pic>
        <p:nvPicPr>
          <p:cNvPr id="6" name="Picture 5">
            <a:extLst>
              <a:ext uri="{FF2B5EF4-FFF2-40B4-BE49-F238E27FC236}">
                <a16:creationId xmlns:a16="http://schemas.microsoft.com/office/drawing/2014/main" id="{206173A1-068E-0095-A0EE-B1F821934267}"/>
              </a:ext>
            </a:extLst>
          </p:cNvPr>
          <p:cNvPicPr>
            <a:picLocks noChangeAspect="1"/>
          </p:cNvPicPr>
          <p:nvPr/>
        </p:nvPicPr>
        <p:blipFill>
          <a:blip r:embed="rId3"/>
          <a:srcRect l="1259" t="28499" r="-1259" b="24315"/>
          <a:stretch>
            <a:fillRect/>
          </a:stretch>
        </p:blipFill>
        <p:spPr>
          <a:xfrm>
            <a:off x="7631436" y="1078685"/>
            <a:ext cx="3965554" cy="1871194"/>
          </a:xfrm>
          <a:prstGeom prst="rect">
            <a:avLst/>
          </a:prstGeom>
        </p:spPr>
      </p:pic>
      <p:pic>
        <p:nvPicPr>
          <p:cNvPr id="10" name="Picture 9">
            <a:extLst>
              <a:ext uri="{FF2B5EF4-FFF2-40B4-BE49-F238E27FC236}">
                <a16:creationId xmlns:a16="http://schemas.microsoft.com/office/drawing/2014/main" id="{E551D182-6675-6F22-A47A-903985528E4C}"/>
              </a:ext>
            </a:extLst>
          </p:cNvPr>
          <p:cNvPicPr>
            <a:picLocks noChangeAspect="1"/>
          </p:cNvPicPr>
          <p:nvPr/>
        </p:nvPicPr>
        <p:blipFill>
          <a:blip r:embed="rId4"/>
          <a:stretch>
            <a:fillRect/>
          </a:stretch>
        </p:blipFill>
        <p:spPr>
          <a:xfrm>
            <a:off x="5312664" y="4378575"/>
            <a:ext cx="6353099" cy="2276332"/>
          </a:xfrm>
          <a:prstGeom prst="rect">
            <a:avLst/>
          </a:prstGeom>
        </p:spPr>
      </p:pic>
    </p:spTree>
    <p:extLst>
      <p:ext uri="{BB962C8B-B14F-4D97-AF65-F5344CB8AC3E}">
        <p14:creationId xmlns:p14="http://schemas.microsoft.com/office/powerpoint/2010/main" val="1212655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5C067-F68B-49D1-950D-40D61F7DA790}"/>
              </a:ext>
            </a:extLst>
          </p:cNvPr>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Workshop set-up</a:t>
            </a:r>
          </a:p>
        </p:txBody>
      </p:sp>
      <p:sp>
        <p:nvSpPr>
          <p:cNvPr id="5" name="Content Placeholder 2">
            <a:extLst>
              <a:ext uri="{FF2B5EF4-FFF2-40B4-BE49-F238E27FC236}">
                <a16:creationId xmlns:a16="http://schemas.microsoft.com/office/drawing/2014/main" id="{E3AF371F-B260-48A9-81CC-3B1E1B6C4CFA}"/>
              </a:ext>
            </a:extLst>
          </p:cNvPr>
          <p:cNvSpPr>
            <a:spLocks noGrp="1"/>
          </p:cNvSpPr>
          <p:nvPr>
            <p:ph idx="1"/>
          </p:nvPr>
        </p:nvSpPr>
        <p:spPr>
          <a:xfrm>
            <a:off x="509954" y="1583347"/>
            <a:ext cx="10515600" cy="4351338"/>
          </a:xfrm>
        </p:spPr>
        <p:txBody>
          <a:bodyPr>
            <a:normAutofit fontScale="92500" lnSpcReduction="10000"/>
          </a:bodyPr>
          <a:lstStyle/>
          <a:p>
            <a:pPr marL="0" indent="0">
              <a:buNone/>
            </a:pPr>
            <a:endParaRPr lang="en-GB" dirty="0">
              <a:latin typeface="Garamond" panose="02020404030301010803" pitchFamily="18" charset="0"/>
            </a:endParaRPr>
          </a:p>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 Type this at the terminal:</a:t>
            </a:r>
          </a:p>
          <a:p>
            <a:pPr marL="457200" lvl="1" indent="0">
              <a:buNone/>
            </a:pPr>
            <a:endParaRPr lang="en-GB" sz="1600" dirty="0">
              <a:solidFill>
                <a:srgbClr val="002060"/>
              </a:solidFill>
              <a:latin typeface="Arial" panose="020B0604020202020204" pitchFamily="34" charset="0"/>
              <a:cs typeface="Arial" panose="020B0604020202020204" pitchFamily="34" charset="0"/>
            </a:endParaRPr>
          </a:p>
          <a:p>
            <a:pPr marL="457200" lvl="1" indent="0">
              <a:buNone/>
            </a:pPr>
            <a:r>
              <a:rPr lang="en-GB" sz="2000" dirty="0">
                <a:solidFill>
                  <a:srgbClr val="002060"/>
                </a:solidFill>
                <a:latin typeface="Arial" panose="020B0604020202020204" pitchFamily="34" charset="0"/>
                <a:cs typeface="Arial" panose="020B0604020202020204" pitchFamily="34" charset="0"/>
              </a:rPr>
              <a:t>git clone https://github.com/sgul-genetics-centre-bioinformatics/NGS-bioinformatics-workshop_SGUL_16-01-2026.git</a:t>
            </a:r>
          </a:p>
          <a:p>
            <a:pPr marL="457200" lvl="1" indent="0">
              <a:buNone/>
            </a:pPr>
            <a:endParaRPr lang="en-GB"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 Wait for the directory to download and then move inside it:</a:t>
            </a:r>
          </a:p>
          <a:p>
            <a:pPr marL="0" indent="0">
              <a:buNone/>
            </a:pPr>
            <a:endParaRPr lang="en-GB" sz="2000" dirty="0">
              <a:latin typeface="Arial" panose="020B0604020202020204" pitchFamily="34" charset="0"/>
              <a:cs typeface="Arial" panose="020B0604020202020204" pitchFamily="34" charset="0"/>
            </a:endParaRPr>
          </a:p>
          <a:p>
            <a:pPr marL="457200" lvl="1" indent="0">
              <a:buNone/>
            </a:pPr>
            <a:r>
              <a:rPr lang="en-GB" sz="2000" dirty="0">
                <a:solidFill>
                  <a:srgbClr val="002060"/>
                </a:solidFill>
                <a:latin typeface="Arial" panose="020B0604020202020204" pitchFamily="34" charset="0"/>
                <a:cs typeface="Arial" panose="020B0604020202020204" pitchFamily="34" charset="0"/>
              </a:rPr>
              <a:t>cd NGS-bioinformatics-workshop_SGUL_16-01-2026</a:t>
            </a:r>
          </a:p>
          <a:p>
            <a:pPr marL="0" indent="0">
              <a:buNone/>
            </a:pPr>
            <a:endParaRPr lang="en-GB" sz="2000" dirty="0">
              <a:solidFill>
                <a:srgbClr val="002060"/>
              </a:solidFill>
              <a:latin typeface="Arial" panose="020B0604020202020204" pitchFamily="34" charset="0"/>
              <a:cs typeface="Arial" panose="020B0604020202020204" pitchFamily="34" charset="0"/>
            </a:endParaRPr>
          </a:p>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 Set up links to software :</a:t>
            </a:r>
          </a:p>
          <a:p>
            <a:pPr>
              <a:buFont typeface="Wingdings" panose="05000000000000000000" pitchFamily="2" charset="2"/>
              <a:buChar char="Ø"/>
            </a:pPr>
            <a:endParaRPr lang="en-GB" sz="2000" dirty="0">
              <a:latin typeface="Arial" panose="020B0604020202020204" pitchFamily="34" charset="0"/>
              <a:cs typeface="Arial" panose="020B0604020202020204" pitchFamily="34" charset="0"/>
            </a:endParaRPr>
          </a:p>
          <a:p>
            <a:pPr marL="457200" lvl="1" indent="0">
              <a:buNone/>
            </a:pPr>
            <a:r>
              <a:rPr lang="en-GB" sz="2200" dirty="0">
                <a:solidFill>
                  <a:srgbClr val="002060"/>
                </a:solidFill>
                <a:latin typeface="Arial" panose="020B0604020202020204" pitchFamily="34" charset="0"/>
                <a:cs typeface="Arial" panose="020B0604020202020204" pitchFamily="34" charset="0"/>
              </a:rPr>
              <a:t>bash setup_software.sh</a:t>
            </a:r>
          </a:p>
          <a:p>
            <a:pPr marL="0" indent="0">
              <a:buNone/>
            </a:pPr>
            <a:endParaRPr lang="en-GB" sz="20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4846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5C067-F68B-49D1-950D-40D61F7DA790}"/>
              </a:ext>
            </a:extLst>
          </p:cNvPr>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Learning Objectives</a:t>
            </a:r>
          </a:p>
        </p:txBody>
      </p:sp>
      <p:sp>
        <p:nvSpPr>
          <p:cNvPr id="3" name="Content Placeholder 2">
            <a:extLst>
              <a:ext uri="{FF2B5EF4-FFF2-40B4-BE49-F238E27FC236}">
                <a16:creationId xmlns:a16="http://schemas.microsoft.com/office/drawing/2014/main" id="{C25D2047-447C-4CE1-860B-2D92494DC01B}"/>
              </a:ext>
            </a:extLst>
          </p:cNvPr>
          <p:cNvSpPr>
            <a:spLocks noGrp="1"/>
          </p:cNvSpPr>
          <p:nvPr>
            <p:ph idx="1"/>
          </p:nvPr>
        </p:nvSpPr>
        <p:spPr>
          <a:xfrm>
            <a:off x="955431" y="1864701"/>
            <a:ext cx="10515600" cy="4351338"/>
          </a:xfrm>
        </p:spPr>
        <p:txBody>
          <a:bodyPr>
            <a:normAutofit/>
          </a:bodyPr>
          <a:lstStyle/>
          <a:p>
            <a:r>
              <a:rPr lang="en-GB" sz="2000" dirty="0">
                <a:latin typeface="Arial" panose="020B0604020202020204" pitchFamily="34" charset="0"/>
                <a:cs typeface="Arial" panose="020B0604020202020204" pitchFamily="34" charset="0"/>
              </a:rPr>
              <a:t>Quick overview of next generation sequencing</a:t>
            </a:r>
          </a:p>
          <a:p>
            <a:pPr marL="0" indent="0">
              <a:buNone/>
            </a:pPr>
            <a:r>
              <a:rPr lang="en-GB" sz="2000" dirty="0">
                <a:latin typeface="Arial" panose="020B0604020202020204" pitchFamily="34" charset="0"/>
                <a:cs typeface="Arial" panose="020B0604020202020204" pitchFamily="34" charset="0"/>
              </a:rPr>
              <a:t> </a:t>
            </a:r>
          </a:p>
          <a:p>
            <a:r>
              <a:rPr lang="en-GB" sz="2000" dirty="0">
                <a:latin typeface="Arial" panose="020B0604020202020204" pitchFamily="34" charset="0"/>
                <a:cs typeface="Arial" panose="020B0604020202020204" pitchFamily="34" charset="0"/>
              </a:rPr>
              <a:t>Gain experience using Linux command line</a:t>
            </a:r>
          </a:p>
          <a:p>
            <a:pPr marL="0" indent="0">
              <a:buNone/>
            </a:pPr>
            <a:endParaRPr lang="en-GB" sz="2000" dirty="0">
              <a:latin typeface="Arial" panose="020B0604020202020204" pitchFamily="34" charset="0"/>
              <a:cs typeface="Arial" panose="020B0604020202020204" pitchFamily="34" charset="0"/>
            </a:endParaRPr>
          </a:p>
          <a:p>
            <a:r>
              <a:rPr lang="en-GB" sz="2000" dirty="0">
                <a:latin typeface="Arial" panose="020B0604020202020204" pitchFamily="34" charset="0"/>
                <a:cs typeface="Arial" panose="020B0604020202020204" pitchFamily="34" charset="0"/>
              </a:rPr>
              <a:t>Next-generation sequencing software/tools </a:t>
            </a:r>
          </a:p>
          <a:p>
            <a:pPr lvl="1">
              <a:buFont typeface="Wingdings" panose="05000000000000000000" pitchFamily="2" charset="2"/>
              <a:buChar char="§"/>
            </a:pPr>
            <a:r>
              <a:rPr lang="en-GB" sz="2000" dirty="0">
                <a:latin typeface="Arial" panose="020B0604020202020204" pitchFamily="34" charset="0"/>
                <a:cs typeface="Arial" panose="020B0604020202020204" pitchFamily="34" charset="0"/>
              </a:rPr>
              <a:t>Genome reference download and index</a:t>
            </a:r>
          </a:p>
          <a:p>
            <a:pPr lvl="1">
              <a:buFont typeface="Wingdings" panose="05000000000000000000" pitchFamily="2" charset="2"/>
              <a:buChar char="§"/>
            </a:pPr>
            <a:r>
              <a:rPr lang="en-GB" sz="2000" dirty="0">
                <a:latin typeface="Arial" panose="020B0604020202020204" pitchFamily="34" charset="0"/>
                <a:cs typeface="Arial" panose="020B0604020202020204" pitchFamily="34" charset="0"/>
              </a:rPr>
              <a:t>Raw sequencing reads pre-processing and quality control</a:t>
            </a:r>
          </a:p>
          <a:p>
            <a:pPr lvl="1">
              <a:buFont typeface="Wingdings" panose="05000000000000000000" pitchFamily="2" charset="2"/>
              <a:buChar char="§"/>
            </a:pPr>
            <a:r>
              <a:rPr lang="en-GB" sz="2000" dirty="0">
                <a:latin typeface="Arial" panose="020B0604020202020204" pitchFamily="34" charset="0"/>
                <a:cs typeface="Arial" panose="020B0604020202020204" pitchFamily="34" charset="0"/>
              </a:rPr>
              <a:t>Reads alignment to the reference genome</a:t>
            </a:r>
          </a:p>
          <a:p>
            <a:pPr lvl="1">
              <a:buFont typeface="Wingdings" panose="05000000000000000000" pitchFamily="2" charset="2"/>
              <a:buChar char="§"/>
            </a:pPr>
            <a:r>
              <a:rPr lang="en-GB" sz="2000" dirty="0">
                <a:latin typeface="Arial" panose="020B0604020202020204" pitchFamily="34" charset="0"/>
                <a:cs typeface="Arial" panose="020B0604020202020204" pitchFamily="34" charset="0"/>
              </a:rPr>
              <a:t>Alignment quality control and refinement</a:t>
            </a:r>
          </a:p>
          <a:p>
            <a:pPr lvl="1">
              <a:buFont typeface="Wingdings" panose="05000000000000000000" pitchFamily="2" charset="2"/>
              <a:buChar char="§"/>
            </a:pPr>
            <a:r>
              <a:rPr lang="en-GB" sz="2000" dirty="0">
                <a:latin typeface="Arial" panose="020B0604020202020204" pitchFamily="34" charset="0"/>
                <a:cs typeface="Arial" panose="020B0604020202020204" pitchFamily="34" charset="0"/>
              </a:rPr>
              <a:t>Variant calling and filtration</a:t>
            </a:r>
          </a:p>
          <a:p>
            <a:pPr lvl="1">
              <a:buFont typeface="Wingdings" panose="05000000000000000000" pitchFamily="2" charset="2"/>
              <a:buChar char="§"/>
            </a:pPr>
            <a:r>
              <a:rPr lang="en-GB" sz="2000" dirty="0">
                <a:latin typeface="Arial" panose="020B0604020202020204" pitchFamily="34" charset="0"/>
                <a:cs typeface="Arial" panose="020B0604020202020204" pitchFamily="34" charset="0"/>
              </a:rPr>
              <a:t>Annotation of the called variants</a:t>
            </a:r>
          </a:p>
          <a:p>
            <a:pPr lvl="1">
              <a:buFont typeface="Wingdings" panose="05000000000000000000" pitchFamily="2" charset="2"/>
              <a:buChar char="§"/>
            </a:pPr>
            <a:r>
              <a:rPr lang="en-GB" sz="2000" dirty="0">
                <a:latin typeface="Arial" panose="020B0604020202020204" pitchFamily="34" charset="0"/>
                <a:cs typeface="Arial" panose="020B0604020202020204" pitchFamily="34" charset="0"/>
              </a:rPr>
              <a:t>Visualisation of alignments and called variants</a:t>
            </a:r>
          </a:p>
          <a:p>
            <a:pPr lvl="1"/>
            <a:endParaRPr lang="en-GB" dirty="0"/>
          </a:p>
          <a:p>
            <a:endParaRPr lang="en-GB" dirty="0">
              <a:latin typeface="Garamond" panose="02020404030301010803" pitchFamily="18" charset="0"/>
            </a:endParaRPr>
          </a:p>
        </p:txBody>
      </p:sp>
    </p:spTree>
    <p:extLst>
      <p:ext uri="{BB962C8B-B14F-4D97-AF65-F5344CB8AC3E}">
        <p14:creationId xmlns:p14="http://schemas.microsoft.com/office/powerpoint/2010/main" val="3685210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6A819A-47D6-4B9B-AE86-ED3B28DE7A62}"/>
              </a:ext>
            </a:extLst>
          </p:cNvPr>
          <p:cNvSpPr/>
          <p:nvPr/>
        </p:nvSpPr>
        <p:spPr>
          <a:xfrm>
            <a:off x="636103" y="3546585"/>
            <a:ext cx="10717697" cy="31563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DCB722EF-7F24-499C-A287-BB3D10A5CF8C}"/>
              </a:ext>
            </a:extLst>
          </p:cNvPr>
          <p:cNvSpPr/>
          <p:nvPr/>
        </p:nvSpPr>
        <p:spPr>
          <a:xfrm>
            <a:off x="2753481" y="2710231"/>
            <a:ext cx="7782900" cy="369332"/>
          </a:xfrm>
          <a:prstGeom prst="rect">
            <a:avLst/>
          </a:prstGeom>
        </p:spPr>
        <p:txBody>
          <a:bodyPr wrap="none">
            <a:spAutoFit/>
          </a:bodyPr>
          <a:lstStyle/>
          <a:p>
            <a:r>
              <a:rPr lang="en-GB" dirty="0">
                <a:latin typeface="Consolas" panose="020B0609020204030204" pitchFamily="49" charset="0"/>
              </a:rPr>
              <a:t>[user@stats4 ~]$ </a:t>
            </a:r>
            <a:r>
              <a:rPr lang="en-GB" dirty="0">
                <a:solidFill>
                  <a:srgbClr val="0070C0"/>
                </a:solidFill>
                <a:latin typeface="Consolas" panose="020B0609020204030204" pitchFamily="49" charset="0"/>
              </a:rPr>
              <a:t>command</a:t>
            </a:r>
            <a:r>
              <a:rPr lang="en-GB" dirty="0">
                <a:latin typeface="Consolas" panose="020B0609020204030204" pitchFamily="49" charset="0"/>
              </a:rPr>
              <a:t> </a:t>
            </a:r>
            <a:r>
              <a:rPr lang="en-GB" dirty="0">
                <a:solidFill>
                  <a:schemeClr val="bg2">
                    <a:lumMod val="75000"/>
                  </a:schemeClr>
                </a:solidFill>
                <a:latin typeface="Consolas" panose="020B0609020204030204" pitchFamily="49" charset="0"/>
              </a:rPr>
              <a:t>or</a:t>
            </a:r>
            <a:r>
              <a:rPr lang="en-GB" dirty="0">
                <a:latin typeface="Consolas" panose="020B0609020204030204" pitchFamily="49" charset="0"/>
              </a:rPr>
              <a:t> </a:t>
            </a:r>
            <a:r>
              <a:rPr lang="en-GB" dirty="0">
                <a:solidFill>
                  <a:srgbClr val="0070C0"/>
                </a:solidFill>
                <a:latin typeface="Consolas" panose="020B0609020204030204" pitchFamily="49" charset="0"/>
              </a:rPr>
              <a:t>/path/to/application</a:t>
            </a:r>
            <a:r>
              <a:rPr lang="en-GB" dirty="0">
                <a:latin typeface="Consolas" panose="020B0609020204030204" pitchFamily="49" charset="0"/>
              </a:rPr>
              <a:t> </a:t>
            </a:r>
            <a:r>
              <a:rPr lang="en-GB" dirty="0">
                <a:solidFill>
                  <a:srgbClr val="C00000"/>
                </a:solidFill>
                <a:latin typeface="Consolas" panose="020B0609020204030204" pitchFamily="49" charset="0"/>
              </a:rPr>
              <a:t>[ARGUMENTS]</a:t>
            </a:r>
          </a:p>
        </p:txBody>
      </p:sp>
      <p:sp>
        <p:nvSpPr>
          <p:cNvPr id="17" name="Rectangle 16">
            <a:extLst>
              <a:ext uri="{FF2B5EF4-FFF2-40B4-BE49-F238E27FC236}">
                <a16:creationId xmlns:a16="http://schemas.microsoft.com/office/drawing/2014/main" id="{54B909A6-F9CB-4AB0-9F09-61C3404FCF08}"/>
              </a:ext>
            </a:extLst>
          </p:cNvPr>
          <p:cNvSpPr/>
          <p:nvPr/>
        </p:nvSpPr>
        <p:spPr>
          <a:xfrm>
            <a:off x="572665" y="3546585"/>
            <a:ext cx="10818987" cy="3247043"/>
          </a:xfrm>
          <a:prstGeom prst="rect">
            <a:avLst/>
          </a:prstGeom>
        </p:spPr>
        <p:txBody>
          <a:bodyPr wrap="square">
            <a:spAutoFit/>
          </a:bodyPr>
          <a:lstStyle/>
          <a:p>
            <a:pPr>
              <a:spcAft>
                <a:spcPts val="600"/>
              </a:spcAft>
            </a:pPr>
            <a:r>
              <a:rPr lang="en-GB" sz="1400" dirty="0">
                <a:latin typeface="Consolas" panose="020B0609020204030204" pitchFamily="49" charset="0"/>
                <a:cs typeface="Arial" panose="020B0604020202020204" pitchFamily="34" charset="0"/>
              </a:rPr>
              <a:t>[user@stats4 ~]$ </a:t>
            </a:r>
            <a:r>
              <a:rPr lang="en-GB" sz="1400" dirty="0">
                <a:solidFill>
                  <a:schemeClr val="bg2">
                    <a:lumMod val="50000"/>
                  </a:schemeClr>
                </a:solidFill>
                <a:latin typeface="Consolas" panose="020B0609020204030204" pitchFamily="49" charset="0"/>
                <a:cs typeface="Arial" panose="020B0604020202020204" pitchFamily="34" charset="0"/>
              </a:rPr>
              <a:t>#Shell ignores everything that is written after the hash mark (#)</a:t>
            </a:r>
          </a:p>
          <a:p>
            <a:pPr>
              <a:spcAft>
                <a:spcPts val="600"/>
              </a:spcAft>
            </a:pPr>
            <a:r>
              <a:rPr lang="en-GB" sz="1400" dirty="0">
                <a:latin typeface="Consolas" panose="020B0609020204030204" pitchFamily="49" charset="0"/>
                <a:cs typeface="Arial" panose="020B0604020202020204" pitchFamily="34" charset="0"/>
              </a:rPr>
              <a:t>[user@stats4 ~]$ </a:t>
            </a:r>
            <a:r>
              <a:rPr lang="en-GB" sz="1400" dirty="0">
                <a:solidFill>
                  <a:srgbClr val="0070C0"/>
                </a:solidFill>
                <a:latin typeface="Consolas" panose="020B0609020204030204" pitchFamily="49" charset="0"/>
                <a:cs typeface="Arial" panose="020B0604020202020204" pitchFamily="34" charset="0"/>
              </a:rPr>
              <a:t>cd </a:t>
            </a:r>
            <a:r>
              <a:rPr lang="en-GB" sz="1400" dirty="0">
                <a:solidFill>
                  <a:srgbClr val="C00000"/>
                </a:solidFill>
                <a:latin typeface="Consolas" panose="020B0609020204030204" pitchFamily="49" charset="0"/>
                <a:cs typeface="Arial" panose="020B0604020202020204" pitchFamily="34" charset="0"/>
              </a:rPr>
              <a:t>~/software</a:t>
            </a:r>
          </a:p>
          <a:p>
            <a:pPr>
              <a:spcAft>
                <a:spcPts val="600"/>
              </a:spcAft>
            </a:pPr>
            <a:r>
              <a:rPr lang="en-GB" sz="1400" dirty="0">
                <a:latin typeface="Consolas" panose="020B0609020204030204" pitchFamily="49" charset="0"/>
                <a:cs typeface="Arial" panose="020B0604020202020204" pitchFamily="34" charset="0"/>
              </a:rPr>
              <a:t>[user@stats4 ~]$ </a:t>
            </a:r>
            <a:r>
              <a:rPr lang="en-GB" sz="1400" dirty="0">
                <a:solidFill>
                  <a:srgbClr val="0070C0"/>
                </a:solidFill>
                <a:latin typeface="Consolas" panose="020B0609020204030204" pitchFamily="49" charset="0"/>
                <a:cs typeface="Arial" panose="020B0604020202020204" pitchFamily="34" charset="0"/>
              </a:rPr>
              <a:t>ls</a:t>
            </a:r>
            <a:r>
              <a:rPr lang="en-GB" sz="1400" dirty="0">
                <a:solidFill>
                  <a:srgbClr val="C00000"/>
                </a:solidFill>
                <a:latin typeface="Consolas" panose="020B0609020204030204" pitchFamily="49" charset="0"/>
                <a:cs typeface="Arial" panose="020B0604020202020204" pitchFamily="34" charset="0"/>
              </a:rPr>
              <a:t> ~/resources/etc</a:t>
            </a:r>
          </a:p>
          <a:p>
            <a:pPr>
              <a:spcAft>
                <a:spcPts val="600"/>
              </a:spcAft>
            </a:pPr>
            <a:r>
              <a:rPr lang="en-GB" sz="1400" dirty="0">
                <a:latin typeface="Consolas" panose="020B0609020204030204" pitchFamily="49" charset="0"/>
                <a:cs typeface="Arial" panose="020B0604020202020204" pitchFamily="34" charset="0"/>
              </a:rPr>
              <a:t>[user@stats4 ~]$ </a:t>
            </a:r>
            <a:r>
              <a:rPr lang="en-GB" sz="1400" dirty="0" err="1">
                <a:solidFill>
                  <a:srgbClr val="0070C0"/>
                </a:solidFill>
                <a:latin typeface="Consolas" panose="020B0609020204030204" pitchFamily="49" charset="0"/>
                <a:cs typeface="Arial" panose="020B0604020202020204" pitchFamily="34" charset="0"/>
              </a:rPr>
              <a:t>mkdir</a:t>
            </a:r>
            <a:r>
              <a:rPr lang="en-GB" sz="1400" dirty="0">
                <a:solidFill>
                  <a:srgbClr val="0070C0"/>
                </a:solidFill>
                <a:latin typeface="Consolas" panose="020B0609020204030204" pitchFamily="49" charset="0"/>
                <a:cs typeface="Arial" panose="020B0604020202020204" pitchFamily="34" charset="0"/>
              </a:rPr>
              <a:t> </a:t>
            </a:r>
            <a:r>
              <a:rPr lang="en-GB" sz="1400" dirty="0">
                <a:solidFill>
                  <a:srgbClr val="C00000"/>
                </a:solidFill>
                <a:latin typeface="Consolas" panose="020B0609020204030204" pitchFamily="49" charset="0"/>
                <a:cs typeface="Arial" panose="020B0604020202020204" pitchFamily="34" charset="0"/>
              </a:rPr>
              <a:t>reference/</a:t>
            </a:r>
          </a:p>
          <a:p>
            <a:pPr>
              <a:spcAft>
                <a:spcPts val="600"/>
              </a:spcAft>
            </a:pPr>
            <a:r>
              <a:rPr lang="en-GB" sz="1400" dirty="0">
                <a:latin typeface="Consolas" panose="020B0609020204030204" pitchFamily="49" charset="0"/>
                <a:cs typeface="Arial" panose="020B0604020202020204" pitchFamily="34" charset="0"/>
              </a:rPr>
              <a:t>[user@stats4 ~]$ </a:t>
            </a:r>
            <a:r>
              <a:rPr lang="en-GB" sz="1400" dirty="0">
                <a:solidFill>
                  <a:srgbClr val="0070C0"/>
                </a:solidFill>
                <a:latin typeface="Consolas" panose="020B0609020204030204" pitchFamily="49" charset="0"/>
                <a:cs typeface="Arial" panose="020B0604020202020204" pitchFamily="34" charset="0"/>
              </a:rPr>
              <a:t>software/</a:t>
            </a:r>
            <a:r>
              <a:rPr lang="en-GB" sz="1400" dirty="0" err="1">
                <a:solidFill>
                  <a:srgbClr val="0070C0"/>
                </a:solidFill>
                <a:latin typeface="Consolas" panose="020B0609020204030204" pitchFamily="49" charset="0"/>
                <a:cs typeface="Arial" panose="020B0604020202020204" pitchFamily="34" charset="0"/>
              </a:rPr>
              <a:t>samtools</a:t>
            </a:r>
            <a:r>
              <a:rPr lang="en-GB" sz="1400" dirty="0">
                <a:latin typeface="Consolas" panose="020B0609020204030204" pitchFamily="49" charset="0"/>
                <a:cs typeface="Arial" panose="020B0604020202020204" pitchFamily="34" charset="0"/>
              </a:rPr>
              <a:t> </a:t>
            </a:r>
            <a:r>
              <a:rPr lang="en-GB" sz="1400" dirty="0">
                <a:solidFill>
                  <a:srgbClr val="C00000"/>
                </a:solidFill>
                <a:latin typeface="Consolas" panose="020B0609020204030204" pitchFamily="49" charset="0"/>
                <a:cs typeface="Arial" panose="020B0604020202020204" pitchFamily="34" charset="0"/>
              </a:rPr>
              <a:t>view –Sb sample1.sam -o sample1.bam</a:t>
            </a:r>
          </a:p>
          <a:p>
            <a:pPr>
              <a:spcAft>
                <a:spcPts val="600"/>
              </a:spcAft>
            </a:pPr>
            <a:r>
              <a:rPr lang="en-GB" sz="1400" dirty="0">
                <a:latin typeface="Consolas" panose="020B0609020204030204" pitchFamily="49" charset="0"/>
                <a:cs typeface="Arial" panose="020B0604020202020204" pitchFamily="34" charset="0"/>
              </a:rPr>
              <a:t>[user@stats4 ~]$ </a:t>
            </a:r>
            <a:r>
              <a:rPr lang="en-GB" sz="1400" dirty="0">
                <a:solidFill>
                  <a:srgbClr val="0070C0"/>
                </a:solidFill>
                <a:latin typeface="Consolas" panose="020B0609020204030204" pitchFamily="49" charset="0"/>
                <a:cs typeface="Arial" panose="020B0604020202020204" pitchFamily="34" charset="0"/>
              </a:rPr>
              <a:t>software/</a:t>
            </a:r>
            <a:r>
              <a:rPr lang="en-GB" sz="1400" dirty="0" err="1">
                <a:solidFill>
                  <a:srgbClr val="0070C0"/>
                </a:solidFill>
                <a:latin typeface="Consolas" panose="020B0609020204030204" pitchFamily="49" charset="0"/>
                <a:cs typeface="Arial" panose="020B0604020202020204" pitchFamily="34" charset="0"/>
              </a:rPr>
              <a:t>fastp</a:t>
            </a:r>
            <a:r>
              <a:rPr lang="en-GB" sz="1400" dirty="0">
                <a:solidFill>
                  <a:srgbClr val="0070C0"/>
                </a:solidFill>
                <a:latin typeface="Consolas" panose="020B0609020204030204" pitchFamily="49" charset="0"/>
                <a:cs typeface="Arial" panose="020B0604020202020204" pitchFamily="34" charset="0"/>
              </a:rPr>
              <a:t> </a:t>
            </a:r>
            <a:r>
              <a:rPr lang="en-GB" sz="1400" dirty="0">
                <a:solidFill>
                  <a:srgbClr val="C00000"/>
                </a:solidFill>
                <a:latin typeface="Consolas" panose="020B0609020204030204" pitchFamily="49" charset="0"/>
                <a:cs typeface="Arial" panose="020B0604020202020204" pitchFamily="34" charset="0"/>
              </a:rPr>
              <a:t>-</a:t>
            </a:r>
            <a:r>
              <a:rPr lang="en-GB" sz="1400" dirty="0" err="1">
                <a:solidFill>
                  <a:srgbClr val="C00000"/>
                </a:solidFill>
                <a:latin typeface="Consolas" panose="020B0609020204030204" pitchFamily="49" charset="0"/>
                <a:cs typeface="Arial" panose="020B0604020202020204" pitchFamily="34" charset="0"/>
              </a:rPr>
              <a:t>i</a:t>
            </a:r>
            <a:r>
              <a:rPr lang="en-GB" sz="1400" dirty="0">
                <a:solidFill>
                  <a:srgbClr val="C00000"/>
                </a:solidFill>
                <a:latin typeface="Consolas" panose="020B0609020204030204" pitchFamily="49" charset="0"/>
                <a:cs typeface="Arial" panose="020B0604020202020204" pitchFamily="34" charset="0"/>
              </a:rPr>
              <a:t> sample1_r1.fastq --html sample1_results.html --json sample1_results.json</a:t>
            </a:r>
          </a:p>
          <a:p>
            <a:pPr algn="ctr">
              <a:spcBef>
                <a:spcPts val="1800"/>
              </a:spcBef>
              <a:spcAft>
                <a:spcPts val="600"/>
              </a:spcAft>
            </a:pPr>
            <a:r>
              <a:rPr lang="en-GB" sz="1400" b="1" dirty="0">
                <a:latin typeface="Consolas" panose="020B0609020204030204" pitchFamily="49" charset="0"/>
                <a:cs typeface="Arial" panose="020B0604020202020204" pitchFamily="34" charset="0"/>
              </a:rPr>
              <a:t>The “\” character is used to indicate that the code line continues in the following line. Example:</a:t>
            </a:r>
          </a:p>
          <a:p>
            <a:pPr>
              <a:spcAft>
                <a:spcPts val="600"/>
              </a:spcAft>
            </a:pPr>
            <a:r>
              <a:rPr lang="en-GB" sz="1400" dirty="0">
                <a:latin typeface="Consolas" panose="020B0609020204030204" pitchFamily="49" charset="0"/>
                <a:cs typeface="Arial" panose="020B0604020202020204" pitchFamily="34" charset="0"/>
              </a:rPr>
              <a:t>[user@stats4 ~]$ </a:t>
            </a:r>
            <a:r>
              <a:rPr lang="en-GB" sz="1400" dirty="0">
                <a:solidFill>
                  <a:srgbClr val="0070C0"/>
                </a:solidFill>
                <a:latin typeface="Consolas" panose="020B0609020204030204" pitchFamily="49" charset="0"/>
                <a:cs typeface="Arial" panose="020B0604020202020204" pitchFamily="34" charset="0"/>
              </a:rPr>
              <a:t>software/</a:t>
            </a:r>
            <a:r>
              <a:rPr lang="en-GB" sz="1400" dirty="0" err="1">
                <a:solidFill>
                  <a:srgbClr val="0070C0"/>
                </a:solidFill>
                <a:latin typeface="Consolas" panose="020B0609020204030204" pitchFamily="49" charset="0"/>
                <a:cs typeface="Arial" panose="020B0604020202020204" pitchFamily="34" charset="0"/>
              </a:rPr>
              <a:t>fastp</a:t>
            </a:r>
            <a:r>
              <a:rPr lang="en-GB" sz="1400" dirty="0">
                <a:solidFill>
                  <a:srgbClr val="0070C0"/>
                </a:solidFill>
                <a:latin typeface="Consolas" panose="020B0609020204030204" pitchFamily="49" charset="0"/>
                <a:cs typeface="Arial" panose="020B0604020202020204" pitchFamily="34" charset="0"/>
              </a:rPr>
              <a:t> </a:t>
            </a:r>
            <a:r>
              <a:rPr lang="en-GB" sz="1400" dirty="0">
                <a:solidFill>
                  <a:srgbClr val="C00000"/>
                </a:solidFill>
                <a:latin typeface="Consolas" panose="020B0609020204030204" pitchFamily="49" charset="0"/>
                <a:cs typeface="Arial" panose="020B0604020202020204" pitchFamily="34" charset="0"/>
              </a:rPr>
              <a:t>-</a:t>
            </a:r>
            <a:r>
              <a:rPr lang="en-GB" sz="1400" dirty="0" err="1">
                <a:solidFill>
                  <a:srgbClr val="C00000"/>
                </a:solidFill>
                <a:latin typeface="Consolas" panose="020B0609020204030204" pitchFamily="49" charset="0"/>
                <a:cs typeface="Arial" panose="020B0604020202020204" pitchFamily="34" charset="0"/>
              </a:rPr>
              <a:t>i</a:t>
            </a:r>
            <a:r>
              <a:rPr lang="en-GB" sz="1400" dirty="0">
                <a:solidFill>
                  <a:srgbClr val="C00000"/>
                </a:solidFill>
                <a:latin typeface="Consolas" panose="020B0609020204030204" pitchFamily="49" charset="0"/>
                <a:cs typeface="Arial" panose="020B0604020202020204" pitchFamily="34" charset="0"/>
              </a:rPr>
              <a:t> sample1_r1.fastq \</a:t>
            </a:r>
          </a:p>
          <a:p>
            <a:pPr>
              <a:spcAft>
                <a:spcPts val="600"/>
              </a:spcAft>
            </a:pPr>
            <a:r>
              <a:rPr lang="en-GB" sz="1400" dirty="0">
                <a:solidFill>
                  <a:srgbClr val="C00000"/>
                </a:solidFill>
                <a:latin typeface="Consolas" panose="020B0609020204030204" pitchFamily="49" charset="0"/>
                <a:cs typeface="Arial" panose="020B0604020202020204" pitchFamily="34" charset="0"/>
              </a:rPr>
              <a:t>                                --html sample1_results.html \</a:t>
            </a:r>
          </a:p>
          <a:p>
            <a:pPr>
              <a:spcAft>
                <a:spcPts val="600"/>
              </a:spcAft>
            </a:pPr>
            <a:r>
              <a:rPr lang="en-GB" sz="1400" dirty="0">
                <a:solidFill>
                  <a:srgbClr val="C00000"/>
                </a:solidFill>
                <a:latin typeface="Consolas" panose="020B0609020204030204" pitchFamily="49" charset="0"/>
                <a:cs typeface="Arial" panose="020B0604020202020204" pitchFamily="34" charset="0"/>
              </a:rPr>
              <a:t>                                --json sample1_results.json</a:t>
            </a:r>
          </a:p>
        </p:txBody>
      </p:sp>
      <p:cxnSp>
        <p:nvCxnSpPr>
          <p:cNvPr id="20" name="Straight Connector 19">
            <a:extLst>
              <a:ext uri="{FF2B5EF4-FFF2-40B4-BE49-F238E27FC236}">
                <a16:creationId xmlns:a16="http://schemas.microsoft.com/office/drawing/2014/main" id="{DBA5ECB4-AB6C-462A-A3B0-E1B91DCEB395}"/>
              </a:ext>
            </a:extLst>
          </p:cNvPr>
          <p:cNvCxnSpPr>
            <a:cxnSpLocks/>
          </p:cNvCxnSpPr>
          <p:nvPr/>
        </p:nvCxnSpPr>
        <p:spPr>
          <a:xfrm flipV="1">
            <a:off x="6195563" y="2107859"/>
            <a:ext cx="0" cy="602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BD6172B-CA96-4005-85B7-24BD94029EC8}"/>
              </a:ext>
            </a:extLst>
          </p:cNvPr>
          <p:cNvCxnSpPr/>
          <p:nvPr/>
        </p:nvCxnSpPr>
        <p:spPr>
          <a:xfrm flipH="1">
            <a:off x="5693053" y="2107859"/>
            <a:ext cx="502508"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C6997D7-79A5-45DA-AE90-2F53E6B9FBAB}"/>
              </a:ext>
            </a:extLst>
          </p:cNvPr>
          <p:cNvSpPr txBox="1"/>
          <p:nvPr/>
        </p:nvSpPr>
        <p:spPr>
          <a:xfrm>
            <a:off x="3987830" y="1716162"/>
            <a:ext cx="1705221" cy="738664"/>
          </a:xfrm>
          <a:prstGeom prst="rect">
            <a:avLst/>
          </a:prstGeom>
          <a:noFill/>
          <a:ln>
            <a:solidFill>
              <a:srgbClr val="0070C0"/>
            </a:solidFill>
          </a:ln>
        </p:spPr>
        <p:txBody>
          <a:bodyPr wrap="square" rtlCol="0">
            <a:spAutoFit/>
          </a:bodyPr>
          <a:lstStyle/>
          <a:p>
            <a:pPr algn="just"/>
            <a:r>
              <a:rPr lang="en-GB" sz="1050" dirty="0"/>
              <a:t>This is where you specify which command/application you want to run and where it is.</a:t>
            </a:r>
          </a:p>
        </p:txBody>
      </p:sp>
      <p:cxnSp>
        <p:nvCxnSpPr>
          <p:cNvPr id="26" name="Straight Connector 25">
            <a:extLst>
              <a:ext uri="{FF2B5EF4-FFF2-40B4-BE49-F238E27FC236}">
                <a16:creationId xmlns:a16="http://schemas.microsoft.com/office/drawing/2014/main" id="{4A76EC03-C34A-46E8-9BC4-DA0C1D7046ED}"/>
              </a:ext>
            </a:extLst>
          </p:cNvPr>
          <p:cNvCxnSpPr>
            <a:cxnSpLocks/>
          </p:cNvCxnSpPr>
          <p:nvPr/>
        </p:nvCxnSpPr>
        <p:spPr>
          <a:xfrm flipV="1">
            <a:off x="9312277" y="2136523"/>
            <a:ext cx="0" cy="60237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5B32FB1-7115-4CCA-9B2C-CA67EBD20969}"/>
              </a:ext>
            </a:extLst>
          </p:cNvPr>
          <p:cNvCxnSpPr/>
          <p:nvPr/>
        </p:nvCxnSpPr>
        <p:spPr>
          <a:xfrm flipH="1">
            <a:off x="9312279" y="2132406"/>
            <a:ext cx="50250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8A4C307-42F1-4528-A669-31F214C51709}"/>
              </a:ext>
            </a:extLst>
          </p:cNvPr>
          <p:cNvSpPr txBox="1"/>
          <p:nvPr/>
        </p:nvSpPr>
        <p:spPr>
          <a:xfrm>
            <a:off x="9814787" y="1682283"/>
            <a:ext cx="1892639" cy="900246"/>
          </a:xfrm>
          <a:prstGeom prst="rect">
            <a:avLst/>
          </a:prstGeom>
          <a:noFill/>
          <a:ln>
            <a:solidFill>
              <a:srgbClr val="C00000"/>
            </a:solidFill>
          </a:ln>
        </p:spPr>
        <p:txBody>
          <a:bodyPr wrap="square" rtlCol="0">
            <a:spAutoFit/>
          </a:bodyPr>
          <a:lstStyle/>
          <a:p>
            <a:pPr algn="ctr"/>
            <a:r>
              <a:rPr lang="en-GB" sz="1050" dirty="0"/>
              <a:t>This is where you set specific arguments for your application. Typically set with:</a:t>
            </a:r>
            <a:br>
              <a:rPr lang="en-GB" sz="1050" dirty="0"/>
            </a:br>
            <a:r>
              <a:rPr lang="en-GB" sz="1050" dirty="0"/>
              <a:t>“-”,”--“ or “=“</a:t>
            </a:r>
            <a:br>
              <a:rPr lang="en-GB" sz="1050" dirty="0"/>
            </a:br>
            <a:r>
              <a:rPr lang="en-GB" sz="1050" dirty="0"/>
              <a:t>(see examples).</a:t>
            </a:r>
          </a:p>
        </p:txBody>
      </p:sp>
      <p:sp>
        <p:nvSpPr>
          <p:cNvPr id="33" name="TextBox 32">
            <a:extLst>
              <a:ext uri="{FF2B5EF4-FFF2-40B4-BE49-F238E27FC236}">
                <a16:creationId xmlns:a16="http://schemas.microsoft.com/office/drawing/2014/main" id="{7D007061-CAB7-4E4E-8A0F-702A1B71DBEC}"/>
              </a:ext>
            </a:extLst>
          </p:cNvPr>
          <p:cNvSpPr txBox="1"/>
          <p:nvPr/>
        </p:nvSpPr>
        <p:spPr>
          <a:xfrm>
            <a:off x="4598094" y="3106258"/>
            <a:ext cx="2793714" cy="338554"/>
          </a:xfrm>
          <a:prstGeom prst="rect">
            <a:avLst/>
          </a:prstGeom>
          <a:noFill/>
        </p:spPr>
        <p:txBody>
          <a:bodyPr wrap="none" rtlCol="0">
            <a:spAutoFit/>
          </a:bodyPr>
          <a:lstStyle/>
          <a:p>
            <a:r>
              <a:rPr lang="en-GB" sz="1600" dirty="0">
                <a:latin typeface="+mj-lt"/>
              </a:rPr>
              <a:t>Examples of simple commands:</a:t>
            </a:r>
          </a:p>
        </p:txBody>
      </p:sp>
      <p:sp>
        <p:nvSpPr>
          <p:cNvPr id="12" name="Title 3">
            <a:extLst>
              <a:ext uri="{FF2B5EF4-FFF2-40B4-BE49-F238E27FC236}">
                <a16:creationId xmlns:a16="http://schemas.microsoft.com/office/drawing/2014/main" id="{CCD82EBB-FECD-4010-84C8-ABD0000C7DE6}"/>
              </a:ext>
            </a:extLst>
          </p:cNvPr>
          <p:cNvSpPr txBox="1">
            <a:spLocks/>
          </p:cNvSpPr>
          <p:nvPr/>
        </p:nvSpPr>
        <p:spPr>
          <a:xfrm>
            <a:off x="838200" y="365125"/>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b="1" dirty="0">
                <a:latin typeface="Arial" panose="020B0604020202020204" pitchFamily="34" charset="0"/>
                <a:cs typeface="Arial" panose="020B0604020202020204" pitchFamily="34" charset="0"/>
              </a:rPr>
              <a:t>Introduction to UNIX Command Line</a:t>
            </a:r>
            <a:br>
              <a:rPr lang="en-GB" b="1" dirty="0">
                <a:latin typeface="Arial" panose="020B0604020202020204" pitchFamily="34" charset="0"/>
                <a:cs typeface="Arial" panose="020B0604020202020204" pitchFamily="34" charset="0"/>
              </a:rPr>
            </a:br>
            <a:r>
              <a:rPr lang="en-GB" sz="2800" dirty="0">
                <a:latin typeface="Arial" panose="020B0604020202020204" pitchFamily="34" charset="0"/>
                <a:cs typeface="Arial" panose="020B0604020202020204" pitchFamily="34" charset="0"/>
              </a:rPr>
              <a:t>How to run simple commands and executable applications</a:t>
            </a:r>
          </a:p>
        </p:txBody>
      </p:sp>
      <p:sp>
        <p:nvSpPr>
          <p:cNvPr id="4" name="TextBox 3">
            <a:extLst>
              <a:ext uri="{FF2B5EF4-FFF2-40B4-BE49-F238E27FC236}">
                <a16:creationId xmlns:a16="http://schemas.microsoft.com/office/drawing/2014/main" id="{ADC7ADD7-5BE1-4EC0-BD94-06C60FDB0381}"/>
              </a:ext>
            </a:extLst>
          </p:cNvPr>
          <p:cNvSpPr txBox="1"/>
          <p:nvPr/>
        </p:nvSpPr>
        <p:spPr>
          <a:xfrm>
            <a:off x="389026" y="2110968"/>
            <a:ext cx="994503" cy="369332"/>
          </a:xfrm>
          <a:prstGeom prst="rect">
            <a:avLst/>
          </a:prstGeom>
          <a:noFill/>
        </p:spPr>
        <p:txBody>
          <a:bodyPr wrap="none" rtlCol="0">
            <a:spAutoFit/>
          </a:bodyPr>
          <a:lstStyle/>
          <a:p>
            <a:r>
              <a:rPr lang="en-GB" dirty="0"/>
              <a:t>Terminal</a:t>
            </a:r>
          </a:p>
        </p:txBody>
      </p:sp>
      <p:cxnSp>
        <p:nvCxnSpPr>
          <p:cNvPr id="6" name="Straight Arrow Connector 5">
            <a:extLst>
              <a:ext uri="{FF2B5EF4-FFF2-40B4-BE49-F238E27FC236}">
                <a16:creationId xmlns:a16="http://schemas.microsoft.com/office/drawing/2014/main" id="{B684800F-1CF6-46F3-9D52-DF6BE8644206}"/>
              </a:ext>
            </a:extLst>
          </p:cNvPr>
          <p:cNvCxnSpPr>
            <a:stCxn id="4" idx="2"/>
          </p:cNvCxnSpPr>
          <p:nvPr/>
        </p:nvCxnSpPr>
        <p:spPr>
          <a:xfrm>
            <a:off x="886278" y="2480300"/>
            <a:ext cx="743739" cy="7952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6F17C6F-3C62-45DD-AFE4-6DC1F19889B8}"/>
              </a:ext>
            </a:extLst>
          </p:cNvPr>
          <p:cNvSpPr txBox="1"/>
          <p:nvPr/>
        </p:nvSpPr>
        <p:spPr>
          <a:xfrm>
            <a:off x="10988968" y="2822507"/>
            <a:ext cx="633507" cy="369332"/>
          </a:xfrm>
          <a:prstGeom prst="rect">
            <a:avLst/>
          </a:prstGeom>
          <a:noFill/>
        </p:spPr>
        <p:txBody>
          <a:bodyPr wrap="none" rtlCol="0">
            <a:spAutoFit/>
          </a:bodyPr>
          <a:lstStyle/>
          <a:p>
            <a:r>
              <a:rPr lang="en-GB" dirty="0"/>
              <a:t>Shell</a:t>
            </a:r>
          </a:p>
        </p:txBody>
      </p:sp>
      <p:cxnSp>
        <p:nvCxnSpPr>
          <p:cNvPr id="9" name="Straight Arrow Connector 8">
            <a:extLst>
              <a:ext uri="{FF2B5EF4-FFF2-40B4-BE49-F238E27FC236}">
                <a16:creationId xmlns:a16="http://schemas.microsoft.com/office/drawing/2014/main" id="{E5410296-0BB3-4BF3-A116-0438532ED128}"/>
              </a:ext>
            </a:extLst>
          </p:cNvPr>
          <p:cNvCxnSpPr/>
          <p:nvPr/>
        </p:nvCxnSpPr>
        <p:spPr>
          <a:xfrm flipH="1">
            <a:off x="9994790" y="3226394"/>
            <a:ext cx="1001864" cy="9639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914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3">
            <a:extLst>
              <a:ext uri="{FF2B5EF4-FFF2-40B4-BE49-F238E27FC236}">
                <a16:creationId xmlns:a16="http://schemas.microsoft.com/office/drawing/2014/main" id="{CCD82EBB-FECD-4010-84C8-ABD0000C7DE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latin typeface="Arial" panose="020B0604020202020204" pitchFamily="34" charset="0"/>
                <a:cs typeface="Arial" panose="020B0604020202020204" pitchFamily="34" charset="0"/>
              </a:rPr>
              <a:t>Introduction to UNIX Command Line</a:t>
            </a:r>
            <a:br>
              <a:rPr lang="en-GB" dirty="0">
                <a:latin typeface="Arial" panose="020B0604020202020204" pitchFamily="34" charset="0"/>
                <a:cs typeface="Arial" panose="020B0604020202020204" pitchFamily="34" charset="0"/>
              </a:rPr>
            </a:br>
            <a:r>
              <a:rPr lang="en-GB" sz="2800" dirty="0">
                <a:latin typeface="Arial" panose="020B0604020202020204" pitchFamily="34" charset="0"/>
                <a:cs typeface="Arial" panose="020B0604020202020204" pitchFamily="34" charset="0"/>
              </a:rPr>
              <a:t>How to run simple commands and executable applications</a:t>
            </a:r>
          </a:p>
        </p:txBody>
      </p:sp>
      <p:sp>
        <p:nvSpPr>
          <p:cNvPr id="13" name="Rectangle 12">
            <a:extLst>
              <a:ext uri="{FF2B5EF4-FFF2-40B4-BE49-F238E27FC236}">
                <a16:creationId xmlns:a16="http://schemas.microsoft.com/office/drawing/2014/main" id="{DDC3719F-BE2C-4D56-860B-C79F0F417952}"/>
              </a:ext>
            </a:extLst>
          </p:cNvPr>
          <p:cNvSpPr/>
          <p:nvPr/>
        </p:nvSpPr>
        <p:spPr>
          <a:xfrm>
            <a:off x="220719" y="3136514"/>
            <a:ext cx="11742317" cy="338554"/>
          </a:xfrm>
          <a:prstGeom prst="rect">
            <a:avLst/>
          </a:prstGeom>
        </p:spPr>
        <p:txBody>
          <a:bodyPr wrap="none">
            <a:spAutoFit/>
          </a:bodyPr>
          <a:lstStyle/>
          <a:p>
            <a:r>
              <a:rPr lang="en-GB" sz="1600" dirty="0">
                <a:latin typeface="Consolas" panose="020B0609020204030204" pitchFamily="49" charset="0"/>
              </a:rPr>
              <a:t>[user@stats4 ~]$ </a:t>
            </a:r>
            <a:r>
              <a:rPr lang="en-GB" sz="1600" dirty="0">
                <a:solidFill>
                  <a:srgbClr val="0070C0"/>
                </a:solidFill>
                <a:latin typeface="Consolas" panose="020B0609020204030204" pitchFamily="49" charset="0"/>
              </a:rPr>
              <a:t>/path/to/language/compiler</a:t>
            </a:r>
            <a:r>
              <a:rPr lang="en-GB" sz="1600" dirty="0">
                <a:latin typeface="Consolas" panose="020B0609020204030204" pitchFamily="49" charset="0"/>
              </a:rPr>
              <a:t> </a:t>
            </a:r>
            <a:r>
              <a:rPr lang="en-GB" sz="1600" dirty="0">
                <a:solidFill>
                  <a:srgbClr val="C00000"/>
                </a:solidFill>
                <a:latin typeface="Consolas" panose="020B0609020204030204" pitchFamily="49" charset="0"/>
              </a:rPr>
              <a:t>[COMPILER’S ARGUMENTS] </a:t>
            </a:r>
            <a:r>
              <a:rPr lang="en-GB" sz="1600" dirty="0">
                <a:solidFill>
                  <a:schemeClr val="accent6">
                    <a:lumMod val="75000"/>
                  </a:schemeClr>
                </a:solidFill>
                <a:latin typeface="Consolas" panose="020B0609020204030204" pitchFamily="49" charset="0"/>
              </a:rPr>
              <a:t>/path/to/script</a:t>
            </a:r>
            <a:r>
              <a:rPr lang="en-GB" sz="1600" dirty="0">
                <a:solidFill>
                  <a:srgbClr val="C00000"/>
                </a:solidFill>
                <a:latin typeface="Consolas" panose="020B0609020204030204" pitchFamily="49" charset="0"/>
              </a:rPr>
              <a:t> </a:t>
            </a:r>
            <a:r>
              <a:rPr lang="en-GB" sz="1600" dirty="0">
                <a:solidFill>
                  <a:srgbClr val="7030A0"/>
                </a:solidFill>
                <a:latin typeface="Consolas" panose="020B0609020204030204" pitchFamily="49" charset="0"/>
              </a:rPr>
              <a:t>[SCRIPT’S ARGUMENTS]</a:t>
            </a:r>
          </a:p>
        </p:txBody>
      </p:sp>
      <p:sp>
        <p:nvSpPr>
          <p:cNvPr id="14" name="Rectangle 13">
            <a:extLst>
              <a:ext uri="{FF2B5EF4-FFF2-40B4-BE49-F238E27FC236}">
                <a16:creationId xmlns:a16="http://schemas.microsoft.com/office/drawing/2014/main" id="{51938179-E7C4-480D-BCAC-DCA6587E65A6}"/>
              </a:ext>
            </a:extLst>
          </p:cNvPr>
          <p:cNvSpPr/>
          <p:nvPr/>
        </p:nvSpPr>
        <p:spPr>
          <a:xfrm>
            <a:off x="682385" y="4433909"/>
            <a:ext cx="10023898" cy="1769715"/>
          </a:xfrm>
          <a:prstGeom prst="rect">
            <a:avLst/>
          </a:prstGeom>
        </p:spPr>
        <p:txBody>
          <a:bodyPr wrap="none">
            <a:spAutoFit/>
          </a:bodyPr>
          <a:lstStyle/>
          <a:p>
            <a:pPr>
              <a:spcAft>
                <a:spcPts val="600"/>
              </a:spcAft>
            </a:pPr>
            <a:r>
              <a:rPr lang="en-GB" sz="1400" dirty="0">
                <a:latin typeface="Consolas" panose="020B0609020204030204" pitchFamily="49" charset="0"/>
              </a:rPr>
              <a:t>[user@stats4 ~]$ </a:t>
            </a:r>
            <a:r>
              <a:rPr lang="en-GB" sz="1400" dirty="0" err="1">
                <a:solidFill>
                  <a:srgbClr val="0070C0"/>
                </a:solidFill>
                <a:latin typeface="Consolas" panose="020B0609020204030204" pitchFamily="49" charset="0"/>
              </a:rPr>
              <a:t>sh</a:t>
            </a:r>
            <a:r>
              <a:rPr lang="en-GB" sz="1400" dirty="0">
                <a:solidFill>
                  <a:srgbClr val="C00000"/>
                </a:solidFill>
                <a:latin typeface="Consolas" panose="020B0609020204030204" pitchFamily="49" charset="0"/>
              </a:rPr>
              <a:t> </a:t>
            </a:r>
            <a:r>
              <a:rPr lang="en-GB" sz="1400" dirty="0">
                <a:solidFill>
                  <a:schemeClr val="accent6">
                    <a:lumMod val="75000"/>
                  </a:schemeClr>
                </a:solidFill>
                <a:latin typeface="Consolas" panose="020B0609020204030204" pitchFamily="49" charset="0"/>
              </a:rPr>
              <a:t>~/software/linux_script.sh </a:t>
            </a:r>
            <a:r>
              <a:rPr lang="en-GB" sz="1400" dirty="0">
                <a:solidFill>
                  <a:srgbClr val="7030A0"/>
                </a:solidFill>
                <a:latin typeface="Consolas" panose="020B0609020204030204" pitchFamily="49" charset="0"/>
              </a:rPr>
              <a:t>–</a:t>
            </a:r>
            <a:r>
              <a:rPr lang="en-GB" sz="1400" dirty="0" err="1">
                <a:solidFill>
                  <a:srgbClr val="7030A0"/>
                </a:solidFill>
                <a:latin typeface="Consolas" panose="020B0609020204030204" pitchFamily="49" charset="0"/>
              </a:rPr>
              <a:t>i</a:t>
            </a:r>
            <a:r>
              <a:rPr lang="en-GB" sz="1400" dirty="0">
                <a:solidFill>
                  <a:srgbClr val="7030A0"/>
                </a:solidFill>
                <a:latin typeface="Consolas" panose="020B0609020204030204" pitchFamily="49" charset="0"/>
              </a:rPr>
              <a:t> data1.csv –d 20 </a:t>
            </a:r>
          </a:p>
          <a:p>
            <a:pPr>
              <a:spcAft>
                <a:spcPts val="600"/>
              </a:spcAft>
            </a:pPr>
            <a:r>
              <a:rPr lang="en-GB" sz="1400" dirty="0">
                <a:latin typeface="Consolas" panose="020B0609020204030204" pitchFamily="49" charset="0"/>
              </a:rPr>
              <a:t>[user@stats4 ~]$ </a:t>
            </a:r>
            <a:r>
              <a:rPr lang="en-GB" sz="1400" dirty="0">
                <a:solidFill>
                  <a:srgbClr val="0070C0"/>
                </a:solidFill>
                <a:latin typeface="Consolas" panose="020B0609020204030204" pitchFamily="49" charset="0"/>
              </a:rPr>
              <a:t>bash</a:t>
            </a:r>
            <a:r>
              <a:rPr lang="en-GB" sz="1400" dirty="0">
                <a:solidFill>
                  <a:srgbClr val="C00000"/>
                </a:solidFill>
                <a:latin typeface="Consolas" panose="020B0609020204030204" pitchFamily="49" charset="0"/>
              </a:rPr>
              <a:t> </a:t>
            </a:r>
            <a:r>
              <a:rPr lang="en-GB" sz="1400" dirty="0">
                <a:solidFill>
                  <a:schemeClr val="accent6">
                    <a:lumMod val="75000"/>
                  </a:schemeClr>
                </a:solidFill>
                <a:latin typeface="Consolas" panose="020B0609020204030204" pitchFamily="49" charset="0"/>
              </a:rPr>
              <a:t>~/software/linux_script.sh </a:t>
            </a:r>
            <a:r>
              <a:rPr lang="en-GB" sz="1400" dirty="0">
                <a:solidFill>
                  <a:srgbClr val="7030A0"/>
                </a:solidFill>
                <a:latin typeface="Consolas" panose="020B0609020204030204" pitchFamily="49" charset="0"/>
              </a:rPr>
              <a:t>data1.csv</a:t>
            </a:r>
            <a:endParaRPr lang="en-GB" sz="1400" dirty="0">
              <a:solidFill>
                <a:schemeClr val="accent6">
                  <a:lumMod val="75000"/>
                </a:schemeClr>
              </a:solidFill>
              <a:latin typeface="Consolas" panose="020B0609020204030204" pitchFamily="49" charset="0"/>
            </a:endParaRPr>
          </a:p>
          <a:p>
            <a:pPr>
              <a:spcAft>
                <a:spcPts val="600"/>
              </a:spcAft>
            </a:pPr>
            <a:r>
              <a:rPr lang="en-GB" sz="1400" dirty="0">
                <a:latin typeface="Consolas" panose="020B0609020204030204" pitchFamily="49" charset="0"/>
              </a:rPr>
              <a:t>[user@stats4 ~]$ </a:t>
            </a:r>
            <a:r>
              <a:rPr lang="en-GB" sz="1400" dirty="0">
                <a:solidFill>
                  <a:srgbClr val="0070C0"/>
                </a:solidFill>
                <a:latin typeface="Consolas" panose="020B0609020204030204" pitchFamily="49" charset="0"/>
              </a:rPr>
              <a:t>python </a:t>
            </a:r>
            <a:r>
              <a:rPr lang="en-GB" sz="1400" dirty="0">
                <a:solidFill>
                  <a:schemeClr val="accent6">
                    <a:lumMod val="75000"/>
                  </a:schemeClr>
                </a:solidFill>
                <a:latin typeface="Consolas" panose="020B0609020204030204" pitchFamily="49" charset="0"/>
              </a:rPr>
              <a:t>~/software/myscript.py </a:t>
            </a:r>
            <a:r>
              <a:rPr lang="en-GB" sz="1400" dirty="0">
                <a:solidFill>
                  <a:srgbClr val="7030A0"/>
                </a:solidFill>
                <a:latin typeface="Consolas" panose="020B0609020204030204" pitchFamily="49" charset="0"/>
              </a:rPr>
              <a:t>–</a:t>
            </a:r>
            <a:r>
              <a:rPr lang="en-GB" sz="1400" dirty="0" err="1">
                <a:solidFill>
                  <a:srgbClr val="7030A0"/>
                </a:solidFill>
                <a:latin typeface="Consolas" panose="020B0609020204030204" pitchFamily="49" charset="0"/>
              </a:rPr>
              <a:t>i</a:t>
            </a:r>
            <a:r>
              <a:rPr lang="en-GB" sz="1400" dirty="0">
                <a:solidFill>
                  <a:srgbClr val="7030A0"/>
                </a:solidFill>
                <a:latin typeface="Consolas" panose="020B0609020204030204" pitchFamily="49" charset="0"/>
              </a:rPr>
              <a:t> sample1.vcf –o sample1.processed.vcf</a:t>
            </a:r>
          </a:p>
          <a:p>
            <a:pPr>
              <a:spcAft>
                <a:spcPts val="600"/>
              </a:spcAft>
            </a:pPr>
            <a:r>
              <a:rPr lang="en-GB" sz="1400" dirty="0">
                <a:latin typeface="Consolas" panose="020B0609020204030204" pitchFamily="49" charset="0"/>
              </a:rPr>
              <a:t>[user@stats4 ~]$ </a:t>
            </a:r>
            <a:r>
              <a:rPr lang="en-GB" sz="1400" dirty="0" err="1">
                <a:solidFill>
                  <a:srgbClr val="0070C0"/>
                </a:solidFill>
                <a:latin typeface="Consolas" panose="020B0609020204030204" pitchFamily="49" charset="0"/>
              </a:rPr>
              <a:t>Rscript</a:t>
            </a:r>
            <a:r>
              <a:rPr lang="en-GB" sz="1400" dirty="0">
                <a:solidFill>
                  <a:srgbClr val="0070C0"/>
                </a:solidFill>
                <a:latin typeface="Consolas" panose="020B0609020204030204" pitchFamily="49" charset="0"/>
              </a:rPr>
              <a:t> </a:t>
            </a:r>
            <a:r>
              <a:rPr lang="en-GB" sz="1400" dirty="0">
                <a:solidFill>
                  <a:schemeClr val="accent6">
                    <a:lumMod val="75000"/>
                  </a:schemeClr>
                </a:solidFill>
                <a:latin typeface="Consolas" panose="020B0609020204030204" pitchFamily="49" charset="0"/>
              </a:rPr>
              <a:t>~/software/</a:t>
            </a:r>
            <a:r>
              <a:rPr lang="en-GB" sz="1400" dirty="0" err="1">
                <a:solidFill>
                  <a:schemeClr val="accent6">
                    <a:lumMod val="75000"/>
                  </a:schemeClr>
                </a:solidFill>
                <a:latin typeface="Consolas" panose="020B0609020204030204" pitchFamily="49" charset="0"/>
              </a:rPr>
              <a:t>plot_samples.R</a:t>
            </a:r>
            <a:r>
              <a:rPr lang="en-GB" sz="1400" dirty="0">
                <a:solidFill>
                  <a:schemeClr val="accent6">
                    <a:lumMod val="75000"/>
                  </a:schemeClr>
                </a:solidFill>
                <a:latin typeface="Consolas" panose="020B0609020204030204" pitchFamily="49" charset="0"/>
              </a:rPr>
              <a:t> </a:t>
            </a:r>
            <a:r>
              <a:rPr lang="en-GB" sz="1400" dirty="0">
                <a:solidFill>
                  <a:srgbClr val="7030A0"/>
                </a:solidFill>
                <a:latin typeface="Consolas" panose="020B0609020204030204" pitchFamily="49" charset="0"/>
              </a:rPr>
              <a:t>--input table.txt –f 20 –d 9 --output plot.jpeg </a:t>
            </a:r>
          </a:p>
          <a:p>
            <a:pPr>
              <a:spcAft>
                <a:spcPts val="600"/>
              </a:spcAft>
            </a:pPr>
            <a:r>
              <a:rPr lang="en-GB" sz="1400" dirty="0">
                <a:latin typeface="Consolas" panose="020B0609020204030204" pitchFamily="49" charset="0"/>
              </a:rPr>
              <a:t>[user@stats4 ~]$ </a:t>
            </a:r>
            <a:r>
              <a:rPr lang="en-GB" sz="1400" dirty="0">
                <a:solidFill>
                  <a:srgbClr val="0070C0"/>
                </a:solidFill>
                <a:latin typeface="Consolas" panose="020B0609020204030204" pitchFamily="49" charset="0"/>
              </a:rPr>
              <a:t>java</a:t>
            </a:r>
            <a:r>
              <a:rPr lang="en-GB" sz="1400" dirty="0">
                <a:latin typeface="Consolas" panose="020B0609020204030204" pitchFamily="49" charset="0"/>
              </a:rPr>
              <a:t> </a:t>
            </a:r>
            <a:r>
              <a:rPr lang="en-GB" sz="1400" dirty="0">
                <a:solidFill>
                  <a:srgbClr val="C00000"/>
                </a:solidFill>
                <a:latin typeface="Consolas" panose="020B0609020204030204" pitchFamily="49" charset="0"/>
              </a:rPr>
              <a:t>–jar</a:t>
            </a:r>
            <a:r>
              <a:rPr lang="en-GB" sz="1400" dirty="0">
                <a:latin typeface="Consolas" panose="020B0609020204030204" pitchFamily="49" charset="0"/>
              </a:rPr>
              <a:t> </a:t>
            </a:r>
            <a:r>
              <a:rPr lang="en-GB" sz="1400" dirty="0">
                <a:solidFill>
                  <a:schemeClr val="accent6">
                    <a:lumMod val="75000"/>
                  </a:schemeClr>
                </a:solidFill>
                <a:latin typeface="Consolas" panose="020B0609020204030204" pitchFamily="49" charset="0"/>
              </a:rPr>
              <a:t>gatk-4.0.4.0-local.jar</a:t>
            </a:r>
            <a:r>
              <a:rPr lang="en-GB" sz="1400" dirty="0">
                <a:latin typeface="Consolas" panose="020B0609020204030204" pitchFamily="49" charset="0"/>
              </a:rPr>
              <a:t> </a:t>
            </a:r>
            <a:r>
              <a:rPr lang="en-GB" sz="1400" dirty="0" err="1">
                <a:solidFill>
                  <a:srgbClr val="7030A0"/>
                </a:solidFill>
                <a:latin typeface="Consolas" panose="020B0609020204030204" pitchFamily="49" charset="0"/>
              </a:rPr>
              <a:t>HaplotypeCaller</a:t>
            </a:r>
            <a:r>
              <a:rPr lang="en-GB" sz="1400" dirty="0">
                <a:solidFill>
                  <a:srgbClr val="7030A0"/>
                </a:solidFill>
                <a:latin typeface="Consolas" panose="020B0609020204030204" pitchFamily="49" charset="0"/>
              </a:rPr>
              <a:t> –I sample1.vcf</a:t>
            </a:r>
          </a:p>
          <a:p>
            <a:pPr>
              <a:spcAft>
                <a:spcPts val="600"/>
              </a:spcAft>
            </a:pPr>
            <a:r>
              <a:rPr lang="en-GB" sz="1400" dirty="0">
                <a:latin typeface="Consolas" panose="020B0609020204030204" pitchFamily="49" charset="0"/>
              </a:rPr>
              <a:t>[user@stats4 ~]$ </a:t>
            </a:r>
            <a:r>
              <a:rPr lang="en-GB" sz="1400" dirty="0">
                <a:solidFill>
                  <a:srgbClr val="0070C0"/>
                </a:solidFill>
                <a:latin typeface="Consolas" panose="020B0609020204030204" pitchFamily="49" charset="0"/>
              </a:rPr>
              <a:t>java</a:t>
            </a:r>
            <a:r>
              <a:rPr lang="en-GB" sz="1400" dirty="0">
                <a:latin typeface="Consolas" panose="020B0609020204030204" pitchFamily="49" charset="0"/>
              </a:rPr>
              <a:t> </a:t>
            </a:r>
            <a:r>
              <a:rPr lang="en-GB" sz="1400" dirty="0">
                <a:solidFill>
                  <a:srgbClr val="C00000"/>
                </a:solidFill>
                <a:latin typeface="Consolas" panose="020B0609020204030204" pitchFamily="49" charset="0"/>
              </a:rPr>
              <a:t>–jar</a:t>
            </a:r>
            <a:r>
              <a:rPr lang="en-GB" sz="1400" dirty="0">
                <a:latin typeface="Consolas" panose="020B0609020204030204" pitchFamily="49" charset="0"/>
              </a:rPr>
              <a:t> </a:t>
            </a:r>
            <a:r>
              <a:rPr lang="en-GB" sz="1400" dirty="0">
                <a:solidFill>
                  <a:srgbClr val="C00000"/>
                </a:solidFill>
                <a:latin typeface="Consolas" panose="020B0609020204030204" pitchFamily="49" charset="0"/>
              </a:rPr>
              <a:t>–Xms30g </a:t>
            </a:r>
            <a:r>
              <a:rPr lang="en-GB" sz="1400" dirty="0">
                <a:solidFill>
                  <a:schemeClr val="accent6">
                    <a:lumMod val="75000"/>
                  </a:schemeClr>
                </a:solidFill>
                <a:latin typeface="Consolas" panose="020B0609020204030204" pitchFamily="49" charset="0"/>
              </a:rPr>
              <a:t>gatk-4.0.4.0-local.jar</a:t>
            </a:r>
            <a:r>
              <a:rPr lang="en-GB" sz="1400" dirty="0">
                <a:latin typeface="Consolas" panose="020B0609020204030204" pitchFamily="49" charset="0"/>
              </a:rPr>
              <a:t> </a:t>
            </a:r>
            <a:r>
              <a:rPr lang="en-GB" sz="1400" dirty="0" err="1">
                <a:solidFill>
                  <a:srgbClr val="7030A0"/>
                </a:solidFill>
                <a:latin typeface="Consolas" panose="020B0609020204030204" pitchFamily="49" charset="0"/>
              </a:rPr>
              <a:t>HaplotypeCaller</a:t>
            </a:r>
            <a:r>
              <a:rPr lang="en-GB" sz="1400" dirty="0">
                <a:solidFill>
                  <a:srgbClr val="7030A0"/>
                </a:solidFill>
                <a:latin typeface="Consolas" panose="020B0609020204030204" pitchFamily="49" charset="0"/>
              </a:rPr>
              <a:t> –I sample1.vcf</a:t>
            </a:r>
          </a:p>
        </p:txBody>
      </p:sp>
      <p:cxnSp>
        <p:nvCxnSpPr>
          <p:cNvPr id="15" name="Straight Connector 14">
            <a:extLst>
              <a:ext uri="{FF2B5EF4-FFF2-40B4-BE49-F238E27FC236}">
                <a16:creationId xmlns:a16="http://schemas.microsoft.com/office/drawing/2014/main" id="{5CFFB509-BF3F-461F-85A2-C86CC157BBFA}"/>
              </a:ext>
            </a:extLst>
          </p:cNvPr>
          <p:cNvCxnSpPr>
            <a:cxnSpLocks/>
          </p:cNvCxnSpPr>
          <p:nvPr/>
        </p:nvCxnSpPr>
        <p:spPr>
          <a:xfrm flipV="1">
            <a:off x="2933704" y="2544176"/>
            <a:ext cx="0" cy="602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5ABA4A-B0A1-4BF6-BE77-7533B15939E1}"/>
              </a:ext>
            </a:extLst>
          </p:cNvPr>
          <p:cNvCxnSpPr/>
          <p:nvPr/>
        </p:nvCxnSpPr>
        <p:spPr>
          <a:xfrm flipH="1">
            <a:off x="2431194" y="2544176"/>
            <a:ext cx="50250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2FD4CA2-2080-4A6B-9230-B822D7D81D6B}"/>
              </a:ext>
            </a:extLst>
          </p:cNvPr>
          <p:cNvSpPr txBox="1"/>
          <p:nvPr/>
        </p:nvSpPr>
        <p:spPr>
          <a:xfrm>
            <a:off x="722896" y="2053244"/>
            <a:ext cx="1705221" cy="900246"/>
          </a:xfrm>
          <a:prstGeom prst="rect">
            <a:avLst/>
          </a:prstGeom>
          <a:noFill/>
          <a:ln>
            <a:solidFill>
              <a:srgbClr val="0070C0"/>
            </a:solidFill>
          </a:ln>
        </p:spPr>
        <p:txBody>
          <a:bodyPr wrap="square" rtlCol="0">
            <a:spAutoFit/>
          </a:bodyPr>
          <a:lstStyle/>
          <a:p>
            <a:pPr algn="just"/>
            <a:r>
              <a:rPr lang="en-GB" sz="1050" dirty="0"/>
              <a:t>This is where you specify which application you want to run and where it is. In this case is the compiler of the specific language.</a:t>
            </a:r>
          </a:p>
        </p:txBody>
      </p:sp>
      <p:cxnSp>
        <p:nvCxnSpPr>
          <p:cNvPr id="21" name="Straight Connector 20">
            <a:extLst>
              <a:ext uri="{FF2B5EF4-FFF2-40B4-BE49-F238E27FC236}">
                <a16:creationId xmlns:a16="http://schemas.microsoft.com/office/drawing/2014/main" id="{2A3E63DC-3F1D-4155-9079-0EAB8F37D02C}"/>
              </a:ext>
            </a:extLst>
          </p:cNvPr>
          <p:cNvCxnSpPr>
            <a:cxnSpLocks/>
          </p:cNvCxnSpPr>
          <p:nvPr/>
        </p:nvCxnSpPr>
        <p:spPr>
          <a:xfrm flipV="1">
            <a:off x="5723442" y="2590758"/>
            <a:ext cx="0" cy="60237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3B6B581-7549-4306-BFAB-6DFEC443774D}"/>
              </a:ext>
            </a:extLst>
          </p:cNvPr>
          <p:cNvCxnSpPr>
            <a:cxnSpLocks/>
          </p:cNvCxnSpPr>
          <p:nvPr/>
        </p:nvCxnSpPr>
        <p:spPr>
          <a:xfrm flipH="1">
            <a:off x="5468068" y="2594879"/>
            <a:ext cx="265467"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BC67E1A-367E-40AA-9BC5-4FF513515C77}"/>
              </a:ext>
            </a:extLst>
          </p:cNvPr>
          <p:cNvSpPr txBox="1"/>
          <p:nvPr/>
        </p:nvSpPr>
        <p:spPr>
          <a:xfrm>
            <a:off x="5588906" y="4127993"/>
            <a:ext cx="1014188" cy="338554"/>
          </a:xfrm>
          <a:prstGeom prst="rect">
            <a:avLst/>
          </a:prstGeom>
          <a:noFill/>
        </p:spPr>
        <p:txBody>
          <a:bodyPr wrap="none" rtlCol="0">
            <a:spAutoFit/>
          </a:bodyPr>
          <a:lstStyle/>
          <a:p>
            <a:r>
              <a:rPr lang="en-GB" sz="1600" dirty="0">
                <a:latin typeface="+mj-lt"/>
              </a:rPr>
              <a:t>Examples:</a:t>
            </a:r>
          </a:p>
        </p:txBody>
      </p:sp>
      <p:cxnSp>
        <p:nvCxnSpPr>
          <p:cNvPr id="29" name="Straight Connector 28">
            <a:extLst>
              <a:ext uri="{FF2B5EF4-FFF2-40B4-BE49-F238E27FC236}">
                <a16:creationId xmlns:a16="http://schemas.microsoft.com/office/drawing/2014/main" id="{47E0C14D-585D-45A9-96A7-D2A7958A94D5}"/>
              </a:ext>
            </a:extLst>
          </p:cNvPr>
          <p:cNvCxnSpPr>
            <a:cxnSpLocks/>
          </p:cNvCxnSpPr>
          <p:nvPr/>
        </p:nvCxnSpPr>
        <p:spPr>
          <a:xfrm flipV="1">
            <a:off x="8523272" y="2593767"/>
            <a:ext cx="0" cy="60237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254CF7F-94C6-4B05-9258-805FDB146F61}"/>
              </a:ext>
            </a:extLst>
          </p:cNvPr>
          <p:cNvCxnSpPr>
            <a:cxnSpLocks/>
          </p:cNvCxnSpPr>
          <p:nvPr/>
        </p:nvCxnSpPr>
        <p:spPr>
          <a:xfrm flipH="1">
            <a:off x="8267898" y="2597888"/>
            <a:ext cx="265467"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EFD5534-B21B-4A02-9599-829E28300E67}"/>
              </a:ext>
            </a:extLst>
          </p:cNvPr>
          <p:cNvSpPr txBox="1"/>
          <p:nvPr/>
        </p:nvSpPr>
        <p:spPr>
          <a:xfrm>
            <a:off x="6375053" y="2469046"/>
            <a:ext cx="1892639" cy="253916"/>
          </a:xfrm>
          <a:prstGeom prst="rect">
            <a:avLst/>
          </a:prstGeom>
          <a:noFill/>
          <a:ln>
            <a:solidFill>
              <a:schemeClr val="accent6">
                <a:lumMod val="75000"/>
              </a:schemeClr>
            </a:solidFill>
          </a:ln>
        </p:spPr>
        <p:txBody>
          <a:bodyPr wrap="square" rtlCol="0">
            <a:spAutoFit/>
          </a:bodyPr>
          <a:lstStyle/>
          <a:p>
            <a:pPr algn="ctr"/>
            <a:r>
              <a:rPr lang="en-GB" sz="1050" dirty="0"/>
              <a:t>Full path to the script.</a:t>
            </a:r>
          </a:p>
        </p:txBody>
      </p:sp>
      <p:cxnSp>
        <p:nvCxnSpPr>
          <p:cNvPr id="32" name="Straight Connector 31">
            <a:extLst>
              <a:ext uri="{FF2B5EF4-FFF2-40B4-BE49-F238E27FC236}">
                <a16:creationId xmlns:a16="http://schemas.microsoft.com/office/drawing/2014/main" id="{1FDCD120-09A8-4A81-A239-DFCD12CC15E2}"/>
              </a:ext>
            </a:extLst>
          </p:cNvPr>
          <p:cNvCxnSpPr>
            <a:cxnSpLocks/>
          </p:cNvCxnSpPr>
          <p:nvPr/>
        </p:nvCxnSpPr>
        <p:spPr>
          <a:xfrm flipV="1">
            <a:off x="11520812" y="2597888"/>
            <a:ext cx="0" cy="60237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41F86B6-2447-4149-B78C-2F21B2D424F0}"/>
              </a:ext>
            </a:extLst>
          </p:cNvPr>
          <p:cNvCxnSpPr>
            <a:cxnSpLocks/>
          </p:cNvCxnSpPr>
          <p:nvPr/>
        </p:nvCxnSpPr>
        <p:spPr>
          <a:xfrm flipH="1">
            <a:off x="11265438" y="2602009"/>
            <a:ext cx="265467" cy="0"/>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8C426CC-7F5F-4391-9083-FDBB17046540}"/>
              </a:ext>
            </a:extLst>
          </p:cNvPr>
          <p:cNvSpPr txBox="1"/>
          <p:nvPr/>
        </p:nvSpPr>
        <p:spPr>
          <a:xfrm>
            <a:off x="3079726" y="2221426"/>
            <a:ext cx="2388132" cy="738664"/>
          </a:xfrm>
          <a:prstGeom prst="rect">
            <a:avLst/>
          </a:prstGeom>
          <a:noFill/>
          <a:ln>
            <a:solidFill>
              <a:srgbClr val="C00000"/>
            </a:solidFill>
          </a:ln>
        </p:spPr>
        <p:txBody>
          <a:bodyPr wrap="square" rtlCol="0">
            <a:spAutoFit/>
          </a:bodyPr>
          <a:lstStyle/>
          <a:p>
            <a:pPr algn="ctr"/>
            <a:r>
              <a:rPr lang="en-GB" sz="1050" dirty="0"/>
              <a:t>This is where you set specific arguments for the compiler. Typically set with:</a:t>
            </a:r>
            <a:br>
              <a:rPr lang="en-GB" sz="1050" dirty="0"/>
            </a:br>
            <a:r>
              <a:rPr lang="en-GB" sz="1050" dirty="0"/>
              <a:t>“-”,”--“,“=“ or just a word or character</a:t>
            </a:r>
            <a:br>
              <a:rPr lang="en-GB" sz="1050" dirty="0"/>
            </a:br>
            <a:r>
              <a:rPr lang="en-GB" sz="1050" dirty="0"/>
              <a:t>(see examples).</a:t>
            </a:r>
          </a:p>
        </p:txBody>
      </p:sp>
      <p:sp>
        <p:nvSpPr>
          <p:cNvPr id="36" name="TextBox 35">
            <a:extLst>
              <a:ext uri="{FF2B5EF4-FFF2-40B4-BE49-F238E27FC236}">
                <a16:creationId xmlns:a16="http://schemas.microsoft.com/office/drawing/2014/main" id="{6199D776-1E4A-46FB-953B-99D28501D84E}"/>
              </a:ext>
            </a:extLst>
          </p:cNvPr>
          <p:cNvSpPr txBox="1"/>
          <p:nvPr/>
        </p:nvSpPr>
        <p:spPr>
          <a:xfrm>
            <a:off x="8892442" y="2228556"/>
            <a:ext cx="2388132" cy="738664"/>
          </a:xfrm>
          <a:prstGeom prst="rect">
            <a:avLst/>
          </a:prstGeom>
          <a:noFill/>
          <a:ln>
            <a:solidFill>
              <a:srgbClr val="7030A0"/>
            </a:solidFill>
          </a:ln>
        </p:spPr>
        <p:txBody>
          <a:bodyPr wrap="square" rtlCol="0">
            <a:spAutoFit/>
          </a:bodyPr>
          <a:lstStyle/>
          <a:p>
            <a:pPr algn="ctr"/>
            <a:r>
              <a:rPr lang="en-GB" sz="1050" dirty="0"/>
              <a:t>This is where you set specific arguments for your script. Typically set with:</a:t>
            </a:r>
            <a:br>
              <a:rPr lang="en-GB" sz="1050" dirty="0"/>
            </a:br>
            <a:r>
              <a:rPr lang="en-GB" sz="1050" dirty="0"/>
              <a:t>“-”,”--“,“=“ or just a word or character</a:t>
            </a:r>
            <a:br>
              <a:rPr lang="en-GB" sz="1050" dirty="0"/>
            </a:br>
            <a:r>
              <a:rPr lang="en-GB" sz="1050" dirty="0"/>
              <a:t>(see examples).</a:t>
            </a:r>
          </a:p>
        </p:txBody>
      </p:sp>
    </p:spTree>
    <p:extLst>
      <p:ext uri="{BB962C8B-B14F-4D97-AF65-F5344CB8AC3E}">
        <p14:creationId xmlns:p14="http://schemas.microsoft.com/office/powerpoint/2010/main" val="1049394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a:xfrm>
            <a:off x="920496" y="377317"/>
            <a:ext cx="10515600" cy="1325563"/>
          </a:xfrm>
        </p:spPr>
        <p:txBody>
          <a:bodyPr/>
          <a:lstStyle/>
          <a:p>
            <a:pPr algn="ctr"/>
            <a:r>
              <a:rPr lang="en-GB" b="1" dirty="0">
                <a:latin typeface="Arial" panose="020B0604020202020204" pitchFamily="34" charset="0"/>
                <a:cs typeface="Arial" panose="020B0604020202020204" pitchFamily="34" charset="0"/>
              </a:rPr>
              <a:t>Introduction NGS</a:t>
            </a:r>
          </a:p>
        </p:txBody>
      </p:sp>
      <p:pic>
        <p:nvPicPr>
          <p:cNvPr id="3" name="Picture 2" descr="A screenshot of a computer&#10;&#10;Description automatically generated with medium confidence">
            <a:extLst>
              <a:ext uri="{FF2B5EF4-FFF2-40B4-BE49-F238E27FC236}">
                <a16:creationId xmlns:a16="http://schemas.microsoft.com/office/drawing/2014/main" id="{B8E8CBC7-4A04-99E7-332E-BFBEEAB0341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288608" y="3063400"/>
            <a:ext cx="10010328" cy="2071103"/>
          </a:xfrm>
          <a:prstGeom prst="rect">
            <a:avLst/>
          </a:prstGeom>
        </p:spPr>
      </p:pic>
    </p:spTree>
    <p:extLst>
      <p:ext uri="{BB962C8B-B14F-4D97-AF65-F5344CB8AC3E}">
        <p14:creationId xmlns:p14="http://schemas.microsoft.com/office/powerpoint/2010/main" val="562316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Library Preparation</a:t>
            </a:r>
          </a:p>
        </p:txBody>
      </p:sp>
      <p:sp>
        <p:nvSpPr>
          <p:cNvPr id="5" name="Rectangle 4">
            <a:extLst>
              <a:ext uri="{FF2B5EF4-FFF2-40B4-BE49-F238E27FC236}">
                <a16:creationId xmlns:a16="http://schemas.microsoft.com/office/drawing/2014/main" id="{898B00C2-C37F-453D-AF61-E2F08CC11428}"/>
              </a:ext>
            </a:extLst>
          </p:cNvPr>
          <p:cNvSpPr/>
          <p:nvPr/>
        </p:nvSpPr>
        <p:spPr>
          <a:xfrm>
            <a:off x="1226181" y="5510823"/>
            <a:ext cx="5598603" cy="317500"/>
          </a:xfrm>
          <a:prstGeom prst="rect">
            <a:avLst/>
          </a:prstGeom>
          <a:solidFill>
            <a:schemeClr val="bg1"/>
          </a:solidFill>
          <a:ln>
            <a:noFill/>
          </a:ln>
          <a:effectLst>
            <a:outerShdw blurRad="40000" dist="23000" dir="5400000" rotWithShape="0">
              <a:schemeClr val="bg1">
                <a:alpha val="35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9B5752B-C9CB-49A6-B11C-8B797D51BEC9}"/>
              </a:ext>
            </a:extLst>
          </p:cNvPr>
          <p:cNvPicPr>
            <a:picLocks noChangeAspect="1"/>
          </p:cNvPicPr>
          <p:nvPr/>
        </p:nvPicPr>
        <p:blipFill>
          <a:blip r:embed="rId2"/>
          <a:srcRect l="9945" r="20277" b="10033"/>
          <a:stretch>
            <a:fillRect/>
          </a:stretch>
        </p:blipFill>
        <p:spPr>
          <a:xfrm>
            <a:off x="6451445" y="2895082"/>
            <a:ext cx="3188111" cy="2701518"/>
          </a:xfrm>
          <a:prstGeom prst="rect">
            <a:avLst/>
          </a:prstGeom>
        </p:spPr>
      </p:pic>
      <p:sp>
        <p:nvSpPr>
          <p:cNvPr id="8" name="TextBox 7">
            <a:extLst>
              <a:ext uri="{FF2B5EF4-FFF2-40B4-BE49-F238E27FC236}">
                <a16:creationId xmlns:a16="http://schemas.microsoft.com/office/drawing/2014/main" id="{62033F1D-FEE9-49E0-A964-11DB97F71E30}"/>
              </a:ext>
            </a:extLst>
          </p:cNvPr>
          <p:cNvSpPr txBox="1"/>
          <p:nvPr/>
        </p:nvSpPr>
        <p:spPr>
          <a:xfrm>
            <a:off x="4073666" y="3355487"/>
            <a:ext cx="440793" cy="268503"/>
          </a:xfrm>
          <a:prstGeom prst="rect">
            <a:avLst/>
          </a:prstGeom>
          <a:noFill/>
        </p:spPr>
        <p:txBody>
          <a:bodyPr wrap="none" rtlCol="0">
            <a:spAutoFit/>
          </a:bodyPr>
          <a:lstStyle/>
          <a:p>
            <a:r>
              <a:rPr lang="en-US" sz="1400" dirty="0"/>
              <a:t>RNA</a:t>
            </a:r>
          </a:p>
        </p:txBody>
      </p:sp>
      <p:sp>
        <p:nvSpPr>
          <p:cNvPr id="9" name="TextBox 8">
            <a:extLst>
              <a:ext uri="{FF2B5EF4-FFF2-40B4-BE49-F238E27FC236}">
                <a16:creationId xmlns:a16="http://schemas.microsoft.com/office/drawing/2014/main" id="{8E148982-CBAC-4A86-B9BC-F362D6776114}"/>
              </a:ext>
            </a:extLst>
          </p:cNvPr>
          <p:cNvSpPr txBox="1"/>
          <p:nvPr/>
        </p:nvSpPr>
        <p:spPr>
          <a:xfrm>
            <a:off x="4073666" y="2018573"/>
            <a:ext cx="664612" cy="268503"/>
          </a:xfrm>
          <a:prstGeom prst="rect">
            <a:avLst/>
          </a:prstGeom>
          <a:noFill/>
        </p:spPr>
        <p:txBody>
          <a:bodyPr wrap="square" rtlCol="0">
            <a:spAutoFit/>
          </a:bodyPr>
          <a:lstStyle/>
          <a:p>
            <a:r>
              <a:rPr lang="en-US" sz="1400" dirty="0"/>
              <a:t>DNA</a:t>
            </a:r>
          </a:p>
        </p:txBody>
      </p:sp>
      <p:sp>
        <p:nvSpPr>
          <p:cNvPr id="10" name="TextBox 9">
            <a:extLst>
              <a:ext uri="{FF2B5EF4-FFF2-40B4-BE49-F238E27FC236}">
                <a16:creationId xmlns:a16="http://schemas.microsoft.com/office/drawing/2014/main" id="{FCD6DF24-C27F-479F-A7F1-F7A650A5FF01}"/>
              </a:ext>
            </a:extLst>
          </p:cNvPr>
          <p:cNvSpPr txBox="1"/>
          <p:nvPr/>
        </p:nvSpPr>
        <p:spPr>
          <a:xfrm>
            <a:off x="1363785" y="4070398"/>
            <a:ext cx="4412386" cy="1345048"/>
          </a:xfrm>
          <a:prstGeom prst="rect">
            <a:avLst/>
          </a:prstGeom>
          <a:noFill/>
        </p:spPr>
        <p:txBody>
          <a:bodyPr wrap="square" rtlCol="0">
            <a:spAutoFit/>
          </a:bodyPr>
          <a:lstStyle/>
          <a:p>
            <a:pPr marL="342900" lvl="1" indent="-342900">
              <a:lnSpc>
                <a:spcPct val="150000"/>
              </a:lnSpc>
              <a:buFont typeface="+mj-lt"/>
              <a:buAutoNum type="arabicParenR"/>
            </a:pPr>
            <a:r>
              <a:rPr lang="en-US" sz="1400" dirty="0">
                <a:latin typeface="Arial" panose="020B0604020202020204" pitchFamily="34" charset="0"/>
                <a:cs typeface="Arial" panose="020B0604020202020204" pitchFamily="34" charset="0"/>
              </a:rPr>
              <a:t>Extract nucleic acids from blood, tissue, saliva, etc.</a:t>
            </a:r>
            <a:endParaRPr lang="en-US" sz="1400" i="1" dirty="0">
              <a:latin typeface="Arial" panose="020B0604020202020204" pitchFamily="34" charset="0"/>
              <a:cs typeface="Arial" panose="020B0604020202020204" pitchFamily="34" charset="0"/>
            </a:endParaRPr>
          </a:p>
          <a:p>
            <a:pPr marL="346075" lvl="1" indent="-346075">
              <a:lnSpc>
                <a:spcPct val="150000"/>
              </a:lnSpc>
              <a:buAutoNum type="arabicParenR" startAt="2"/>
            </a:pPr>
            <a:r>
              <a:rPr lang="en-US" sz="1400" dirty="0">
                <a:latin typeface="Arial" panose="020B0604020202020204" pitchFamily="34" charset="0"/>
                <a:cs typeface="Arial" panose="020B0604020202020204" pitchFamily="34" charset="0"/>
              </a:rPr>
              <a:t>Shear dsDNA into fragments</a:t>
            </a:r>
          </a:p>
          <a:p>
            <a:pPr marL="346075" lvl="1" indent="-346075">
              <a:lnSpc>
                <a:spcPct val="150000"/>
              </a:lnSpc>
              <a:buAutoNum type="arabicParenR" startAt="2"/>
            </a:pPr>
            <a:r>
              <a:rPr lang="en-US" sz="1400" dirty="0">
                <a:latin typeface="Arial" panose="020B0604020202020204" pitchFamily="34" charset="0"/>
                <a:cs typeface="Arial" panose="020B0604020202020204" pitchFamily="34" charset="0"/>
              </a:rPr>
              <a:t>Attach adapters to fragments</a:t>
            </a:r>
          </a:p>
        </p:txBody>
      </p:sp>
      <p:pic>
        <p:nvPicPr>
          <p:cNvPr id="11" name="Picture 10" descr="dna.png">
            <a:extLst>
              <a:ext uri="{FF2B5EF4-FFF2-40B4-BE49-F238E27FC236}">
                <a16:creationId xmlns:a16="http://schemas.microsoft.com/office/drawing/2014/main" id="{34431232-79A8-45F4-B526-C562AA36D8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0154" y="2315539"/>
            <a:ext cx="1836372" cy="266039"/>
          </a:xfrm>
          <a:prstGeom prst="rect">
            <a:avLst/>
          </a:prstGeom>
        </p:spPr>
      </p:pic>
      <p:pic>
        <p:nvPicPr>
          <p:cNvPr id="12" name="Picture 11" descr="RNA.png">
            <a:extLst>
              <a:ext uri="{FF2B5EF4-FFF2-40B4-BE49-F238E27FC236}">
                <a16:creationId xmlns:a16="http://schemas.microsoft.com/office/drawing/2014/main" id="{AA8A82B3-03BB-43E6-A9B5-D6EAFF6C33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7115" y="3014855"/>
            <a:ext cx="1636248" cy="364796"/>
          </a:xfrm>
          <a:prstGeom prst="rect">
            <a:avLst/>
          </a:prstGeom>
        </p:spPr>
      </p:pic>
      <p:pic>
        <p:nvPicPr>
          <p:cNvPr id="13" name="Picture 12" descr="images.png">
            <a:extLst>
              <a:ext uri="{FF2B5EF4-FFF2-40B4-BE49-F238E27FC236}">
                <a16:creationId xmlns:a16="http://schemas.microsoft.com/office/drawing/2014/main" id="{CF568DAD-7BA0-41C4-B313-C38E12F65031}"/>
              </a:ext>
            </a:extLst>
          </p:cNvPr>
          <p:cNvPicPr>
            <a:picLocks noChangeAspect="1"/>
          </p:cNvPicPr>
          <p:nvPr/>
        </p:nvPicPr>
        <p:blipFill rotWithShape="1">
          <a:blip r:embed="rId5">
            <a:extLst>
              <a:ext uri="{28A0092B-C50C-407E-A947-70E740481C1C}">
                <a14:useLocalDpi xmlns:a14="http://schemas.microsoft.com/office/drawing/2010/main" val="0"/>
              </a:ext>
            </a:extLst>
          </a:blip>
          <a:srcRect l="28123"/>
          <a:stretch/>
        </p:blipFill>
        <p:spPr>
          <a:xfrm>
            <a:off x="1363785" y="2409110"/>
            <a:ext cx="770232" cy="715630"/>
          </a:xfrm>
          <a:prstGeom prst="rect">
            <a:avLst/>
          </a:prstGeom>
        </p:spPr>
      </p:pic>
      <p:cxnSp>
        <p:nvCxnSpPr>
          <p:cNvPr id="14" name="Straight Arrow Connector 13">
            <a:extLst>
              <a:ext uri="{FF2B5EF4-FFF2-40B4-BE49-F238E27FC236}">
                <a16:creationId xmlns:a16="http://schemas.microsoft.com/office/drawing/2014/main" id="{D235D071-DE40-49BD-AE7C-9D8D80A1BF1C}"/>
              </a:ext>
            </a:extLst>
          </p:cNvPr>
          <p:cNvCxnSpPr/>
          <p:nvPr/>
        </p:nvCxnSpPr>
        <p:spPr>
          <a:xfrm>
            <a:off x="1835009" y="2770019"/>
            <a:ext cx="299007"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27866D89-E765-4E41-90A8-E700133F6B8F}"/>
              </a:ext>
            </a:extLst>
          </p:cNvPr>
          <p:cNvPicPr>
            <a:picLocks noChangeAspect="1"/>
          </p:cNvPicPr>
          <p:nvPr/>
        </p:nvPicPr>
        <p:blipFill>
          <a:blip r:embed="rId6"/>
          <a:stretch>
            <a:fillRect/>
          </a:stretch>
        </p:blipFill>
        <p:spPr>
          <a:xfrm>
            <a:off x="2256374" y="2536130"/>
            <a:ext cx="435687" cy="570978"/>
          </a:xfrm>
          <a:prstGeom prst="rect">
            <a:avLst/>
          </a:prstGeom>
        </p:spPr>
      </p:pic>
      <p:cxnSp>
        <p:nvCxnSpPr>
          <p:cNvPr id="16" name="Straight Arrow Connector 15">
            <a:extLst>
              <a:ext uri="{FF2B5EF4-FFF2-40B4-BE49-F238E27FC236}">
                <a16:creationId xmlns:a16="http://schemas.microsoft.com/office/drawing/2014/main" id="{E5071E29-72F0-4859-AAB1-B7F1D45E0484}"/>
              </a:ext>
            </a:extLst>
          </p:cNvPr>
          <p:cNvCxnSpPr>
            <a:stCxn id="15" idx="3"/>
          </p:cNvCxnSpPr>
          <p:nvPr/>
        </p:nvCxnSpPr>
        <p:spPr>
          <a:xfrm flipV="1">
            <a:off x="2692061" y="2616013"/>
            <a:ext cx="429732" cy="20560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AA2704B-2E48-4484-A0D5-96D85BEA9584}"/>
              </a:ext>
            </a:extLst>
          </p:cNvPr>
          <p:cNvCxnSpPr>
            <a:stCxn id="15" idx="3"/>
          </p:cNvCxnSpPr>
          <p:nvPr/>
        </p:nvCxnSpPr>
        <p:spPr>
          <a:xfrm>
            <a:off x="2692061" y="2821619"/>
            <a:ext cx="429732" cy="25191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17B71D7-E1D8-412B-855B-11D5E6B3EE8D}"/>
              </a:ext>
            </a:extLst>
          </p:cNvPr>
          <p:cNvCxnSpPr/>
          <p:nvPr/>
        </p:nvCxnSpPr>
        <p:spPr>
          <a:xfrm>
            <a:off x="5465464" y="2457283"/>
            <a:ext cx="882520" cy="1631"/>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344E093-8B5C-4B05-8697-08C240AD6D06}"/>
              </a:ext>
            </a:extLst>
          </p:cNvPr>
          <p:cNvCxnSpPr/>
          <p:nvPr/>
        </p:nvCxnSpPr>
        <p:spPr>
          <a:xfrm flipV="1">
            <a:off x="4318340" y="2631649"/>
            <a:ext cx="0" cy="37993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15F42326-9FAC-4FBF-8F0D-E5A78F23FB27}"/>
              </a:ext>
            </a:extLst>
          </p:cNvPr>
          <p:cNvSpPr txBox="1"/>
          <p:nvPr/>
        </p:nvSpPr>
        <p:spPr>
          <a:xfrm>
            <a:off x="4318340" y="2722337"/>
            <a:ext cx="619893" cy="268503"/>
          </a:xfrm>
          <a:prstGeom prst="rect">
            <a:avLst/>
          </a:prstGeom>
          <a:noFill/>
        </p:spPr>
        <p:txBody>
          <a:bodyPr wrap="none" rtlCol="0">
            <a:spAutoFit/>
          </a:bodyPr>
          <a:lstStyle/>
          <a:p>
            <a:r>
              <a:rPr lang="en-US" sz="1400" dirty="0"/>
              <a:t>RT-PCR</a:t>
            </a:r>
          </a:p>
        </p:txBody>
      </p:sp>
      <p:grpSp>
        <p:nvGrpSpPr>
          <p:cNvPr id="21" name="Group 20">
            <a:extLst>
              <a:ext uri="{FF2B5EF4-FFF2-40B4-BE49-F238E27FC236}">
                <a16:creationId xmlns:a16="http://schemas.microsoft.com/office/drawing/2014/main" id="{9948DAD3-9B9C-4129-A3C3-BCE408546095}"/>
              </a:ext>
            </a:extLst>
          </p:cNvPr>
          <p:cNvGrpSpPr/>
          <p:nvPr/>
        </p:nvGrpSpPr>
        <p:grpSpPr>
          <a:xfrm flipH="1">
            <a:off x="6877768" y="2010168"/>
            <a:ext cx="2342190" cy="605845"/>
            <a:chOff x="5422900" y="1629420"/>
            <a:chExt cx="3036066" cy="762549"/>
          </a:xfrm>
        </p:grpSpPr>
        <p:grpSp>
          <p:nvGrpSpPr>
            <p:cNvPr id="22" name="Group 21">
              <a:extLst>
                <a:ext uri="{FF2B5EF4-FFF2-40B4-BE49-F238E27FC236}">
                  <a16:creationId xmlns:a16="http://schemas.microsoft.com/office/drawing/2014/main" id="{E5C44747-A6AF-435C-B100-27E1329E1590}"/>
                </a:ext>
              </a:extLst>
            </p:cNvPr>
            <p:cNvGrpSpPr/>
            <p:nvPr/>
          </p:nvGrpSpPr>
          <p:grpSpPr>
            <a:xfrm>
              <a:off x="5422900" y="2127470"/>
              <a:ext cx="1305560" cy="127814"/>
              <a:chOff x="6299200" y="1766894"/>
              <a:chExt cx="487680" cy="152400"/>
            </a:xfrm>
          </p:grpSpPr>
          <p:cxnSp>
            <p:nvCxnSpPr>
              <p:cNvPr id="29" name="Straight Connector 28">
                <a:extLst>
                  <a:ext uri="{FF2B5EF4-FFF2-40B4-BE49-F238E27FC236}">
                    <a16:creationId xmlns:a16="http://schemas.microsoft.com/office/drawing/2014/main" id="{FC8DB42B-E370-4CE7-9F7A-D6DF5BF4F43C}"/>
                  </a:ext>
                </a:extLst>
              </p:cNvPr>
              <p:cNvCxnSpPr/>
              <p:nvPr/>
            </p:nvCxnSpPr>
            <p:spPr>
              <a:xfrm>
                <a:off x="6299200" y="1766894"/>
                <a:ext cx="48768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8C7C596-12D8-4A1A-871F-6AC794B7ACB5}"/>
                  </a:ext>
                </a:extLst>
              </p:cNvPr>
              <p:cNvCxnSpPr/>
              <p:nvPr/>
            </p:nvCxnSpPr>
            <p:spPr>
              <a:xfrm>
                <a:off x="6299200" y="1919294"/>
                <a:ext cx="48768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C5B8B1F5-2DF4-4CF9-82D1-36002E4F57DF}"/>
                </a:ext>
              </a:extLst>
            </p:cNvPr>
            <p:cNvGrpSpPr/>
            <p:nvPr/>
          </p:nvGrpSpPr>
          <p:grpSpPr>
            <a:xfrm>
              <a:off x="6728460" y="1629420"/>
              <a:ext cx="1305560" cy="127814"/>
              <a:chOff x="6299200" y="1766894"/>
              <a:chExt cx="487680" cy="152400"/>
            </a:xfrm>
          </p:grpSpPr>
          <p:cxnSp>
            <p:nvCxnSpPr>
              <p:cNvPr id="27" name="Straight Connector 26">
                <a:extLst>
                  <a:ext uri="{FF2B5EF4-FFF2-40B4-BE49-F238E27FC236}">
                    <a16:creationId xmlns:a16="http://schemas.microsoft.com/office/drawing/2014/main" id="{AAD09BA8-3F6E-40B5-B575-0A3D402BB9F6}"/>
                  </a:ext>
                </a:extLst>
              </p:cNvPr>
              <p:cNvCxnSpPr/>
              <p:nvPr/>
            </p:nvCxnSpPr>
            <p:spPr>
              <a:xfrm>
                <a:off x="6299200" y="1766894"/>
                <a:ext cx="48768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F8E96BE-CAA7-4E07-8421-9EE2815D7F46}"/>
                  </a:ext>
                </a:extLst>
              </p:cNvPr>
              <p:cNvCxnSpPr/>
              <p:nvPr/>
            </p:nvCxnSpPr>
            <p:spPr>
              <a:xfrm>
                <a:off x="6299200" y="1919294"/>
                <a:ext cx="48768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21E29C75-17C1-4F53-ACBA-B232EAD9D3C7}"/>
                </a:ext>
              </a:extLst>
            </p:cNvPr>
            <p:cNvGrpSpPr/>
            <p:nvPr/>
          </p:nvGrpSpPr>
          <p:grpSpPr>
            <a:xfrm>
              <a:off x="7153406" y="2264155"/>
              <a:ext cx="1305560" cy="127814"/>
              <a:chOff x="6299200" y="1766894"/>
              <a:chExt cx="487680" cy="152400"/>
            </a:xfrm>
          </p:grpSpPr>
          <p:cxnSp>
            <p:nvCxnSpPr>
              <p:cNvPr id="25" name="Straight Connector 24">
                <a:extLst>
                  <a:ext uri="{FF2B5EF4-FFF2-40B4-BE49-F238E27FC236}">
                    <a16:creationId xmlns:a16="http://schemas.microsoft.com/office/drawing/2014/main" id="{AB268BD5-7554-451B-99B0-7D5AB4C5EA06}"/>
                  </a:ext>
                </a:extLst>
              </p:cNvPr>
              <p:cNvCxnSpPr/>
              <p:nvPr/>
            </p:nvCxnSpPr>
            <p:spPr>
              <a:xfrm>
                <a:off x="6299200" y="1766894"/>
                <a:ext cx="48768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C4CDC4EE-A02B-4A05-91F7-B0A57B0A9E25}"/>
                  </a:ext>
                </a:extLst>
              </p:cNvPr>
              <p:cNvCxnSpPr/>
              <p:nvPr/>
            </p:nvCxnSpPr>
            <p:spPr>
              <a:xfrm>
                <a:off x="6299200" y="1919294"/>
                <a:ext cx="487680" cy="0"/>
              </a:xfrm>
              <a:prstGeom prst="line">
                <a:avLst/>
              </a:prstGeom>
              <a:ln w="635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grpSp>
      </p:grpSp>
      <p:sp>
        <p:nvSpPr>
          <p:cNvPr id="31" name="Rectangle 30">
            <a:extLst>
              <a:ext uri="{FF2B5EF4-FFF2-40B4-BE49-F238E27FC236}">
                <a16:creationId xmlns:a16="http://schemas.microsoft.com/office/drawing/2014/main" id="{3ED8447B-E0FE-4D2A-AACD-57AFC8853D3A}"/>
              </a:ext>
            </a:extLst>
          </p:cNvPr>
          <p:cNvSpPr/>
          <p:nvPr/>
        </p:nvSpPr>
        <p:spPr>
          <a:xfrm>
            <a:off x="8418702" y="1863672"/>
            <a:ext cx="1028164" cy="322204"/>
          </a:xfrm>
          <a:prstGeom prst="rect">
            <a:avLst/>
          </a:prstGeom>
        </p:spPr>
        <p:txBody>
          <a:bodyPr wrap="none">
            <a:spAutoFit/>
          </a:bodyPr>
          <a:lstStyle/>
          <a:p>
            <a:r>
              <a:rPr lang="en-US" dirty="0"/>
              <a:t>Fragments</a:t>
            </a:r>
          </a:p>
        </p:txBody>
      </p:sp>
      <p:sp>
        <p:nvSpPr>
          <p:cNvPr id="32" name="TextBox 31">
            <a:extLst>
              <a:ext uri="{FF2B5EF4-FFF2-40B4-BE49-F238E27FC236}">
                <a16:creationId xmlns:a16="http://schemas.microsoft.com/office/drawing/2014/main" id="{DB8BB22F-E964-4AD4-A072-B8046986906B}"/>
              </a:ext>
            </a:extLst>
          </p:cNvPr>
          <p:cNvSpPr txBox="1"/>
          <p:nvPr/>
        </p:nvSpPr>
        <p:spPr>
          <a:xfrm>
            <a:off x="5438550" y="1898604"/>
            <a:ext cx="936347" cy="523220"/>
          </a:xfrm>
          <a:prstGeom prst="rect">
            <a:avLst/>
          </a:prstGeom>
          <a:noFill/>
        </p:spPr>
        <p:txBody>
          <a:bodyPr wrap="none" rtlCol="0">
            <a:spAutoFit/>
          </a:bodyPr>
          <a:lstStyle/>
          <a:p>
            <a:pPr algn="ctr"/>
            <a:r>
              <a:rPr lang="en-US" sz="1400" i="1" dirty="0"/>
              <a:t>Purify*</a:t>
            </a:r>
          </a:p>
          <a:p>
            <a:pPr algn="ctr"/>
            <a:r>
              <a:rPr lang="en-US" sz="1400" i="1" dirty="0"/>
              <a:t>fragments</a:t>
            </a:r>
          </a:p>
        </p:txBody>
      </p:sp>
      <p:sp>
        <p:nvSpPr>
          <p:cNvPr id="33" name="Rounded Rectangle 31">
            <a:extLst>
              <a:ext uri="{FF2B5EF4-FFF2-40B4-BE49-F238E27FC236}">
                <a16:creationId xmlns:a16="http://schemas.microsoft.com/office/drawing/2014/main" id="{672D843D-FF88-41FF-BC22-2CE48E28CD26}"/>
              </a:ext>
            </a:extLst>
          </p:cNvPr>
          <p:cNvSpPr/>
          <p:nvPr/>
        </p:nvSpPr>
        <p:spPr>
          <a:xfrm>
            <a:off x="4474019" y="4629555"/>
            <a:ext cx="1532908" cy="681167"/>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34" name="Right Arrow 32">
            <a:extLst>
              <a:ext uri="{FF2B5EF4-FFF2-40B4-BE49-F238E27FC236}">
                <a16:creationId xmlns:a16="http://schemas.microsoft.com/office/drawing/2014/main" id="{F0BA168C-B6E6-465B-8683-7F8B6D2CE9E8}"/>
              </a:ext>
            </a:extLst>
          </p:cNvPr>
          <p:cNvSpPr/>
          <p:nvPr/>
        </p:nvSpPr>
        <p:spPr>
          <a:xfrm>
            <a:off x="4597879" y="4881540"/>
            <a:ext cx="338791" cy="235084"/>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5" name="TextBox 55">
            <a:extLst>
              <a:ext uri="{FF2B5EF4-FFF2-40B4-BE49-F238E27FC236}">
                <a16:creationId xmlns:a16="http://schemas.microsoft.com/office/drawing/2014/main" id="{D654F98D-928D-41B9-81E4-3E9054C5D351}"/>
              </a:ext>
            </a:extLst>
          </p:cNvPr>
          <p:cNvSpPr txBox="1">
            <a:spLocks noChangeArrowheads="1"/>
          </p:cNvSpPr>
          <p:nvPr/>
        </p:nvSpPr>
        <p:spPr bwMode="auto">
          <a:xfrm>
            <a:off x="5043679" y="4797668"/>
            <a:ext cx="1361952" cy="369332"/>
          </a:xfrm>
          <a:prstGeom prst="rect">
            <a:avLst/>
          </a:prstGeom>
          <a:noFill/>
          <a:ln w="9525">
            <a:noFill/>
            <a:miter lim="800000"/>
            <a:headEnd/>
            <a:tailEnd/>
          </a:ln>
        </p:spPr>
        <p:txBody>
          <a:bodyPr wrap="square">
            <a:prstTxWarp prst="textNoShape">
              <a:avLst/>
            </a:prstTxWarp>
            <a:spAutoFit/>
          </a:bodyPr>
          <a:lstStyle/>
          <a:p>
            <a:r>
              <a:rPr lang="en-US" b="1" dirty="0">
                <a:latin typeface="Arial" panose="020B0604020202020204" pitchFamily="34" charset="0"/>
                <a:cs typeface="Arial" panose="020B0604020202020204" pitchFamily="34" charset="0"/>
              </a:rPr>
              <a:t>Library</a:t>
            </a:r>
          </a:p>
        </p:txBody>
      </p:sp>
      <p:sp>
        <p:nvSpPr>
          <p:cNvPr id="36" name="Rectangle 35">
            <a:extLst>
              <a:ext uri="{FF2B5EF4-FFF2-40B4-BE49-F238E27FC236}">
                <a16:creationId xmlns:a16="http://schemas.microsoft.com/office/drawing/2014/main" id="{618FF98F-FD14-41FC-A8C3-A4ABCF634D82}"/>
              </a:ext>
            </a:extLst>
          </p:cNvPr>
          <p:cNvSpPr/>
          <p:nvPr/>
        </p:nvSpPr>
        <p:spPr>
          <a:xfrm>
            <a:off x="2765806" y="3154990"/>
            <a:ext cx="851515" cy="430887"/>
          </a:xfrm>
          <a:prstGeom prst="rect">
            <a:avLst/>
          </a:prstGeom>
        </p:spPr>
        <p:txBody>
          <a:bodyPr wrap="none">
            <a:spAutoFit/>
          </a:bodyPr>
          <a:lstStyle/>
          <a:p>
            <a:pPr marL="0" lvl="1"/>
            <a:r>
              <a:rPr lang="en-US" sz="1100" i="1" dirty="0"/>
              <a:t>If RNA: </a:t>
            </a:r>
          </a:p>
          <a:p>
            <a:pPr marL="0" lvl="1"/>
            <a:r>
              <a:rPr lang="en-US" sz="1100" i="1" dirty="0"/>
              <a:t>make cDNA</a:t>
            </a:r>
          </a:p>
        </p:txBody>
      </p:sp>
      <p:sp>
        <p:nvSpPr>
          <p:cNvPr id="37" name="TextBox 36">
            <a:extLst>
              <a:ext uri="{FF2B5EF4-FFF2-40B4-BE49-F238E27FC236}">
                <a16:creationId xmlns:a16="http://schemas.microsoft.com/office/drawing/2014/main" id="{0537FA12-F44B-463B-B92F-8D514C0B789D}"/>
              </a:ext>
            </a:extLst>
          </p:cNvPr>
          <p:cNvSpPr txBox="1"/>
          <p:nvPr/>
        </p:nvSpPr>
        <p:spPr>
          <a:xfrm>
            <a:off x="189140" y="6378736"/>
            <a:ext cx="7769051" cy="338554"/>
          </a:xfrm>
          <a:prstGeom prst="rect">
            <a:avLst/>
          </a:prstGeom>
          <a:noFill/>
        </p:spPr>
        <p:txBody>
          <a:bodyPr wrap="none" rtlCol="0">
            <a:spAutoFit/>
          </a:bodyPr>
          <a:lstStyle/>
          <a:p>
            <a:pPr algn="ctr"/>
            <a:r>
              <a:rPr lang="en-US" sz="1600" i="1" dirty="0"/>
              <a:t>* Protocol varies depending on experimental design (WGS, exome, targeted sequencing </a:t>
            </a:r>
            <a:r>
              <a:rPr lang="en-US" sz="1600" i="1" dirty="0" err="1"/>
              <a:t>etc</a:t>
            </a:r>
            <a:r>
              <a:rPr lang="en-US" sz="1600" i="1" dirty="0"/>
              <a:t>)</a:t>
            </a:r>
          </a:p>
        </p:txBody>
      </p:sp>
    </p:spTree>
    <p:extLst>
      <p:ext uri="{BB962C8B-B14F-4D97-AF65-F5344CB8AC3E}">
        <p14:creationId xmlns:p14="http://schemas.microsoft.com/office/powerpoint/2010/main" val="3567260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Sequencing the library – Part I</a:t>
            </a:r>
          </a:p>
        </p:txBody>
      </p:sp>
      <p:sp>
        <p:nvSpPr>
          <p:cNvPr id="38" name="Rectangle 37">
            <a:extLst>
              <a:ext uri="{FF2B5EF4-FFF2-40B4-BE49-F238E27FC236}">
                <a16:creationId xmlns:a16="http://schemas.microsoft.com/office/drawing/2014/main" id="{280A0438-8CA5-4B2F-8C5A-0B3BE7737021}"/>
              </a:ext>
            </a:extLst>
          </p:cNvPr>
          <p:cNvSpPr/>
          <p:nvPr/>
        </p:nvSpPr>
        <p:spPr>
          <a:xfrm>
            <a:off x="1274136" y="5495192"/>
            <a:ext cx="5589725" cy="317500"/>
          </a:xfrm>
          <a:prstGeom prst="rect">
            <a:avLst/>
          </a:prstGeom>
          <a:solidFill>
            <a:schemeClr val="bg1"/>
          </a:solidFill>
          <a:ln>
            <a:noFill/>
          </a:ln>
          <a:effectLst>
            <a:outerShdw blurRad="40000" dist="23000" dir="5400000" rotWithShape="0">
              <a:schemeClr val="bg1">
                <a:alpha val="35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0545A5FC-C407-47CE-BAB3-3589BA77B4F0}"/>
              </a:ext>
            </a:extLst>
          </p:cNvPr>
          <p:cNvGrpSpPr/>
          <p:nvPr/>
        </p:nvGrpSpPr>
        <p:grpSpPr>
          <a:xfrm>
            <a:off x="1416585" y="2683211"/>
            <a:ext cx="2258181" cy="2186750"/>
            <a:chOff x="5440778" y="1467897"/>
            <a:chExt cx="3246022" cy="3724418"/>
          </a:xfrm>
        </p:grpSpPr>
        <p:pic>
          <p:nvPicPr>
            <p:cNvPr id="40" name="Picture 39">
              <a:extLst>
                <a:ext uri="{FF2B5EF4-FFF2-40B4-BE49-F238E27FC236}">
                  <a16:creationId xmlns:a16="http://schemas.microsoft.com/office/drawing/2014/main" id="{B0E7DB99-8D1A-4477-B000-35627D1AA63A}"/>
                </a:ext>
              </a:extLst>
            </p:cNvPr>
            <p:cNvPicPr>
              <a:picLocks noChangeAspect="1"/>
            </p:cNvPicPr>
            <p:nvPr/>
          </p:nvPicPr>
          <p:blipFill>
            <a:blip r:embed="rId2"/>
            <a:stretch>
              <a:fillRect/>
            </a:stretch>
          </p:blipFill>
          <p:spPr>
            <a:xfrm>
              <a:off x="5440778" y="1523429"/>
              <a:ext cx="3246022" cy="3605156"/>
            </a:xfrm>
            <a:prstGeom prst="rect">
              <a:avLst/>
            </a:prstGeom>
          </p:spPr>
        </p:pic>
        <p:sp>
          <p:nvSpPr>
            <p:cNvPr id="41" name="TextBox 40">
              <a:extLst>
                <a:ext uri="{FF2B5EF4-FFF2-40B4-BE49-F238E27FC236}">
                  <a16:creationId xmlns:a16="http://schemas.microsoft.com/office/drawing/2014/main" id="{29160AD8-892F-4234-B4F9-A8B18F05E1BE}"/>
                </a:ext>
              </a:extLst>
            </p:cNvPr>
            <p:cNvSpPr txBox="1"/>
            <p:nvPr/>
          </p:nvSpPr>
          <p:spPr>
            <a:xfrm>
              <a:off x="6290859" y="3766666"/>
              <a:ext cx="691912" cy="419357"/>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1000" dirty="0"/>
                <a:t>Lanes</a:t>
              </a:r>
              <a:endParaRPr lang="en-US" sz="1050" dirty="0"/>
            </a:p>
          </p:txBody>
        </p:sp>
        <p:cxnSp>
          <p:nvCxnSpPr>
            <p:cNvPr id="42" name="Straight Connector 41">
              <a:extLst>
                <a:ext uri="{FF2B5EF4-FFF2-40B4-BE49-F238E27FC236}">
                  <a16:creationId xmlns:a16="http://schemas.microsoft.com/office/drawing/2014/main" id="{BEAC69F0-785E-4C48-8813-6D9867782D13}"/>
                </a:ext>
              </a:extLst>
            </p:cNvPr>
            <p:cNvCxnSpPr/>
            <p:nvPr/>
          </p:nvCxnSpPr>
          <p:spPr>
            <a:xfrm flipV="1">
              <a:off x="6324602" y="4196364"/>
              <a:ext cx="330599" cy="153908"/>
            </a:xfrm>
            <a:prstGeom prst="line">
              <a:avLst/>
            </a:prstGeom>
          </p:spPr>
          <p:style>
            <a:lnRef idx="2">
              <a:schemeClr val="accent2"/>
            </a:lnRef>
            <a:fillRef idx="0">
              <a:schemeClr val="accent2"/>
            </a:fillRef>
            <a:effectRef idx="1">
              <a:schemeClr val="accent2"/>
            </a:effectRef>
            <a:fontRef idx="minor">
              <a:schemeClr val="tx1"/>
            </a:fontRef>
          </p:style>
        </p:cxnSp>
        <p:cxnSp>
          <p:nvCxnSpPr>
            <p:cNvPr id="43" name="Straight Connector 42">
              <a:extLst>
                <a:ext uri="{FF2B5EF4-FFF2-40B4-BE49-F238E27FC236}">
                  <a16:creationId xmlns:a16="http://schemas.microsoft.com/office/drawing/2014/main" id="{653BC8CB-2AA0-4ED4-81FB-BA480907F426}"/>
                </a:ext>
              </a:extLst>
            </p:cNvPr>
            <p:cNvCxnSpPr/>
            <p:nvPr/>
          </p:nvCxnSpPr>
          <p:spPr>
            <a:xfrm rot="16200000" flipH="1">
              <a:off x="6584378" y="4267186"/>
              <a:ext cx="161572" cy="19920"/>
            </a:xfrm>
            <a:prstGeom prst="line">
              <a:avLst/>
            </a:prstGeom>
          </p:spPr>
          <p:style>
            <a:lnRef idx="2">
              <a:schemeClr val="accent2"/>
            </a:lnRef>
            <a:fillRef idx="0">
              <a:schemeClr val="accent2"/>
            </a:fillRef>
            <a:effectRef idx="1">
              <a:schemeClr val="accent2"/>
            </a:effectRef>
            <a:fontRef idx="minor">
              <a:schemeClr val="tx1"/>
            </a:fontRef>
          </p:style>
        </p:cxnSp>
        <p:cxnSp>
          <p:nvCxnSpPr>
            <p:cNvPr id="44" name="Straight Connector 43">
              <a:extLst>
                <a:ext uri="{FF2B5EF4-FFF2-40B4-BE49-F238E27FC236}">
                  <a16:creationId xmlns:a16="http://schemas.microsoft.com/office/drawing/2014/main" id="{BCF0D1A6-5F48-434A-B1E3-0505890BEB6B}"/>
                </a:ext>
              </a:extLst>
            </p:cNvPr>
            <p:cNvCxnSpPr/>
            <p:nvPr/>
          </p:nvCxnSpPr>
          <p:spPr>
            <a:xfrm rot="5400000">
              <a:off x="6503098" y="4205829"/>
              <a:ext cx="161568" cy="142637"/>
            </a:xfrm>
            <a:prstGeom prst="line">
              <a:avLst/>
            </a:prstGeom>
          </p:spPr>
          <p:style>
            <a:lnRef idx="2">
              <a:schemeClr val="accent2"/>
            </a:lnRef>
            <a:fillRef idx="0">
              <a:schemeClr val="accent2"/>
            </a:fillRef>
            <a:effectRef idx="1">
              <a:schemeClr val="accent2"/>
            </a:effectRef>
            <a:fontRef idx="minor">
              <a:schemeClr val="tx1"/>
            </a:fontRef>
          </p:style>
        </p:cxnSp>
        <p:cxnSp>
          <p:nvCxnSpPr>
            <p:cNvPr id="45" name="Straight Connector 44">
              <a:extLst>
                <a:ext uri="{FF2B5EF4-FFF2-40B4-BE49-F238E27FC236}">
                  <a16:creationId xmlns:a16="http://schemas.microsoft.com/office/drawing/2014/main" id="{F99D885A-7772-460E-87AF-974F79A5E0F5}"/>
                </a:ext>
              </a:extLst>
            </p:cNvPr>
            <p:cNvCxnSpPr>
              <a:stCxn id="41" idx="2"/>
            </p:cNvCxnSpPr>
            <p:nvPr/>
          </p:nvCxnSpPr>
          <p:spPr>
            <a:xfrm flipH="1">
              <a:off x="6138463" y="4186023"/>
              <a:ext cx="498352" cy="103883"/>
            </a:xfrm>
            <a:prstGeom prst="line">
              <a:avLst/>
            </a:prstGeom>
          </p:spPr>
          <p:style>
            <a:lnRef idx="2">
              <a:schemeClr val="accent2"/>
            </a:lnRef>
            <a:fillRef idx="0">
              <a:schemeClr val="accent2"/>
            </a:fillRef>
            <a:effectRef idx="1">
              <a:schemeClr val="accent2"/>
            </a:effectRef>
            <a:fontRef idx="minor">
              <a:schemeClr val="tx1"/>
            </a:fontRef>
          </p:style>
        </p:cxnSp>
        <p:sp>
          <p:nvSpPr>
            <p:cNvPr id="46" name="TextBox 45">
              <a:extLst>
                <a:ext uri="{FF2B5EF4-FFF2-40B4-BE49-F238E27FC236}">
                  <a16:creationId xmlns:a16="http://schemas.microsoft.com/office/drawing/2014/main" id="{4F4E0EB9-6802-4C08-A973-6C22DB3293A9}"/>
                </a:ext>
              </a:extLst>
            </p:cNvPr>
            <p:cNvSpPr txBox="1"/>
            <p:nvPr/>
          </p:nvSpPr>
          <p:spPr>
            <a:xfrm>
              <a:off x="7002562" y="1467897"/>
              <a:ext cx="875710" cy="419357"/>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1000" dirty="0" err="1"/>
                <a:t>Flowcell</a:t>
              </a:r>
              <a:endParaRPr lang="en-US" sz="1050" dirty="0"/>
            </a:p>
          </p:txBody>
        </p:sp>
        <p:sp>
          <p:nvSpPr>
            <p:cNvPr id="47" name="Left Brace 46">
              <a:extLst>
                <a:ext uri="{FF2B5EF4-FFF2-40B4-BE49-F238E27FC236}">
                  <a16:creationId xmlns:a16="http://schemas.microsoft.com/office/drawing/2014/main" id="{19997E09-F858-4D5E-BCA2-4BD83C7C8DFD}"/>
                </a:ext>
              </a:extLst>
            </p:cNvPr>
            <p:cNvSpPr/>
            <p:nvPr/>
          </p:nvSpPr>
          <p:spPr>
            <a:xfrm rot="5400000">
              <a:off x="7300854" y="1099967"/>
              <a:ext cx="282696" cy="1859277"/>
            </a:xfrm>
            <a:prstGeom prst="leftBrac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F29119E5-50E7-4AFA-9151-38A6DF4393EE}"/>
                </a:ext>
              </a:extLst>
            </p:cNvPr>
            <p:cNvCxnSpPr>
              <a:stCxn id="41" idx="2"/>
            </p:cNvCxnSpPr>
            <p:nvPr/>
          </p:nvCxnSpPr>
          <p:spPr>
            <a:xfrm>
              <a:off x="6636815" y="4186023"/>
              <a:ext cx="263638" cy="103882"/>
            </a:xfrm>
            <a:prstGeom prst="line">
              <a:avLst/>
            </a:prstGeom>
          </p:spPr>
          <p:style>
            <a:lnRef idx="2">
              <a:schemeClr val="accent2"/>
            </a:lnRef>
            <a:fillRef idx="0">
              <a:schemeClr val="accent2"/>
            </a:fillRef>
            <a:effectRef idx="1">
              <a:schemeClr val="accent2"/>
            </a:effectRef>
            <a:fontRef idx="minor">
              <a:schemeClr val="tx1"/>
            </a:fontRef>
          </p:style>
        </p:cxnSp>
        <p:cxnSp>
          <p:nvCxnSpPr>
            <p:cNvPr id="49" name="Straight Connector 48">
              <a:extLst>
                <a:ext uri="{FF2B5EF4-FFF2-40B4-BE49-F238E27FC236}">
                  <a16:creationId xmlns:a16="http://schemas.microsoft.com/office/drawing/2014/main" id="{0EDBA379-9706-4B90-A9B8-7B7DCF403231}"/>
                </a:ext>
              </a:extLst>
            </p:cNvPr>
            <p:cNvCxnSpPr>
              <a:stCxn id="41" idx="2"/>
            </p:cNvCxnSpPr>
            <p:nvPr/>
          </p:nvCxnSpPr>
          <p:spPr>
            <a:xfrm>
              <a:off x="6636815" y="4186023"/>
              <a:ext cx="492242" cy="180083"/>
            </a:xfrm>
            <a:prstGeom prst="line">
              <a:avLst/>
            </a:prstGeom>
          </p:spPr>
          <p:style>
            <a:lnRef idx="2">
              <a:schemeClr val="accent2"/>
            </a:lnRef>
            <a:fillRef idx="0">
              <a:schemeClr val="accent2"/>
            </a:fillRef>
            <a:effectRef idx="1">
              <a:schemeClr val="accent2"/>
            </a:effectRef>
            <a:fontRef idx="minor">
              <a:schemeClr val="tx1"/>
            </a:fontRef>
          </p:style>
        </p:cxnSp>
        <p:cxnSp>
          <p:nvCxnSpPr>
            <p:cNvPr id="50" name="Straight Connector 49">
              <a:extLst>
                <a:ext uri="{FF2B5EF4-FFF2-40B4-BE49-F238E27FC236}">
                  <a16:creationId xmlns:a16="http://schemas.microsoft.com/office/drawing/2014/main" id="{FA9F4A5D-A0EE-47ED-86B0-AF43AEA08DA7}"/>
                </a:ext>
              </a:extLst>
            </p:cNvPr>
            <p:cNvCxnSpPr>
              <a:stCxn id="41" idx="2"/>
            </p:cNvCxnSpPr>
            <p:nvPr/>
          </p:nvCxnSpPr>
          <p:spPr>
            <a:xfrm>
              <a:off x="6636815" y="4186023"/>
              <a:ext cx="644639" cy="103885"/>
            </a:xfrm>
            <a:prstGeom prst="line">
              <a:avLst/>
            </a:prstGeom>
          </p:spPr>
          <p:style>
            <a:lnRef idx="2">
              <a:schemeClr val="accent2"/>
            </a:lnRef>
            <a:fillRef idx="0">
              <a:schemeClr val="accent2"/>
            </a:fillRef>
            <a:effectRef idx="1">
              <a:schemeClr val="accent2"/>
            </a:effectRef>
            <a:fontRef idx="minor">
              <a:schemeClr val="tx1"/>
            </a:fontRef>
          </p:style>
        </p:cxnSp>
        <p:cxnSp>
          <p:nvCxnSpPr>
            <p:cNvPr id="51" name="Straight Connector 50">
              <a:extLst>
                <a:ext uri="{FF2B5EF4-FFF2-40B4-BE49-F238E27FC236}">
                  <a16:creationId xmlns:a16="http://schemas.microsoft.com/office/drawing/2014/main" id="{A2AB4734-8609-447F-9C69-1DDFDC2FF2A1}"/>
                </a:ext>
              </a:extLst>
            </p:cNvPr>
            <p:cNvCxnSpPr>
              <a:stCxn id="41" idx="2"/>
            </p:cNvCxnSpPr>
            <p:nvPr/>
          </p:nvCxnSpPr>
          <p:spPr>
            <a:xfrm>
              <a:off x="6636815" y="4186023"/>
              <a:ext cx="873239" cy="103885"/>
            </a:xfrm>
            <a:prstGeom prst="line">
              <a:avLst/>
            </a:prstGeom>
          </p:spPr>
          <p:style>
            <a:lnRef idx="2">
              <a:schemeClr val="accent2"/>
            </a:lnRef>
            <a:fillRef idx="0">
              <a:schemeClr val="accent2"/>
            </a:fillRef>
            <a:effectRef idx="1">
              <a:schemeClr val="accent2"/>
            </a:effectRef>
            <a:fontRef idx="minor">
              <a:schemeClr val="tx1"/>
            </a:fontRef>
          </p:style>
        </p:cxnSp>
        <p:sp>
          <p:nvSpPr>
            <p:cNvPr id="52" name="TextBox 51">
              <a:extLst>
                <a:ext uri="{FF2B5EF4-FFF2-40B4-BE49-F238E27FC236}">
                  <a16:creationId xmlns:a16="http://schemas.microsoft.com/office/drawing/2014/main" id="{691C0EA5-938F-4187-AB73-4C2A5DE0506D}"/>
                </a:ext>
              </a:extLst>
            </p:cNvPr>
            <p:cNvSpPr txBox="1"/>
            <p:nvPr/>
          </p:nvSpPr>
          <p:spPr>
            <a:xfrm>
              <a:off x="7933782" y="4851586"/>
              <a:ext cx="719441" cy="340729"/>
            </a:xfrm>
            <a:prstGeom prst="rect">
              <a:avLst/>
            </a:prstGeom>
            <a:noFill/>
          </p:spPr>
          <p:txBody>
            <a:bodyPr wrap="none" rtlCol="0">
              <a:spAutoFit/>
            </a:bodyPr>
            <a:lstStyle/>
            <a:p>
              <a:r>
                <a:rPr lang="en-US" sz="700" i="1" dirty="0" err="1"/>
                <a:t>Illumina</a:t>
              </a:r>
              <a:endParaRPr lang="en-US" sz="700" i="1" dirty="0"/>
            </a:p>
          </p:txBody>
        </p:sp>
      </p:grpSp>
      <p:pic>
        <p:nvPicPr>
          <p:cNvPr id="53" name="Picture 52" descr="cartoon-magic-workflow.png">
            <a:extLst>
              <a:ext uri="{FF2B5EF4-FFF2-40B4-BE49-F238E27FC236}">
                <a16:creationId xmlns:a16="http://schemas.microsoft.com/office/drawing/2014/main" id="{5F6A78AF-3400-46C9-BD5F-16C036B98343}"/>
              </a:ext>
            </a:extLst>
          </p:cNvPr>
          <p:cNvPicPr>
            <a:picLocks noChangeAspect="1"/>
          </p:cNvPicPr>
          <p:nvPr/>
        </p:nvPicPr>
        <p:blipFill rotWithShape="1">
          <a:blip r:embed="rId3">
            <a:extLst>
              <a:ext uri="{28A0092B-C50C-407E-A947-70E740481C1C}">
                <a14:useLocalDpi xmlns:a14="http://schemas.microsoft.com/office/drawing/2010/main" val="0"/>
              </a:ext>
            </a:extLst>
          </a:blip>
          <a:srcRect l="4561" t="21323" r="81156" b="14225"/>
          <a:stretch/>
        </p:blipFill>
        <p:spPr>
          <a:xfrm>
            <a:off x="2497483" y="1869575"/>
            <a:ext cx="558352" cy="444220"/>
          </a:xfrm>
          <a:prstGeom prst="rect">
            <a:avLst/>
          </a:prstGeom>
        </p:spPr>
      </p:pic>
      <p:cxnSp>
        <p:nvCxnSpPr>
          <p:cNvPr id="54" name="Straight Arrow Connector 53">
            <a:extLst>
              <a:ext uri="{FF2B5EF4-FFF2-40B4-BE49-F238E27FC236}">
                <a16:creationId xmlns:a16="http://schemas.microsoft.com/office/drawing/2014/main" id="{3064CACE-67E1-44EB-9270-70FBFE62AC5F}"/>
              </a:ext>
            </a:extLst>
          </p:cNvPr>
          <p:cNvCxnSpPr/>
          <p:nvPr/>
        </p:nvCxnSpPr>
        <p:spPr>
          <a:xfrm>
            <a:off x="2804349" y="2321117"/>
            <a:ext cx="0" cy="298951"/>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55" name="Picture 54" descr="sequencing_by_synthesis.png">
            <a:extLst>
              <a:ext uri="{FF2B5EF4-FFF2-40B4-BE49-F238E27FC236}">
                <a16:creationId xmlns:a16="http://schemas.microsoft.com/office/drawing/2014/main" id="{A657BEA8-1DDC-46EF-9764-C7EC097FFC85}"/>
              </a:ext>
            </a:extLst>
          </p:cNvPr>
          <p:cNvPicPr>
            <a:picLocks noChangeAspect="1"/>
          </p:cNvPicPr>
          <p:nvPr/>
        </p:nvPicPr>
        <p:blipFill rotWithShape="1">
          <a:blip r:embed="rId4">
            <a:extLst>
              <a:ext uri="{28A0092B-C50C-407E-A947-70E740481C1C}">
                <a14:useLocalDpi xmlns:a14="http://schemas.microsoft.com/office/drawing/2010/main" val="0"/>
              </a:ext>
            </a:extLst>
          </a:blip>
          <a:srcRect l="51592" t="60906" b="811"/>
          <a:stretch/>
        </p:blipFill>
        <p:spPr>
          <a:xfrm>
            <a:off x="7277153" y="3096003"/>
            <a:ext cx="2523068" cy="1638300"/>
          </a:xfrm>
          <a:prstGeom prst="rect">
            <a:avLst/>
          </a:prstGeom>
        </p:spPr>
      </p:pic>
      <p:sp>
        <p:nvSpPr>
          <p:cNvPr id="56" name="TextBox 55">
            <a:extLst>
              <a:ext uri="{FF2B5EF4-FFF2-40B4-BE49-F238E27FC236}">
                <a16:creationId xmlns:a16="http://schemas.microsoft.com/office/drawing/2014/main" id="{39956523-E73C-4F9C-B695-99044C9FF26E}"/>
              </a:ext>
            </a:extLst>
          </p:cNvPr>
          <p:cNvSpPr txBox="1"/>
          <p:nvPr/>
        </p:nvSpPr>
        <p:spPr>
          <a:xfrm rot="16200000">
            <a:off x="9181369" y="2416286"/>
            <a:ext cx="874239" cy="225036"/>
          </a:xfrm>
          <a:prstGeom prst="rect">
            <a:avLst/>
          </a:prstGeom>
          <a:noFill/>
        </p:spPr>
        <p:txBody>
          <a:bodyPr wrap="none" rtlCol="0">
            <a:spAutoFit/>
          </a:bodyPr>
          <a:lstStyle/>
          <a:p>
            <a:r>
              <a:rPr lang="en-US" sz="1000" i="1" dirty="0" err="1"/>
              <a:t>Bitesizebio.com</a:t>
            </a:r>
            <a:endParaRPr lang="en-US" sz="1000" i="1" dirty="0"/>
          </a:p>
        </p:txBody>
      </p:sp>
      <p:sp>
        <p:nvSpPr>
          <p:cNvPr id="57" name="Rectangle 56">
            <a:extLst>
              <a:ext uri="{FF2B5EF4-FFF2-40B4-BE49-F238E27FC236}">
                <a16:creationId xmlns:a16="http://schemas.microsoft.com/office/drawing/2014/main" id="{24410269-DE39-42B9-B9B3-2CE50F1B3DEC}"/>
              </a:ext>
            </a:extLst>
          </p:cNvPr>
          <p:cNvSpPr/>
          <p:nvPr/>
        </p:nvSpPr>
        <p:spPr>
          <a:xfrm>
            <a:off x="1402862" y="1895810"/>
            <a:ext cx="1142813" cy="307777"/>
          </a:xfrm>
          <a:prstGeom prst="rect">
            <a:avLst/>
          </a:prstGeom>
        </p:spPr>
        <p:txBody>
          <a:bodyPr wrap="none">
            <a:spAutoFit/>
          </a:bodyPr>
          <a:lstStyle/>
          <a:p>
            <a:r>
              <a:rPr lang="en-US" sz="1400" dirty="0"/>
              <a:t>DNA libraries</a:t>
            </a:r>
          </a:p>
        </p:txBody>
      </p:sp>
      <p:sp>
        <p:nvSpPr>
          <p:cNvPr id="58" name="TextBox 57">
            <a:extLst>
              <a:ext uri="{FF2B5EF4-FFF2-40B4-BE49-F238E27FC236}">
                <a16:creationId xmlns:a16="http://schemas.microsoft.com/office/drawing/2014/main" id="{51B402FC-6059-443C-8D08-BE59338E7611}"/>
              </a:ext>
            </a:extLst>
          </p:cNvPr>
          <p:cNvSpPr txBox="1"/>
          <p:nvPr/>
        </p:nvSpPr>
        <p:spPr>
          <a:xfrm>
            <a:off x="1402862" y="5070258"/>
            <a:ext cx="5355569" cy="646331"/>
          </a:xfrm>
          <a:prstGeom prst="rect">
            <a:avLst/>
          </a:prstGeom>
          <a:noFill/>
        </p:spPr>
        <p:txBody>
          <a:bodyPr wrap="square" rtlCol="0">
            <a:spAutoFit/>
          </a:bodyPr>
          <a:lstStyle/>
          <a:p>
            <a:pPr marL="171450" indent="-171450">
              <a:buFont typeface="Arial"/>
              <a:buChar char="•"/>
            </a:pPr>
            <a:r>
              <a:rPr lang="en-US" sz="1200" dirty="0"/>
              <a:t>HTS machine processes a </a:t>
            </a:r>
            <a:r>
              <a:rPr lang="en-US" sz="1200" b="1" dirty="0" err="1"/>
              <a:t>flowcell</a:t>
            </a:r>
            <a:r>
              <a:rPr lang="en-US" sz="1200" dirty="0"/>
              <a:t> containing </a:t>
            </a:r>
            <a:r>
              <a:rPr lang="en-US" sz="1200" b="1" dirty="0"/>
              <a:t>lanes</a:t>
            </a:r>
            <a:endParaRPr lang="en-US" sz="1200" dirty="0"/>
          </a:p>
          <a:p>
            <a:pPr marL="171450" indent="-171450">
              <a:buFont typeface="Arial"/>
              <a:buChar char="•"/>
            </a:pPr>
            <a:r>
              <a:rPr lang="en-US" sz="1200" dirty="0"/>
              <a:t>Each lane may contain multiple samples (indexed with a DNA barcode)</a:t>
            </a:r>
          </a:p>
          <a:p>
            <a:pPr marL="171450" indent="-171450">
              <a:buFont typeface="Arial"/>
              <a:buChar char="•"/>
            </a:pPr>
            <a:r>
              <a:rPr lang="en-US" sz="1200" b="1" dirty="0"/>
              <a:t>Read group (RG)</a:t>
            </a:r>
            <a:r>
              <a:rPr lang="en-US" sz="1200" dirty="0"/>
              <a:t> specifies a combination of sample and </a:t>
            </a:r>
            <a:r>
              <a:rPr lang="en-US" sz="1200" dirty="0" err="1"/>
              <a:t>flowcell</a:t>
            </a:r>
            <a:endParaRPr lang="en-US" sz="1200" dirty="0"/>
          </a:p>
        </p:txBody>
      </p:sp>
      <p:sp>
        <p:nvSpPr>
          <p:cNvPr id="59" name="Rounded Rectangle 24">
            <a:extLst>
              <a:ext uri="{FF2B5EF4-FFF2-40B4-BE49-F238E27FC236}">
                <a16:creationId xmlns:a16="http://schemas.microsoft.com/office/drawing/2014/main" id="{976C7DD7-10AE-4DDA-BC62-07455F20444D}"/>
              </a:ext>
            </a:extLst>
          </p:cNvPr>
          <p:cNvSpPr/>
          <p:nvPr/>
        </p:nvSpPr>
        <p:spPr>
          <a:xfrm>
            <a:off x="6608703" y="5211529"/>
            <a:ext cx="2489687" cy="50506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60" name="Right Arrow 25">
            <a:extLst>
              <a:ext uri="{FF2B5EF4-FFF2-40B4-BE49-F238E27FC236}">
                <a16:creationId xmlns:a16="http://schemas.microsoft.com/office/drawing/2014/main" id="{54894ADA-6F1D-4EE9-9AAC-77CB4AE6F089}"/>
              </a:ext>
            </a:extLst>
          </p:cNvPr>
          <p:cNvSpPr/>
          <p:nvPr/>
        </p:nvSpPr>
        <p:spPr>
          <a:xfrm rot="5400000">
            <a:off x="9334314" y="4835543"/>
            <a:ext cx="275469" cy="269469"/>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61" name="TextBox 55">
            <a:extLst>
              <a:ext uri="{FF2B5EF4-FFF2-40B4-BE49-F238E27FC236}">
                <a16:creationId xmlns:a16="http://schemas.microsoft.com/office/drawing/2014/main" id="{97A4B816-4046-461F-B716-2C2883BA5022}"/>
              </a:ext>
            </a:extLst>
          </p:cNvPr>
          <p:cNvSpPr txBox="1">
            <a:spLocks noChangeArrowheads="1"/>
          </p:cNvSpPr>
          <p:nvPr/>
        </p:nvSpPr>
        <p:spPr bwMode="auto">
          <a:xfrm>
            <a:off x="6723654" y="5329423"/>
            <a:ext cx="2434006" cy="307777"/>
          </a:xfrm>
          <a:prstGeom prst="rect">
            <a:avLst/>
          </a:prstGeom>
          <a:noFill/>
          <a:ln w="9525">
            <a:noFill/>
            <a:miter lim="800000"/>
            <a:headEnd/>
            <a:tailEnd/>
          </a:ln>
        </p:spPr>
        <p:txBody>
          <a:bodyPr wrap="square">
            <a:prstTxWarp prst="textNoShape">
              <a:avLst/>
            </a:prstTxWarp>
            <a:spAutoFit/>
          </a:bodyPr>
          <a:lstStyle/>
          <a:p>
            <a:r>
              <a:rPr lang="en-US" sz="1400" b="1" dirty="0"/>
              <a:t>Enormous pile of short reads</a:t>
            </a:r>
          </a:p>
        </p:txBody>
      </p:sp>
      <p:pic>
        <p:nvPicPr>
          <p:cNvPr id="62" name="Picture 61" descr="sequencing_by_synthesis.png">
            <a:extLst>
              <a:ext uri="{FF2B5EF4-FFF2-40B4-BE49-F238E27FC236}">
                <a16:creationId xmlns:a16="http://schemas.microsoft.com/office/drawing/2014/main" id="{B992759A-6B65-4C77-AE19-0AD7B1EFC6B8}"/>
              </a:ext>
            </a:extLst>
          </p:cNvPr>
          <p:cNvPicPr>
            <a:picLocks noChangeAspect="1"/>
          </p:cNvPicPr>
          <p:nvPr/>
        </p:nvPicPr>
        <p:blipFill rotWithShape="1">
          <a:blip r:embed="rId4">
            <a:extLst>
              <a:ext uri="{28A0092B-C50C-407E-A947-70E740481C1C}">
                <a14:useLocalDpi xmlns:a14="http://schemas.microsoft.com/office/drawing/2010/main" val="0"/>
              </a:ext>
            </a:extLst>
          </a:blip>
          <a:srcRect l="49594" t="25533" r="1" b="41146"/>
          <a:stretch/>
        </p:blipFill>
        <p:spPr>
          <a:xfrm>
            <a:off x="3902538" y="3444025"/>
            <a:ext cx="2627183" cy="1425936"/>
          </a:xfrm>
          <a:prstGeom prst="rect">
            <a:avLst/>
          </a:prstGeom>
        </p:spPr>
      </p:pic>
      <p:pic>
        <p:nvPicPr>
          <p:cNvPr id="63" name="Picture 62" descr="sequencing_by_synthesis.png">
            <a:extLst>
              <a:ext uri="{FF2B5EF4-FFF2-40B4-BE49-F238E27FC236}">
                <a16:creationId xmlns:a16="http://schemas.microsoft.com/office/drawing/2014/main" id="{DD966D4A-B187-4312-B5DF-B91BB4A2D9E5}"/>
              </a:ext>
            </a:extLst>
          </p:cNvPr>
          <p:cNvPicPr>
            <a:picLocks noChangeAspect="1"/>
          </p:cNvPicPr>
          <p:nvPr/>
        </p:nvPicPr>
        <p:blipFill rotWithShape="1">
          <a:blip r:embed="rId4">
            <a:extLst>
              <a:ext uri="{28A0092B-C50C-407E-A947-70E740481C1C}">
                <a14:useLocalDpi xmlns:a14="http://schemas.microsoft.com/office/drawing/2010/main" val="0"/>
              </a:ext>
            </a:extLst>
          </a:blip>
          <a:srcRect l="3996" t="61444" r="57343" b="9417"/>
          <a:stretch/>
        </p:blipFill>
        <p:spPr>
          <a:xfrm>
            <a:off x="7431580" y="1777372"/>
            <a:ext cx="2015068" cy="1246984"/>
          </a:xfrm>
          <a:prstGeom prst="rect">
            <a:avLst/>
          </a:prstGeom>
        </p:spPr>
      </p:pic>
      <p:sp>
        <p:nvSpPr>
          <p:cNvPr id="64" name="TextBox 63">
            <a:extLst>
              <a:ext uri="{FF2B5EF4-FFF2-40B4-BE49-F238E27FC236}">
                <a16:creationId xmlns:a16="http://schemas.microsoft.com/office/drawing/2014/main" id="{FE00B7EA-1B80-41C4-90D1-692A3B0B224D}"/>
              </a:ext>
            </a:extLst>
          </p:cNvPr>
          <p:cNvSpPr txBox="1"/>
          <p:nvPr/>
        </p:nvSpPr>
        <p:spPr>
          <a:xfrm>
            <a:off x="3862438" y="2675265"/>
            <a:ext cx="2746265" cy="738664"/>
          </a:xfrm>
          <a:prstGeom prst="rect">
            <a:avLst/>
          </a:prstGeom>
          <a:noFill/>
        </p:spPr>
        <p:txBody>
          <a:bodyPr wrap="none" rtlCol="0">
            <a:spAutoFit/>
          </a:bodyPr>
          <a:lstStyle/>
          <a:p>
            <a:r>
              <a:rPr lang="en-US" sz="1400" dirty="0"/>
              <a:t>DNA libraries deposited on </a:t>
            </a:r>
            <a:r>
              <a:rPr lang="en-US" sz="1400" dirty="0" err="1"/>
              <a:t>flowcell</a:t>
            </a:r>
            <a:endParaRPr lang="en-US" sz="1400" dirty="0"/>
          </a:p>
          <a:p>
            <a:r>
              <a:rPr lang="en-US" sz="1400" dirty="0"/>
              <a:t>-&gt; amplified to form clusters</a:t>
            </a:r>
          </a:p>
          <a:p>
            <a:endParaRPr lang="en-US" sz="1400" dirty="0"/>
          </a:p>
        </p:txBody>
      </p:sp>
      <p:sp>
        <p:nvSpPr>
          <p:cNvPr id="65" name="Right Arrow 22">
            <a:extLst>
              <a:ext uri="{FF2B5EF4-FFF2-40B4-BE49-F238E27FC236}">
                <a16:creationId xmlns:a16="http://schemas.microsoft.com/office/drawing/2014/main" id="{17E11C81-E1EF-412A-9BF4-C4D32C886103}"/>
              </a:ext>
            </a:extLst>
          </p:cNvPr>
          <p:cNvSpPr/>
          <p:nvPr/>
        </p:nvSpPr>
        <p:spPr>
          <a:xfrm>
            <a:off x="6529721" y="3594425"/>
            <a:ext cx="469608" cy="372534"/>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66" name="Picture 65" descr="Screen Shot 2015-10-14 at 9.20.05 PM.png">
            <a:extLst>
              <a:ext uri="{FF2B5EF4-FFF2-40B4-BE49-F238E27FC236}">
                <a16:creationId xmlns:a16="http://schemas.microsoft.com/office/drawing/2014/main" id="{672466C7-DC83-4A3E-AC47-EB8D261FF6EC}"/>
              </a:ext>
            </a:extLst>
          </p:cNvPr>
          <p:cNvPicPr>
            <a:picLocks noChangeAspect="1"/>
          </p:cNvPicPr>
          <p:nvPr/>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9239618" y="5206252"/>
            <a:ext cx="444951" cy="516607"/>
          </a:xfrm>
          <a:prstGeom prst="rect">
            <a:avLst/>
          </a:prstGeom>
        </p:spPr>
      </p:pic>
    </p:spTree>
    <p:extLst>
      <p:ext uri="{BB962C8B-B14F-4D97-AF65-F5344CB8AC3E}">
        <p14:creationId xmlns:p14="http://schemas.microsoft.com/office/powerpoint/2010/main" val="263734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Sequencing the library – Part II</a:t>
            </a:r>
          </a:p>
        </p:txBody>
      </p:sp>
      <p:sp>
        <p:nvSpPr>
          <p:cNvPr id="32" name="Rectangle 31">
            <a:extLst>
              <a:ext uri="{FF2B5EF4-FFF2-40B4-BE49-F238E27FC236}">
                <a16:creationId xmlns:a16="http://schemas.microsoft.com/office/drawing/2014/main" id="{20E7E3E7-1555-4FB9-BDFC-48463C03AA9C}"/>
              </a:ext>
            </a:extLst>
          </p:cNvPr>
          <p:cNvSpPr/>
          <p:nvPr/>
        </p:nvSpPr>
        <p:spPr>
          <a:xfrm>
            <a:off x="2039620" y="2990425"/>
            <a:ext cx="5580848" cy="317500"/>
          </a:xfrm>
          <a:prstGeom prst="rect">
            <a:avLst/>
          </a:prstGeom>
          <a:solidFill>
            <a:schemeClr val="bg1"/>
          </a:solidFill>
          <a:ln>
            <a:noFill/>
          </a:ln>
          <a:effectLst>
            <a:outerShdw blurRad="40000" dist="23000" dir="5400000" rotWithShape="0">
              <a:schemeClr val="bg1">
                <a:alpha val="35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Content Placeholder 1">
            <a:extLst>
              <a:ext uri="{FF2B5EF4-FFF2-40B4-BE49-F238E27FC236}">
                <a16:creationId xmlns:a16="http://schemas.microsoft.com/office/drawing/2014/main" id="{BF84CB14-E740-48B9-8A9F-0FCB7CC153E6}"/>
              </a:ext>
            </a:extLst>
          </p:cNvPr>
          <p:cNvSpPr>
            <a:spLocks noGrp="1"/>
          </p:cNvSpPr>
          <p:nvPr>
            <p:ph idx="1"/>
          </p:nvPr>
        </p:nvSpPr>
        <p:spPr>
          <a:xfrm>
            <a:off x="134035" y="3556789"/>
            <a:ext cx="5036288" cy="1954932"/>
          </a:xfrm>
        </p:spPr>
        <p:txBody>
          <a:bodyPr>
            <a:normAutofit/>
          </a:bodyPr>
          <a:lstStyle/>
          <a:p>
            <a:pPr marL="400050">
              <a:defRPr/>
            </a:pPr>
            <a:r>
              <a:rPr lang="en-US" sz="1600" b="1" dirty="0"/>
              <a:t>Sequence Name </a:t>
            </a:r>
            <a:r>
              <a:rPr lang="en-US" sz="1600" dirty="0"/>
              <a:t>(read name, group, etc.)</a:t>
            </a:r>
          </a:p>
          <a:p>
            <a:pPr marL="400050"/>
            <a:r>
              <a:rPr lang="en-US" sz="1600" b="1" dirty="0"/>
              <a:t>Sequence</a:t>
            </a:r>
            <a:r>
              <a:rPr lang="en-US" sz="1600" dirty="0"/>
              <a:t> </a:t>
            </a:r>
          </a:p>
          <a:p>
            <a:pPr marL="400050"/>
            <a:r>
              <a:rPr lang="en-US" sz="1600" dirty="0"/>
              <a:t>+ (optional: Sequence name again)</a:t>
            </a:r>
          </a:p>
          <a:p>
            <a:pPr marL="400050"/>
            <a:r>
              <a:rPr lang="en-US" sz="1600" baseline="0" dirty="0"/>
              <a:t>Associated </a:t>
            </a:r>
            <a:r>
              <a:rPr lang="en-US" sz="1600" b="1" baseline="0" dirty="0"/>
              <a:t>quality score</a:t>
            </a:r>
            <a:r>
              <a:rPr lang="en-US" sz="1600" b="1" dirty="0"/>
              <a:t> 	</a:t>
            </a:r>
          </a:p>
          <a:p>
            <a:pPr marL="57150" indent="0">
              <a:buNone/>
            </a:pPr>
            <a:endParaRPr lang="en-US" sz="800" b="1" dirty="0"/>
          </a:p>
          <a:p>
            <a:pPr marL="57150" indent="0">
              <a:buNone/>
            </a:pPr>
            <a:endParaRPr lang="en-US" sz="800" b="1" dirty="0"/>
          </a:p>
          <a:p>
            <a:pPr marL="57150" indent="0">
              <a:buNone/>
            </a:pPr>
            <a:endParaRPr lang="en-US" sz="800" b="1" dirty="0"/>
          </a:p>
          <a:p>
            <a:pPr marL="57150" indent="0">
              <a:buNone/>
            </a:pPr>
            <a:endParaRPr lang="en-US" sz="1600" b="1" dirty="0"/>
          </a:p>
        </p:txBody>
      </p:sp>
      <p:sp>
        <p:nvSpPr>
          <p:cNvPr id="35" name="TextBox 34">
            <a:extLst>
              <a:ext uri="{FF2B5EF4-FFF2-40B4-BE49-F238E27FC236}">
                <a16:creationId xmlns:a16="http://schemas.microsoft.com/office/drawing/2014/main" id="{38EF7EB3-30B7-4E58-9773-D14E094BAF20}"/>
              </a:ext>
            </a:extLst>
          </p:cNvPr>
          <p:cNvSpPr txBox="1"/>
          <p:nvPr/>
        </p:nvSpPr>
        <p:spPr>
          <a:xfrm>
            <a:off x="298598" y="5693606"/>
            <a:ext cx="3042821" cy="230832"/>
          </a:xfrm>
          <a:prstGeom prst="rect">
            <a:avLst/>
          </a:prstGeom>
          <a:noFill/>
        </p:spPr>
        <p:txBody>
          <a:bodyPr wrap="none" rtlCol="0">
            <a:spAutoFit/>
          </a:bodyPr>
          <a:lstStyle/>
          <a:p>
            <a:r>
              <a:rPr lang="en-US" sz="900" dirty="0"/>
              <a:t>Format specification </a:t>
            </a:r>
            <a:r>
              <a:rPr lang="en-US" sz="900" dirty="0">
                <a:hlinkClick r:id="rId2"/>
              </a:rPr>
              <a:t>http://maq.sourceforge.net/fastq.shtml</a:t>
            </a:r>
            <a:endParaRPr lang="en-US" sz="900" dirty="0"/>
          </a:p>
        </p:txBody>
      </p:sp>
      <p:grpSp>
        <p:nvGrpSpPr>
          <p:cNvPr id="36" name="Group 35">
            <a:extLst>
              <a:ext uri="{FF2B5EF4-FFF2-40B4-BE49-F238E27FC236}">
                <a16:creationId xmlns:a16="http://schemas.microsoft.com/office/drawing/2014/main" id="{4D4C5C87-E993-4D41-A434-664D49F751D6}"/>
              </a:ext>
            </a:extLst>
          </p:cNvPr>
          <p:cNvGrpSpPr/>
          <p:nvPr/>
        </p:nvGrpSpPr>
        <p:grpSpPr>
          <a:xfrm>
            <a:off x="8237438" y="1886073"/>
            <a:ext cx="3281197" cy="3866745"/>
            <a:chOff x="1505473" y="1255058"/>
            <a:chExt cx="5536806" cy="5453529"/>
          </a:xfrm>
        </p:grpSpPr>
        <p:pic>
          <p:nvPicPr>
            <p:cNvPr id="37" name="Picture 36">
              <a:extLst>
                <a:ext uri="{FF2B5EF4-FFF2-40B4-BE49-F238E27FC236}">
                  <a16:creationId xmlns:a16="http://schemas.microsoft.com/office/drawing/2014/main" id="{FD7E4037-2AF6-484F-A610-07777688A4AC}"/>
                </a:ext>
              </a:extLst>
            </p:cNvPr>
            <p:cNvPicPr>
              <a:picLocks noChangeAspect="1"/>
            </p:cNvPicPr>
            <p:nvPr/>
          </p:nvPicPr>
          <p:blipFill rotWithShape="1">
            <a:blip r:embed="rId3"/>
            <a:srcRect r="19963"/>
            <a:stretch/>
          </p:blipFill>
          <p:spPr>
            <a:xfrm>
              <a:off x="1505473" y="1255058"/>
              <a:ext cx="5536806" cy="5453529"/>
            </a:xfrm>
            <a:prstGeom prst="rect">
              <a:avLst/>
            </a:prstGeom>
          </p:spPr>
        </p:pic>
        <p:sp>
          <p:nvSpPr>
            <p:cNvPr id="67" name="TextBox 66">
              <a:extLst>
                <a:ext uri="{FF2B5EF4-FFF2-40B4-BE49-F238E27FC236}">
                  <a16:creationId xmlns:a16="http://schemas.microsoft.com/office/drawing/2014/main" id="{12F80EB0-0CB7-45E7-A3CA-C67C87741416}"/>
                </a:ext>
              </a:extLst>
            </p:cNvPr>
            <p:cNvSpPr txBox="1"/>
            <p:nvPr/>
          </p:nvSpPr>
          <p:spPr>
            <a:xfrm>
              <a:off x="5055180" y="1723410"/>
              <a:ext cx="1746854" cy="530920"/>
            </a:xfrm>
            <a:prstGeom prst="rect">
              <a:avLst/>
            </a:prstGeom>
            <a:noFill/>
          </p:spPr>
          <p:txBody>
            <a:bodyPr wrap="none" rtlCol="0">
              <a:spAutoFit/>
            </a:bodyPr>
            <a:lstStyle/>
            <a:p>
              <a:r>
                <a:rPr lang="en-US" sz="1200" b="1" dirty="0">
                  <a:solidFill>
                    <a:srgbClr val="3366FF"/>
                  </a:solidFill>
                </a:rPr>
                <a:t>Accuracy</a:t>
              </a:r>
            </a:p>
          </p:txBody>
        </p:sp>
        <p:sp>
          <p:nvSpPr>
            <p:cNvPr id="68" name="TextBox 67">
              <a:extLst>
                <a:ext uri="{FF2B5EF4-FFF2-40B4-BE49-F238E27FC236}">
                  <a16:creationId xmlns:a16="http://schemas.microsoft.com/office/drawing/2014/main" id="{715D952B-9678-4123-A65E-5302667C2858}"/>
                </a:ext>
              </a:extLst>
            </p:cNvPr>
            <p:cNvSpPr txBox="1"/>
            <p:nvPr/>
          </p:nvSpPr>
          <p:spPr>
            <a:xfrm>
              <a:off x="5429706" y="5419864"/>
              <a:ext cx="1161675" cy="530920"/>
            </a:xfrm>
            <a:prstGeom prst="rect">
              <a:avLst/>
            </a:prstGeom>
            <a:noFill/>
          </p:spPr>
          <p:txBody>
            <a:bodyPr wrap="none" rtlCol="0">
              <a:spAutoFit/>
            </a:bodyPr>
            <a:lstStyle/>
            <a:p>
              <a:r>
                <a:rPr lang="en-US" sz="1200" b="1" dirty="0">
                  <a:solidFill>
                    <a:srgbClr val="FF0000"/>
                  </a:solidFill>
                </a:rPr>
                <a:t>Error</a:t>
              </a:r>
            </a:p>
          </p:txBody>
        </p:sp>
        <p:sp>
          <p:nvSpPr>
            <p:cNvPr id="69" name="TextBox 68">
              <a:extLst>
                <a:ext uri="{FF2B5EF4-FFF2-40B4-BE49-F238E27FC236}">
                  <a16:creationId xmlns:a16="http://schemas.microsoft.com/office/drawing/2014/main" id="{C7F0E4B3-52A2-455D-AEFC-C730FF96E110}"/>
                </a:ext>
              </a:extLst>
            </p:cNvPr>
            <p:cNvSpPr txBox="1"/>
            <p:nvPr/>
          </p:nvSpPr>
          <p:spPr>
            <a:xfrm>
              <a:off x="4104816" y="2981519"/>
              <a:ext cx="2697218" cy="648902"/>
            </a:xfrm>
            <a:prstGeom prst="rect">
              <a:avLst/>
            </a:prstGeom>
            <a:noFill/>
          </p:spPr>
          <p:txBody>
            <a:bodyPr wrap="square" rtlCol="0">
              <a:spAutoFit/>
            </a:bodyPr>
            <a:lstStyle/>
            <a:p>
              <a:r>
                <a:rPr lang="en-US" sz="800" dirty="0"/>
                <a:t>20 and higher is </a:t>
              </a:r>
              <a:br>
                <a:rPr lang="en-US" sz="800" dirty="0"/>
              </a:br>
              <a:r>
                <a:rPr lang="en-US" sz="800" dirty="0"/>
                <a:t>generally a good score</a:t>
              </a:r>
            </a:p>
          </p:txBody>
        </p:sp>
        <p:cxnSp>
          <p:nvCxnSpPr>
            <p:cNvPr id="70" name="Straight Connector 69">
              <a:extLst>
                <a:ext uri="{FF2B5EF4-FFF2-40B4-BE49-F238E27FC236}">
                  <a16:creationId xmlns:a16="http://schemas.microsoft.com/office/drawing/2014/main" id="{065774B0-AA58-412D-8B9A-4CC77D2DA9CB}"/>
                </a:ext>
              </a:extLst>
            </p:cNvPr>
            <p:cNvCxnSpPr/>
            <p:nvPr/>
          </p:nvCxnSpPr>
          <p:spPr>
            <a:xfrm rot="5400000">
              <a:off x="1364980" y="3848513"/>
              <a:ext cx="4768529" cy="1588"/>
            </a:xfrm>
            <a:prstGeom prst="line">
              <a:avLst/>
            </a:prstGeom>
            <a:ln w="25400" cap="flat" cmpd="sng" algn="ctr">
              <a:solidFill>
                <a:schemeClr val="tx1"/>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1" name="Right Arrow 10">
              <a:extLst>
                <a:ext uri="{FF2B5EF4-FFF2-40B4-BE49-F238E27FC236}">
                  <a16:creationId xmlns:a16="http://schemas.microsoft.com/office/drawing/2014/main" id="{C9EFDD1C-0653-4C63-887C-FF8BC500D8D5}"/>
                </a:ext>
              </a:extLst>
            </p:cNvPr>
            <p:cNvSpPr/>
            <p:nvPr/>
          </p:nvSpPr>
          <p:spPr>
            <a:xfrm>
              <a:off x="3748450" y="3058078"/>
              <a:ext cx="281713" cy="477878"/>
            </a:xfrm>
            <a:prstGeom prst="rightArrow">
              <a:avLst/>
            </a:prstGeom>
            <a:solidFill>
              <a:srgbClr val="262626"/>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2" name="Rectangle 71">
            <a:extLst>
              <a:ext uri="{FF2B5EF4-FFF2-40B4-BE49-F238E27FC236}">
                <a16:creationId xmlns:a16="http://schemas.microsoft.com/office/drawing/2014/main" id="{0A6F0BF1-6656-432D-9A1F-5C4FEAF9C331}"/>
              </a:ext>
            </a:extLst>
          </p:cNvPr>
          <p:cNvSpPr/>
          <p:nvPr/>
        </p:nvSpPr>
        <p:spPr>
          <a:xfrm>
            <a:off x="2495851" y="4963860"/>
            <a:ext cx="2610884" cy="615553"/>
          </a:xfrm>
          <a:prstGeom prst="rect">
            <a:avLst/>
          </a:prstGeom>
        </p:spPr>
        <p:txBody>
          <a:bodyPr wrap="square">
            <a:spAutoFit/>
          </a:bodyPr>
          <a:lstStyle/>
          <a:p>
            <a:pPr>
              <a:spcBef>
                <a:spcPct val="20000"/>
              </a:spcBef>
              <a:defRPr/>
            </a:pPr>
            <a:r>
              <a:rPr lang="en-US" sz="1000" dirty="0"/>
              <a:t>Q10 = 90% confidence (10% error rate)</a:t>
            </a:r>
          </a:p>
          <a:p>
            <a:pPr>
              <a:spcBef>
                <a:spcPct val="20000"/>
              </a:spcBef>
              <a:defRPr/>
            </a:pPr>
            <a:r>
              <a:rPr lang="en-US" sz="1000" dirty="0"/>
              <a:t>Q20 = 99% confidence (1% error rate)</a:t>
            </a:r>
          </a:p>
          <a:p>
            <a:pPr>
              <a:spcBef>
                <a:spcPct val="20000"/>
              </a:spcBef>
              <a:defRPr/>
            </a:pPr>
            <a:r>
              <a:rPr lang="en-US" sz="1000" dirty="0"/>
              <a:t>Q30 = 99.9% confidence (0.1% error rate)</a:t>
            </a:r>
          </a:p>
        </p:txBody>
      </p:sp>
      <p:sp>
        <p:nvSpPr>
          <p:cNvPr id="74" name="Rectangle 73">
            <a:extLst>
              <a:ext uri="{FF2B5EF4-FFF2-40B4-BE49-F238E27FC236}">
                <a16:creationId xmlns:a16="http://schemas.microsoft.com/office/drawing/2014/main" id="{4080048C-E9DC-464A-8A38-8627D62C63C9}"/>
              </a:ext>
            </a:extLst>
          </p:cNvPr>
          <p:cNvSpPr/>
          <p:nvPr/>
        </p:nvSpPr>
        <p:spPr>
          <a:xfrm>
            <a:off x="751008" y="4948210"/>
            <a:ext cx="4572000" cy="335476"/>
          </a:xfrm>
          <a:prstGeom prst="rect">
            <a:avLst/>
          </a:prstGeom>
        </p:spPr>
        <p:txBody>
          <a:bodyPr>
            <a:spAutoFit/>
          </a:bodyPr>
          <a:lstStyle/>
          <a:p>
            <a:pPr lvl="0">
              <a:spcBef>
                <a:spcPct val="20000"/>
              </a:spcBef>
              <a:defRPr/>
            </a:pPr>
            <a:r>
              <a:rPr lang="en-US" sz="1100" i="1" dirty="0" err="1"/>
              <a:t>Phred</a:t>
            </a:r>
            <a:r>
              <a:rPr lang="en-US" sz="1100" i="1" dirty="0"/>
              <a:t> value</a:t>
            </a:r>
            <a:r>
              <a:rPr lang="en-US" sz="1100" dirty="0"/>
              <a:t> = −10 * </a:t>
            </a:r>
            <a:r>
              <a:rPr lang="en-US" sz="1100" i="1" dirty="0"/>
              <a:t>log</a:t>
            </a:r>
            <a:r>
              <a:rPr lang="en-US" sz="1100" baseline="-25000" dirty="0"/>
              <a:t>10</a:t>
            </a:r>
            <a:r>
              <a:rPr lang="en-US" sz="1100" dirty="0"/>
              <a:t>(</a:t>
            </a:r>
            <a:r>
              <a:rPr lang="en-US" sz="1100" dirty="0" err="1"/>
              <a:t>ε</a:t>
            </a:r>
            <a:r>
              <a:rPr lang="en-US" sz="1100" dirty="0"/>
              <a:t>)</a:t>
            </a:r>
          </a:p>
          <a:p>
            <a:pPr lvl="0">
              <a:spcBef>
                <a:spcPct val="20000"/>
              </a:spcBef>
              <a:defRPr/>
            </a:pPr>
            <a:endParaRPr lang="en-US" sz="400" dirty="0"/>
          </a:p>
        </p:txBody>
      </p:sp>
      <p:pic>
        <p:nvPicPr>
          <p:cNvPr id="75" name="Picture 74" descr="Screen Shot 2015-10-14 at 9.20.05 PM.png">
            <a:extLst>
              <a:ext uri="{FF2B5EF4-FFF2-40B4-BE49-F238E27FC236}">
                <a16:creationId xmlns:a16="http://schemas.microsoft.com/office/drawing/2014/main" id="{77068B8B-D0C2-421F-B6D0-FD8873C78E24}"/>
              </a:ext>
            </a:extLst>
          </p:cNvPr>
          <p:cNvPicPr>
            <a:picLocks noChangeAspect="1"/>
          </p:cNvPicPr>
          <p:nvPr/>
        </p:nvPicPr>
        <p:blipFill>
          <a:blip r:embed="rId4">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297231" y="1779329"/>
            <a:ext cx="1195530" cy="1388061"/>
          </a:xfrm>
          <a:prstGeom prst="rect">
            <a:avLst/>
          </a:prstGeom>
        </p:spPr>
      </p:pic>
      <p:cxnSp>
        <p:nvCxnSpPr>
          <p:cNvPr id="76" name="Straight Arrow Connector 75">
            <a:extLst>
              <a:ext uri="{FF2B5EF4-FFF2-40B4-BE49-F238E27FC236}">
                <a16:creationId xmlns:a16="http://schemas.microsoft.com/office/drawing/2014/main" id="{EC2A5F22-D486-4DFC-B202-70E69377CBFD}"/>
              </a:ext>
            </a:extLst>
          </p:cNvPr>
          <p:cNvCxnSpPr>
            <a:cxnSpLocks/>
          </p:cNvCxnSpPr>
          <p:nvPr/>
        </p:nvCxnSpPr>
        <p:spPr>
          <a:xfrm>
            <a:off x="3195218" y="2535040"/>
            <a:ext cx="678564" cy="0"/>
          </a:xfrm>
          <a:prstGeom prst="straightConnector1">
            <a:avLst/>
          </a:prstGeom>
          <a:ln>
            <a:solidFill>
              <a:schemeClr val="accent6">
                <a:lumMod val="50000"/>
              </a:schemeClr>
            </a:solidFill>
            <a:tailEnd type="triangle"/>
          </a:ln>
        </p:spPr>
        <p:style>
          <a:lnRef idx="2">
            <a:schemeClr val="accent6"/>
          </a:lnRef>
          <a:fillRef idx="0">
            <a:schemeClr val="accent6"/>
          </a:fillRef>
          <a:effectRef idx="1">
            <a:schemeClr val="accent6"/>
          </a:effectRef>
          <a:fontRef idx="minor">
            <a:schemeClr val="tx1"/>
          </a:fontRef>
        </p:style>
      </p:cxnSp>
      <p:pic>
        <p:nvPicPr>
          <p:cNvPr id="80" name="Picture 79">
            <a:extLst>
              <a:ext uri="{FF2B5EF4-FFF2-40B4-BE49-F238E27FC236}">
                <a16:creationId xmlns:a16="http://schemas.microsoft.com/office/drawing/2014/main" id="{61DF66CA-D755-4F09-A44B-DB365C9B64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0897" y="3582396"/>
            <a:ext cx="2687544" cy="1999661"/>
          </a:xfrm>
          <a:prstGeom prst="rect">
            <a:avLst/>
          </a:prstGeom>
        </p:spPr>
      </p:pic>
      <p:pic>
        <p:nvPicPr>
          <p:cNvPr id="82" name="Picture 81" descr="hiseq_1000">
            <a:extLst>
              <a:ext uri="{FF2B5EF4-FFF2-40B4-BE49-F238E27FC236}">
                <a16:creationId xmlns:a16="http://schemas.microsoft.com/office/drawing/2014/main" id="{946BDB79-56EA-4307-89EA-F79F07674B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6508" y="1759871"/>
            <a:ext cx="1304026" cy="142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TextBox 55">
            <a:extLst>
              <a:ext uri="{FF2B5EF4-FFF2-40B4-BE49-F238E27FC236}">
                <a16:creationId xmlns:a16="http://schemas.microsoft.com/office/drawing/2014/main" id="{823FEF39-BDFC-4360-BE80-CD6A46FDAF1B}"/>
              </a:ext>
            </a:extLst>
          </p:cNvPr>
          <p:cNvSpPr txBox="1">
            <a:spLocks noChangeArrowheads="1"/>
          </p:cNvSpPr>
          <p:nvPr/>
        </p:nvSpPr>
        <p:spPr bwMode="auto">
          <a:xfrm>
            <a:off x="5106735" y="3113294"/>
            <a:ext cx="2434006" cy="261610"/>
          </a:xfrm>
          <a:prstGeom prst="rect">
            <a:avLst/>
          </a:prstGeom>
          <a:noFill/>
          <a:ln w="9525">
            <a:noFill/>
            <a:miter lim="800000"/>
            <a:headEnd/>
            <a:tailEnd/>
          </a:ln>
        </p:spPr>
        <p:txBody>
          <a:bodyPr wrap="square">
            <a:prstTxWarp prst="textNoShape">
              <a:avLst/>
            </a:prstTxWarp>
            <a:spAutoFit/>
          </a:bodyPr>
          <a:lstStyle/>
          <a:p>
            <a:r>
              <a:rPr lang="en-US" sz="1050" b="1" dirty="0"/>
              <a:t>Big pile of reads!</a:t>
            </a:r>
          </a:p>
        </p:txBody>
      </p:sp>
      <p:sp>
        <p:nvSpPr>
          <p:cNvPr id="85" name="TextBox 84">
            <a:extLst>
              <a:ext uri="{FF2B5EF4-FFF2-40B4-BE49-F238E27FC236}">
                <a16:creationId xmlns:a16="http://schemas.microsoft.com/office/drawing/2014/main" id="{5AA14940-5915-495E-B858-525DA68C2C9D}"/>
              </a:ext>
            </a:extLst>
          </p:cNvPr>
          <p:cNvSpPr txBox="1"/>
          <p:nvPr/>
        </p:nvSpPr>
        <p:spPr>
          <a:xfrm>
            <a:off x="4967481" y="5786192"/>
            <a:ext cx="2645276" cy="253916"/>
          </a:xfrm>
          <a:prstGeom prst="rect">
            <a:avLst/>
          </a:prstGeom>
          <a:noFill/>
        </p:spPr>
        <p:txBody>
          <a:bodyPr wrap="none" rtlCol="0">
            <a:spAutoFit/>
          </a:bodyPr>
          <a:lstStyle/>
          <a:p>
            <a:r>
              <a:rPr lang="en-US" sz="1050" i="1" dirty="0">
                <a:solidFill>
                  <a:schemeClr val="tx1">
                    <a:lumMod val="50000"/>
                    <a:lumOff val="50000"/>
                  </a:schemeClr>
                </a:solidFill>
              </a:rPr>
              <a:t>ASCII code translates to </a:t>
            </a:r>
            <a:r>
              <a:rPr lang="en-US" sz="1050" i="1" dirty="0" err="1">
                <a:solidFill>
                  <a:schemeClr val="tx1">
                    <a:lumMod val="50000"/>
                    <a:lumOff val="50000"/>
                  </a:schemeClr>
                </a:solidFill>
              </a:rPr>
              <a:t>Phred</a:t>
            </a:r>
            <a:r>
              <a:rPr lang="en-US" sz="1050" i="1" dirty="0">
                <a:solidFill>
                  <a:schemeClr val="tx1">
                    <a:lumMod val="50000"/>
                    <a:lumOff val="50000"/>
                  </a:schemeClr>
                </a:solidFill>
              </a:rPr>
              <a:t>-scale Q scores</a:t>
            </a:r>
          </a:p>
        </p:txBody>
      </p:sp>
      <p:cxnSp>
        <p:nvCxnSpPr>
          <p:cNvPr id="3" name="Straight Connector 2">
            <a:extLst>
              <a:ext uri="{FF2B5EF4-FFF2-40B4-BE49-F238E27FC236}">
                <a16:creationId xmlns:a16="http://schemas.microsoft.com/office/drawing/2014/main" id="{32126F9C-2197-438A-850D-A3E5A2831549}"/>
              </a:ext>
            </a:extLst>
          </p:cNvPr>
          <p:cNvCxnSpPr>
            <a:cxnSpLocks/>
          </p:cNvCxnSpPr>
          <p:nvPr/>
        </p:nvCxnSpPr>
        <p:spPr>
          <a:xfrm>
            <a:off x="7831016" y="3649785"/>
            <a:ext cx="0" cy="268673"/>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718B4C8-E442-4070-81FD-F3660F2F0251}"/>
              </a:ext>
            </a:extLst>
          </p:cNvPr>
          <p:cNvCxnSpPr>
            <a:cxnSpLocks/>
          </p:cNvCxnSpPr>
          <p:nvPr/>
        </p:nvCxnSpPr>
        <p:spPr>
          <a:xfrm>
            <a:off x="7831016" y="4045934"/>
            <a:ext cx="0" cy="268673"/>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D5065FB-8DA0-4DB7-B924-28F4B3653952}"/>
              </a:ext>
            </a:extLst>
          </p:cNvPr>
          <p:cNvCxnSpPr>
            <a:cxnSpLocks/>
          </p:cNvCxnSpPr>
          <p:nvPr/>
        </p:nvCxnSpPr>
        <p:spPr>
          <a:xfrm>
            <a:off x="7831016" y="4446811"/>
            <a:ext cx="0" cy="268673"/>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6032426-2536-4E5A-8446-E91BEDB897A4}"/>
              </a:ext>
            </a:extLst>
          </p:cNvPr>
          <p:cNvCxnSpPr>
            <a:cxnSpLocks/>
          </p:cNvCxnSpPr>
          <p:nvPr/>
        </p:nvCxnSpPr>
        <p:spPr>
          <a:xfrm>
            <a:off x="7834924" y="4847275"/>
            <a:ext cx="0" cy="268673"/>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171BA0B-CEDE-432A-99F3-A1A77056B7E1}"/>
              </a:ext>
            </a:extLst>
          </p:cNvPr>
          <p:cNvCxnSpPr>
            <a:cxnSpLocks/>
          </p:cNvCxnSpPr>
          <p:nvPr/>
        </p:nvCxnSpPr>
        <p:spPr>
          <a:xfrm>
            <a:off x="7831016" y="5243048"/>
            <a:ext cx="0" cy="268673"/>
          </a:xfrm>
          <a:prstGeom prst="line">
            <a:avLst/>
          </a:prstGeom>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C5BACF1B-80CA-40F0-B5BA-75F003113CA2}"/>
              </a:ext>
            </a:extLst>
          </p:cNvPr>
          <p:cNvSpPr txBox="1"/>
          <p:nvPr/>
        </p:nvSpPr>
        <p:spPr>
          <a:xfrm>
            <a:off x="6138282" y="2279413"/>
            <a:ext cx="756938" cy="253916"/>
          </a:xfrm>
          <a:prstGeom prst="rect">
            <a:avLst/>
          </a:prstGeom>
          <a:noFill/>
        </p:spPr>
        <p:txBody>
          <a:bodyPr wrap="none" rtlCol="0">
            <a:spAutoFit/>
          </a:bodyPr>
          <a:lstStyle/>
          <a:p>
            <a:r>
              <a:rPr lang="en-US" sz="1050" b="1" i="1" dirty="0"/>
              <a:t>FASTQ file</a:t>
            </a:r>
          </a:p>
        </p:txBody>
      </p:sp>
    </p:spTree>
    <p:extLst>
      <p:ext uri="{BB962C8B-B14F-4D97-AF65-F5344CB8AC3E}">
        <p14:creationId xmlns:p14="http://schemas.microsoft.com/office/powerpoint/2010/main" val="3830919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Mapping The Short Reads</a:t>
            </a:r>
          </a:p>
        </p:txBody>
      </p:sp>
      <p:grpSp>
        <p:nvGrpSpPr>
          <p:cNvPr id="28" name="Group 227">
            <a:extLst>
              <a:ext uri="{FF2B5EF4-FFF2-40B4-BE49-F238E27FC236}">
                <a16:creationId xmlns:a16="http://schemas.microsoft.com/office/drawing/2014/main" id="{A39B266E-D385-4E58-9EAC-2AE8D8818140}"/>
              </a:ext>
            </a:extLst>
          </p:cNvPr>
          <p:cNvGrpSpPr>
            <a:grpSpLocks/>
          </p:cNvGrpSpPr>
          <p:nvPr/>
        </p:nvGrpSpPr>
        <p:grpSpPr bwMode="auto">
          <a:xfrm>
            <a:off x="531949" y="1870666"/>
            <a:ext cx="1219594" cy="756588"/>
            <a:chOff x="276006" y="2019013"/>
            <a:chExt cx="1178179" cy="731283"/>
          </a:xfrm>
        </p:grpSpPr>
        <p:grpSp>
          <p:nvGrpSpPr>
            <p:cNvPr id="29" name="Group 123">
              <a:extLst>
                <a:ext uri="{FF2B5EF4-FFF2-40B4-BE49-F238E27FC236}">
                  <a16:creationId xmlns:a16="http://schemas.microsoft.com/office/drawing/2014/main" id="{DFA5D186-290F-46F1-83ED-80F77919647F}"/>
                </a:ext>
              </a:extLst>
            </p:cNvPr>
            <p:cNvGrpSpPr>
              <a:grpSpLocks/>
            </p:cNvGrpSpPr>
            <p:nvPr/>
          </p:nvGrpSpPr>
          <p:grpSpPr bwMode="auto">
            <a:xfrm>
              <a:off x="357260" y="2315008"/>
              <a:ext cx="1015670" cy="40627"/>
              <a:chOff x="533400" y="2819400"/>
              <a:chExt cx="1905000" cy="76200"/>
            </a:xfrm>
          </p:grpSpPr>
          <p:sp>
            <p:nvSpPr>
              <p:cNvPr id="73" name="Rectangle 52">
                <a:extLst>
                  <a:ext uri="{FF2B5EF4-FFF2-40B4-BE49-F238E27FC236}">
                    <a16:creationId xmlns:a16="http://schemas.microsoft.com/office/drawing/2014/main" id="{9D299EAA-FDDC-4888-B450-78FFA987D137}"/>
                  </a:ext>
                </a:extLst>
              </p:cNvPr>
              <p:cNvSpPr>
                <a:spLocks noChangeArrowheads="1"/>
              </p:cNvSpPr>
              <p:nvPr/>
            </p:nvSpPr>
            <p:spPr bwMode="auto">
              <a:xfrm>
                <a:off x="533400" y="2819400"/>
                <a:ext cx="457200" cy="76200"/>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u="sng"/>
              </a:p>
            </p:txBody>
          </p:sp>
          <p:cxnSp>
            <p:nvCxnSpPr>
              <p:cNvPr id="77" name="Straight Connector 53">
                <a:extLst>
                  <a:ext uri="{FF2B5EF4-FFF2-40B4-BE49-F238E27FC236}">
                    <a16:creationId xmlns:a16="http://schemas.microsoft.com/office/drawing/2014/main" id="{43158689-111D-4EFB-A9DC-1FD62EC93233}"/>
                  </a:ext>
                </a:extLst>
              </p:cNvPr>
              <p:cNvCxnSpPr>
                <a:cxnSpLocks noChangeShapeType="1"/>
                <a:stCxn id="73" idx="3"/>
                <a:endCxn id="78" idx="1"/>
              </p:cNvCxnSpPr>
              <p:nvPr/>
            </p:nvCxnSpPr>
            <p:spPr bwMode="auto">
              <a:xfrm>
                <a:off x="990600" y="2857500"/>
                <a:ext cx="762000" cy="1588"/>
              </a:xfrm>
              <a:prstGeom prst="line">
                <a:avLst/>
              </a:prstGeom>
              <a:noFill/>
              <a:ln w="9525">
                <a:solidFill>
                  <a:schemeClr val="tx1"/>
                </a:solidFill>
                <a:round/>
                <a:headEnd/>
                <a:tailEnd/>
              </a:ln>
            </p:spPr>
          </p:cxnSp>
          <p:sp>
            <p:nvSpPr>
              <p:cNvPr id="78" name="Rectangle 54">
                <a:extLst>
                  <a:ext uri="{FF2B5EF4-FFF2-40B4-BE49-F238E27FC236}">
                    <a16:creationId xmlns:a16="http://schemas.microsoft.com/office/drawing/2014/main" id="{DF396830-E4BF-467B-9198-A2A696EAA6D6}"/>
                  </a:ext>
                </a:extLst>
              </p:cNvPr>
              <p:cNvSpPr>
                <a:spLocks noChangeArrowheads="1"/>
              </p:cNvSpPr>
              <p:nvPr/>
            </p:nvSpPr>
            <p:spPr bwMode="auto">
              <a:xfrm>
                <a:off x="1752600" y="2819400"/>
                <a:ext cx="685800" cy="76200"/>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grpSp>
        <p:grpSp>
          <p:nvGrpSpPr>
            <p:cNvPr id="30" name="Group 124">
              <a:extLst>
                <a:ext uri="{FF2B5EF4-FFF2-40B4-BE49-F238E27FC236}">
                  <a16:creationId xmlns:a16="http://schemas.microsoft.com/office/drawing/2014/main" id="{79F5F96D-18D2-4C18-988B-59145C863AE7}"/>
                </a:ext>
              </a:extLst>
            </p:cNvPr>
            <p:cNvGrpSpPr>
              <a:grpSpLocks/>
            </p:cNvGrpSpPr>
            <p:nvPr/>
          </p:nvGrpSpPr>
          <p:grpSpPr bwMode="auto">
            <a:xfrm>
              <a:off x="357260" y="2216343"/>
              <a:ext cx="1015671" cy="40627"/>
              <a:chOff x="533400" y="2514600"/>
              <a:chExt cx="1905000" cy="76200"/>
            </a:xfrm>
          </p:grpSpPr>
          <p:sp>
            <p:nvSpPr>
              <p:cNvPr id="64" name="Rectangle 49">
                <a:extLst>
                  <a:ext uri="{FF2B5EF4-FFF2-40B4-BE49-F238E27FC236}">
                    <a16:creationId xmlns:a16="http://schemas.microsoft.com/office/drawing/2014/main" id="{B8EE9DF9-B6BF-42AD-8778-E2BD8618FAE3}"/>
                  </a:ext>
                </a:extLst>
              </p:cNvPr>
              <p:cNvSpPr>
                <a:spLocks noChangeArrowheads="1"/>
              </p:cNvSpPr>
              <p:nvPr/>
            </p:nvSpPr>
            <p:spPr bwMode="auto">
              <a:xfrm>
                <a:off x="533400" y="2514600"/>
                <a:ext cx="990600" cy="76200"/>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u="sng"/>
              </a:p>
            </p:txBody>
          </p:sp>
          <p:cxnSp>
            <p:nvCxnSpPr>
              <p:cNvPr id="65" name="Straight Connector 50">
                <a:extLst>
                  <a:ext uri="{FF2B5EF4-FFF2-40B4-BE49-F238E27FC236}">
                    <a16:creationId xmlns:a16="http://schemas.microsoft.com/office/drawing/2014/main" id="{DA2EB0EB-C7CE-4928-8E88-6FAB282E1AAA}"/>
                  </a:ext>
                </a:extLst>
              </p:cNvPr>
              <p:cNvCxnSpPr>
                <a:cxnSpLocks noChangeShapeType="1"/>
                <a:stCxn id="64" idx="3"/>
                <a:endCxn id="66" idx="1"/>
              </p:cNvCxnSpPr>
              <p:nvPr/>
            </p:nvCxnSpPr>
            <p:spPr bwMode="auto">
              <a:xfrm>
                <a:off x="1524000" y="2552700"/>
                <a:ext cx="762000" cy="1588"/>
              </a:xfrm>
              <a:prstGeom prst="line">
                <a:avLst/>
              </a:prstGeom>
              <a:noFill/>
              <a:ln w="9525">
                <a:solidFill>
                  <a:schemeClr val="tx1"/>
                </a:solidFill>
                <a:round/>
                <a:headEnd/>
                <a:tailEnd/>
              </a:ln>
            </p:spPr>
          </p:cxnSp>
          <p:sp>
            <p:nvSpPr>
              <p:cNvPr id="66" name="Rectangle 51">
                <a:extLst>
                  <a:ext uri="{FF2B5EF4-FFF2-40B4-BE49-F238E27FC236}">
                    <a16:creationId xmlns:a16="http://schemas.microsoft.com/office/drawing/2014/main" id="{B37B07C6-C012-41F7-ACC3-84E4A5981CB2}"/>
                  </a:ext>
                </a:extLst>
              </p:cNvPr>
              <p:cNvSpPr>
                <a:spLocks noChangeArrowheads="1"/>
              </p:cNvSpPr>
              <p:nvPr/>
            </p:nvSpPr>
            <p:spPr bwMode="auto">
              <a:xfrm>
                <a:off x="2286000" y="2514600"/>
                <a:ext cx="152400" cy="76200"/>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grpSp>
        <p:grpSp>
          <p:nvGrpSpPr>
            <p:cNvPr id="31" name="Group 122">
              <a:extLst>
                <a:ext uri="{FF2B5EF4-FFF2-40B4-BE49-F238E27FC236}">
                  <a16:creationId xmlns:a16="http://schemas.microsoft.com/office/drawing/2014/main" id="{FDB715CC-0CAE-495C-9DF6-7EB41EEC964F}"/>
                </a:ext>
              </a:extLst>
            </p:cNvPr>
            <p:cNvGrpSpPr>
              <a:grpSpLocks/>
            </p:cNvGrpSpPr>
            <p:nvPr/>
          </p:nvGrpSpPr>
          <p:grpSpPr bwMode="auto">
            <a:xfrm>
              <a:off x="357261" y="2413673"/>
              <a:ext cx="1015675" cy="40627"/>
              <a:chOff x="533400" y="3124200"/>
              <a:chExt cx="1905000" cy="76200"/>
            </a:xfrm>
          </p:grpSpPr>
          <p:sp>
            <p:nvSpPr>
              <p:cNvPr id="61" name="Rectangle 46">
                <a:extLst>
                  <a:ext uri="{FF2B5EF4-FFF2-40B4-BE49-F238E27FC236}">
                    <a16:creationId xmlns:a16="http://schemas.microsoft.com/office/drawing/2014/main" id="{B766A94F-E4FB-4798-91DC-A5295CE94D63}"/>
                  </a:ext>
                </a:extLst>
              </p:cNvPr>
              <p:cNvSpPr>
                <a:spLocks noChangeArrowheads="1"/>
              </p:cNvSpPr>
              <p:nvPr/>
            </p:nvSpPr>
            <p:spPr bwMode="auto">
              <a:xfrm>
                <a:off x="533400" y="3124200"/>
                <a:ext cx="152400" cy="76200"/>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u="sng"/>
              </a:p>
            </p:txBody>
          </p:sp>
          <p:cxnSp>
            <p:nvCxnSpPr>
              <p:cNvPr id="62" name="Straight Connector 47">
                <a:extLst>
                  <a:ext uri="{FF2B5EF4-FFF2-40B4-BE49-F238E27FC236}">
                    <a16:creationId xmlns:a16="http://schemas.microsoft.com/office/drawing/2014/main" id="{9ED40DF0-3C61-4ACB-A532-87761DB3912B}"/>
                  </a:ext>
                </a:extLst>
              </p:cNvPr>
              <p:cNvCxnSpPr>
                <a:cxnSpLocks noChangeShapeType="1"/>
                <a:stCxn id="61" idx="3"/>
                <a:endCxn id="63" idx="1"/>
              </p:cNvCxnSpPr>
              <p:nvPr/>
            </p:nvCxnSpPr>
            <p:spPr bwMode="auto">
              <a:xfrm>
                <a:off x="685800" y="3162300"/>
                <a:ext cx="685800" cy="1588"/>
              </a:xfrm>
              <a:prstGeom prst="line">
                <a:avLst/>
              </a:prstGeom>
              <a:noFill/>
              <a:ln w="9525">
                <a:solidFill>
                  <a:schemeClr val="tx1"/>
                </a:solidFill>
                <a:round/>
                <a:headEnd/>
                <a:tailEnd/>
              </a:ln>
            </p:spPr>
          </p:cxnSp>
          <p:sp>
            <p:nvSpPr>
              <p:cNvPr id="63" name="Rectangle 48">
                <a:extLst>
                  <a:ext uri="{FF2B5EF4-FFF2-40B4-BE49-F238E27FC236}">
                    <a16:creationId xmlns:a16="http://schemas.microsoft.com/office/drawing/2014/main" id="{EAAA9813-1139-4C7B-9E48-03FB5774BA4F}"/>
                  </a:ext>
                </a:extLst>
              </p:cNvPr>
              <p:cNvSpPr>
                <a:spLocks noChangeArrowheads="1"/>
              </p:cNvSpPr>
              <p:nvPr/>
            </p:nvSpPr>
            <p:spPr bwMode="auto">
              <a:xfrm>
                <a:off x="1371600" y="3124200"/>
                <a:ext cx="1066800" cy="76200"/>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grpSp>
        <p:grpSp>
          <p:nvGrpSpPr>
            <p:cNvPr id="33" name="Group 125">
              <a:extLst>
                <a:ext uri="{FF2B5EF4-FFF2-40B4-BE49-F238E27FC236}">
                  <a16:creationId xmlns:a16="http://schemas.microsoft.com/office/drawing/2014/main" id="{E620927A-2286-44AD-BF37-4B0F9F2F7B9C}"/>
                </a:ext>
              </a:extLst>
            </p:cNvPr>
            <p:cNvGrpSpPr>
              <a:grpSpLocks/>
            </p:cNvGrpSpPr>
            <p:nvPr/>
          </p:nvGrpSpPr>
          <p:grpSpPr bwMode="auto">
            <a:xfrm>
              <a:off x="357260" y="2117678"/>
              <a:ext cx="1096925" cy="40627"/>
              <a:chOff x="533400" y="2209800"/>
              <a:chExt cx="2057400" cy="76200"/>
            </a:xfrm>
          </p:grpSpPr>
          <p:sp>
            <p:nvSpPr>
              <p:cNvPr id="58" name="Rectangle 43">
                <a:extLst>
                  <a:ext uri="{FF2B5EF4-FFF2-40B4-BE49-F238E27FC236}">
                    <a16:creationId xmlns:a16="http://schemas.microsoft.com/office/drawing/2014/main" id="{09783C4A-4E19-4DC8-AA5E-B1B7F069EBDB}"/>
                  </a:ext>
                </a:extLst>
              </p:cNvPr>
              <p:cNvSpPr>
                <a:spLocks noChangeArrowheads="1"/>
              </p:cNvSpPr>
              <p:nvPr/>
            </p:nvSpPr>
            <p:spPr bwMode="auto">
              <a:xfrm>
                <a:off x="533400" y="2209800"/>
                <a:ext cx="1371600" cy="76200"/>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u="sng"/>
              </a:p>
            </p:txBody>
          </p:sp>
          <p:cxnSp>
            <p:nvCxnSpPr>
              <p:cNvPr id="59" name="Straight Connector 44">
                <a:extLst>
                  <a:ext uri="{FF2B5EF4-FFF2-40B4-BE49-F238E27FC236}">
                    <a16:creationId xmlns:a16="http://schemas.microsoft.com/office/drawing/2014/main" id="{27AC17A2-FCAF-429F-994D-F6DA43BF5641}"/>
                  </a:ext>
                </a:extLst>
              </p:cNvPr>
              <p:cNvCxnSpPr>
                <a:cxnSpLocks noChangeShapeType="1"/>
                <a:stCxn id="58" idx="3"/>
                <a:endCxn id="60" idx="1"/>
              </p:cNvCxnSpPr>
              <p:nvPr/>
            </p:nvCxnSpPr>
            <p:spPr bwMode="auto">
              <a:xfrm>
                <a:off x="1905000" y="2247900"/>
                <a:ext cx="533400" cy="1588"/>
              </a:xfrm>
              <a:prstGeom prst="line">
                <a:avLst/>
              </a:prstGeom>
              <a:noFill/>
              <a:ln w="9525">
                <a:solidFill>
                  <a:schemeClr val="tx1"/>
                </a:solidFill>
                <a:round/>
                <a:headEnd/>
                <a:tailEnd/>
              </a:ln>
            </p:spPr>
          </p:cxnSp>
          <p:sp>
            <p:nvSpPr>
              <p:cNvPr id="60" name="Rectangle 45">
                <a:extLst>
                  <a:ext uri="{FF2B5EF4-FFF2-40B4-BE49-F238E27FC236}">
                    <a16:creationId xmlns:a16="http://schemas.microsoft.com/office/drawing/2014/main" id="{E5688A8D-B42D-4834-AC08-31A658369E30}"/>
                  </a:ext>
                </a:extLst>
              </p:cNvPr>
              <p:cNvSpPr>
                <a:spLocks noChangeArrowheads="1"/>
              </p:cNvSpPr>
              <p:nvPr/>
            </p:nvSpPr>
            <p:spPr bwMode="auto">
              <a:xfrm>
                <a:off x="2438400" y="22098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grpSp>
          <p:nvGrpSpPr>
            <p:cNvPr id="38" name="Group 121">
              <a:extLst>
                <a:ext uri="{FF2B5EF4-FFF2-40B4-BE49-F238E27FC236}">
                  <a16:creationId xmlns:a16="http://schemas.microsoft.com/office/drawing/2014/main" id="{7E62B172-FF85-4AA9-AF8B-A808751A6AEA}"/>
                </a:ext>
              </a:extLst>
            </p:cNvPr>
            <p:cNvGrpSpPr>
              <a:grpSpLocks/>
            </p:cNvGrpSpPr>
            <p:nvPr/>
          </p:nvGrpSpPr>
          <p:grpSpPr bwMode="auto">
            <a:xfrm>
              <a:off x="276006" y="2513058"/>
              <a:ext cx="1096925" cy="40643"/>
              <a:chOff x="381000" y="3429000"/>
              <a:chExt cx="2057400" cy="76200"/>
            </a:xfrm>
          </p:grpSpPr>
          <p:cxnSp>
            <p:nvCxnSpPr>
              <p:cNvPr id="55" name="Straight Connector 40">
                <a:extLst>
                  <a:ext uri="{FF2B5EF4-FFF2-40B4-BE49-F238E27FC236}">
                    <a16:creationId xmlns:a16="http://schemas.microsoft.com/office/drawing/2014/main" id="{7285D4AB-A570-4F61-877C-9A9A7C501F24}"/>
                  </a:ext>
                </a:extLst>
              </p:cNvPr>
              <p:cNvCxnSpPr>
                <a:cxnSpLocks noChangeShapeType="1"/>
                <a:stCxn id="57" idx="3"/>
                <a:endCxn id="56" idx="1"/>
              </p:cNvCxnSpPr>
              <p:nvPr/>
            </p:nvCxnSpPr>
            <p:spPr bwMode="auto">
              <a:xfrm>
                <a:off x="533400" y="3467100"/>
                <a:ext cx="533400" cy="1588"/>
              </a:xfrm>
              <a:prstGeom prst="line">
                <a:avLst/>
              </a:prstGeom>
              <a:noFill/>
              <a:ln w="9525">
                <a:solidFill>
                  <a:schemeClr val="tx1"/>
                </a:solidFill>
                <a:round/>
                <a:headEnd/>
                <a:tailEnd/>
              </a:ln>
            </p:spPr>
          </p:cxnSp>
          <p:sp>
            <p:nvSpPr>
              <p:cNvPr id="56" name="Rectangle 41">
                <a:extLst>
                  <a:ext uri="{FF2B5EF4-FFF2-40B4-BE49-F238E27FC236}">
                    <a16:creationId xmlns:a16="http://schemas.microsoft.com/office/drawing/2014/main" id="{046DA1D5-A538-4F74-9AFC-7743F4F130F6}"/>
                  </a:ext>
                </a:extLst>
              </p:cNvPr>
              <p:cNvSpPr>
                <a:spLocks noChangeArrowheads="1"/>
              </p:cNvSpPr>
              <p:nvPr/>
            </p:nvSpPr>
            <p:spPr bwMode="auto">
              <a:xfrm>
                <a:off x="1066800" y="3429000"/>
                <a:ext cx="1371600" cy="76200"/>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sp>
            <p:nvSpPr>
              <p:cNvPr id="57" name="Rectangle 42">
                <a:extLst>
                  <a:ext uri="{FF2B5EF4-FFF2-40B4-BE49-F238E27FC236}">
                    <a16:creationId xmlns:a16="http://schemas.microsoft.com/office/drawing/2014/main" id="{C6D6F0DC-5626-4E9A-97C3-105456DF99C2}"/>
                  </a:ext>
                </a:extLst>
              </p:cNvPr>
              <p:cNvSpPr>
                <a:spLocks noChangeArrowheads="1"/>
              </p:cNvSpPr>
              <p:nvPr/>
            </p:nvSpPr>
            <p:spPr bwMode="auto">
              <a:xfrm>
                <a:off x="381000" y="34290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grpSp>
          <p:nvGrpSpPr>
            <p:cNvPr id="39" name="Group 120">
              <a:extLst>
                <a:ext uri="{FF2B5EF4-FFF2-40B4-BE49-F238E27FC236}">
                  <a16:creationId xmlns:a16="http://schemas.microsoft.com/office/drawing/2014/main" id="{2B41C48C-CFD2-4096-94A3-DCF851BCA875}"/>
                </a:ext>
              </a:extLst>
            </p:cNvPr>
            <p:cNvGrpSpPr>
              <a:grpSpLocks/>
            </p:cNvGrpSpPr>
            <p:nvPr/>
          </p:nvGrpSpPr>
          <p:grpSpPr bwMode="auto">
            <a:xfrm>
              <a:off x="276007" y="2611787"/>
              <a:ext cx="1178183" cy="40643"/>
              <a:chOff x="381000" y="3733800"/>
              <a:chExt cx="2209800" cy="76200"/>
            </a:xfrm>
          </p:grpSpPr>
          <p:cxnSp>
            <p:nvCxnSpPr>
              <p:cNvPr id="50" name="Straight Connector 35">
                <a:extLst>
                  <a:ext uri="{FF2B5EF4-FFF2-40B4-BE49-F238E27FC236}">
                    <a16:creationId xmlns:a16="http://schemas.microsoft.com/office/drawing/2014/main" id="{C474720C-58D2-428A-9CAE-1F1C82564F89}"/>
                  </a:ext>
                </a:extLst>
              </p:cNvPr>
              <p:cNvCxnSpPr>
                <a:cxnSpLocks noChangeShapeType="1"/>
                <a:stCxn id="53" idx="3"/>
                <a:endCxn id="51" idx="1"/>
              </p:cNvCxnSpPr>
              <p:nvPr/>
            </p:nvCxnSpPr>
            <p:spPr bwMode="auto">
              <a:xfrm>
                <a:off x="533400" y="3771900"/>
                <a:ext cx="152400" cy="1588"/>
              </a:xfrm>
              <a:prstGeom prst="line">
                <a:avLst/>
              </a:prstGeom>
              <a:noFill/>
              <a:ln w="9525">
                <a:solidFill>
                  <a:schemeClr val="tx1"/>
                </a:solidFill>
                <a:round/>
                <a:headEnd/>
                <a:tailEnd/>
              </a:ln>
            </p:spPr>
          </p:cxnSp>
          <p:sp>
            <p:nvSpPr>
              <p:cNvPr id="51" name="Rectangle 36">
                <a:extLst>
                  <a:ext uri="{FF2B5EF4-FFF2-40B4-BE49-F238E27FC236}">
                    <a16:creationId xmlns:a16="http://schemas.microsoft.com/office/drawing/2014/main" id="{B60CD731-22C1-49ED-80AC-D94E21256CF8}"/>
                  </a:ext>
                </a:extLst>
              </p:cNvPr>
              <p:cNvSpPr>
                <a:spLocks noChangeArrowheads="1"/>
              </p:cNvSpPr>
              <p:nvPr/>
            </p:nvSpPr>
            <p:spPr bwMode="auto">
              <a:xfrm>
                <a:off x="685800" y="3733800"/>
                <a:ext cx="1219200" cy="76200"/>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cxnSp>
            <p:nvCxnSpPr>
              <p:cNvPr id="52" name="Straight Connector 37">
                <a:extLst>
                  <a:ext uri="{FF2B5EF4-FFF2-40B4-BE49-F238E27FC236}">
                    <a16:creationId xmlns:a16="http://schemas.microsoft.com/office/drawing/2014/main" id="{3179EF1E-880C-40AF-AA0C-3EAAF1899910}"/>
                  </a:ext>
                </a:extLst>
              </p:cNvPr>
              <p:cNvCxnSpPr>
                <a:cxnSpLocks noChangeShapeType="1"/>
                <a:stCxn id="51" idx="3"/>
                <a:endCxn id="54" idx="1"/>
              </p:cNvCxnSpPr>
              <p:nvPr/>
            </p:nvCxnSpPr>
            <p:spPr bwMode="auto">
              <a:xfrm>
                <a:off x="1905000" y="3771900"/>
                <a:ext cx="533400" cy="1588"/>
              </a:xfrm>
              <a:prstGeom prst="line">
                <a:avLst/>
              </a:prstGeom>
              <a:noFill/>
              <a:ln w="9525">
                <a:solidFill>
                  <a:schemeClr val="tx1"/>
                </a:solidFill>
                <a:round/>
                <a:headEnd/>
                <a:tailEnd/>
              </a:ln>
            </p:spPr>
          </p:cxnSp>
          <p:sp>
            <p:nvSpPr>
              <p:cNvPr id="53" name="Rectangle 38">
                <a:extLst>
                  <a:ext uri="{FF2B5EF4-FFF2-40B4-BE49-F238E27FC236}">
                    <a16:creationId xmlns:a16="http://schemas.microsoft.com/office/drawing/2014/main" id="{3AF2FF9A-5BC0-47C7-B1F6-E2892F9C12BE}"/>
                  </a:ext>
                </a:extLst>
              </p:cNvPr>
              <p:cNvSpPr>
                <a:spLocks noChangeArrowheads="1"/>
              </p:cNvSpPr>
              <p:nvPr/>
            </p:nvSpPr>
            <p:spPr bwMode="auto">
              <a:xfrm>
                <a:off x="381000" y="37338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sp>
            <p:nvSpPr>
              <p:cNvPr id="54" name="Rectangle 39">
                <a:extLst>
                  <a:ext uri="{FF2B5EF4-FFF2-40B4-BE49-F238E27FC236}">
                    <a16:creationId xmlns:a16="http://schemas.microsoft.com/office/drawing/2014/main" id="{948B7D68-B4DE-463B-BE90-2B366C25BA63}"/>
                  </a:ext>
                </a:extLst>
              </p:cNvPr>
              <p:cNvSpPr>
                <a:spLocks noChangeArrowheads="1"/>
              </p:cNvSpPr>
              <p:nvPr/>
            </p:nvSpPr>
            <p:spPr bwMode="auto">
              <a:xfrm>
                <a:off x="2438400" y="37338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grpSp>
          <p:nvGrpSpPr>
            <p:cNvPr id="40" name="Group 119">
              <a:extLst>
                <a:ext uri="{FF2B5EF4-FFF2-40B4-BE49-F238E27FC236}">
                  <a16:creationId xmlns:a16="http://schemas.microsoft.com/office/drawing/2014/main" id="{9F36F1C9-7247-4510-AF0D-D0319853F2B0}"/>
                </a:ext>
              </a:extLst>
            </p:cNvPr>
            <p:cNvGrpSpPr>
              <a:grpSpLocks/>
            </p:cNvGrpSpPr>
            <p:nvPr/>
          </p:nvGrpSpPr>
          <p:grpSpPr bwMode="auto">
            <a:xfrm>
              <a:off x="357260" y="2709669"/>
              <a:ext cx="1096926" cy="40627"/>
              <a:chOff x="533400" y="4038600"/>
              <a:chExt cx="2057400" cy="76200"/>
            </a:xfrm>
          </p:grpSpPr>
          <p:sp>
            <p:nvSpPr>
              <p:cNvPr id="47" name="Rectangle 32">
                <a:extLst>
                  <a:ext uri="{FF2B5EF4-FFF2-40B4-BE49-F238E27FC236}">
                    <a16:creationId xmlns:a16="http://schemas.microsoft.com/office/drawing/2014/main" id="{446A7076-4BFD-44FF-A6EE-955D7E7F01C5}"/>
                  </a:ext>
                </a:extLst>
              </p:cNvPr>
              <p:cNvSpPr>
                <a:spLocks noChangeArrowheads="1"/>
              </p:cNvSpPr>
              <p:nvPr/>
            </p:nvSpPr>
            <p:spPr bwMode="auto">
              <a:xfrm>
                <a:off x="533400" y="4038600"/>
                <a:ext cx="1219200" cy="76200"/>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cxnSp>
            <p:nvCxnSpPr>
              <p:cNvPr id="48" name="Straight Connector 33">
                <a:extLst>
                  <a:ext uri="{FF2B5EF4-FFF2-40B4-BE49-F238E27FC236}">
                    <a16:creationId xmlns:a16="http://schemas.microsoft.com/office/drawing/2014/main" id="{5C4795DA-0293-4500-95CE-CC8ECB48F2AA}"/>
                  </a:ext>
                </a:extLst>
              </p:cNvPr>
              <p:cNvCxnSpPr>
                <a:cxnSpLocks noChangeShapeType="1"/>
                <a:stCxn id="47" idx="3"/>
                <a:endCxn id="49" idx="1"/>
              </p:cNvCxnSpPr>
              <p:nvPr/>
            </p:nvCxnSpPr>
            <p:spPr bwMode="auto">
              <a:xfrm>
                <a:off x="1752600" y="4076700"/>
                <a:ext cx="685800" cy="1588"/>
              </a:xfrm>
              <a:prstGeom prst="line">
                <a:avLst/>
              </a:prstGeom>
              <a:noFill/>
              <a:ln w="9525">
                <a:solidFill>
                  <a:schemeClr val="tx1"/>
                </a:solidFill>
                <a:round/>
                <a:headEnd/>
                <a:tailEnd/>
              </a:ln>
            </p:spPr>
          </p:cxnSp>
          <p:sp>
            <p:nvSpPr>
              <p:cNvPr id="49" name="Rectangle 34">
                <a:extLst>
                  <a:ext uri="{FF2B5EF4-FFF2-40B4-BE49-F238E27FC236}">
                    <a16:creationId xmlns:a16="http://schemas.microsoft.com/office/drawing/2014/main" id="{A34A383A-97A7-46DD-B8C2-8718EF231193}"/>
                  </a:ext>
                </a:extLst>
              </p:cNvPr>
              <p:cNvSpPr>
                <a:spLocks noChangeArrowheads="1"/>
              </p:cNvSpPr>
              <p:nvPr/>
            </p:nvSpPr>
            <p:spPr bwMode="auto">
              <a:xfrm>
                <a:off x="2438400" y="40386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grpSp>
          <p:nvGrpSpPr>
            <p:cNvPr id="41" name="Group 130">
              <a:extLst>
                <a:ext uri="{FF2B5EF4-FFF2-40B4-BE49-F238E27FC236}">
                  <a16:creationId xmlns:a16="http://schemas.microsoft.com/office/drawing/2014/main" id="{8D7F28F5-3DDB-47A8-B191-17AC951377F9}"/>
                </a:ext>
              </a:extLst>
            </p:cNvPr>
            <p:cNvGrpSpPr>
              <a:grpSpLocks/>
            </p:cNvGrpSpPr>
            <p:nvPr/>
          </p:nvGrpSpPr>
          <p:grpSpPr bwMode="auto">
            <a:xfrm>
              <a:off x="276004" y="2019013"/>
              <a:ext cx="1178178" cy="40627"/>
              <a:chOff x="381000" y="1905000"/>
              <a:chExt cx="2209800" cy="76200"/>
            </a:xfrm>
          </p:grpSpPr>
          <p:sp>
            <p:nvSpPr>
              <p:cNvPr id="42" name="Rectangle 27">
                <a:extLst>
                  <a:ext uri="{FF2B5EF4-FFF2-40B4-BE49-F238E27FC236}">
                    <a16:creationId xmlns:a16="http://schemas.microsoft.com/office/drawing/2014/main" id="{A84F2349-9477-4518-84E5-EB5C0309D9A4}"/>
                  </a:ext>
                </a:extLst>
              </p:cNvPr>
              <p:cNvSpPr>
                <a:spLocks noChangeArrowheads="1"/>
              </p:cNvSpPr>
              <p:nvPr/>
            </p:nvSpPr>
            <p:spPr bwMode="auto">
              <a:xfrm>
                <a:off x="890494" y="1905000"/>
                <a:ext cx="1371600" cy="76200"/>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a:p>
            </p:txBody>
          </p:sp>
          <p:cxnSp>
            <p:nvCxnSpPr>
              <p:cNvPr id="43" name="Straight Connector 28">
                <a:extLst>
                  <a:ext uri="{FF2B5EF4-FFF2-40B4-BE49-F238E27FC236}">
                    <a16:creationId xmlns:a16="http://schemas.microsoft.com/office/drawing/2014/main" id="{747687A3-23AD-4357-BF5F-E640D1B0D701}"/>
                  </a:ext>
                </a:extLst>
              </p:cNvPr>
              <p:cNvCxnSpPr>
                <a:cxnSpLocks noChangeShapeType="1"/>
                <a:stCxn id="45" idx="3"/>
                <a:endCxn id="42" idx="1"/>
              </p:cNvCxnSpPr>
              <p:nvPr/>
            </p:nvCxnSpPr>
            <p:spPr bwMode="auto">
              <a:xfrm>
                <a:off x="533400" y="1943100"/>
                <a:ext cx="357094" cy="1588"/>
              </a:xfrm>
              <a:prstGeom prst="line">
                <a:avLst/>
              </a:prstGeom>
              <a:noFill/>
              <a:ln w="9525">
                <a:solidFill>
                  <a:schemeClr val="tx1"/>
                </a:solidFill>
                <a:round/>
                <a:headEnd/>
                <a:tailEnd/>
              </a:ln>
            </p:spPr>
          </p:cxnSp>
          <p:cxnSp>
            <p:nvCxnSpPr>
              <p:cNvPr id="44" name="Straight Connector 29">
                <a:extLst>
                  <a:ext uri="{FF2B5EF4-FFF2-40B4-BE49-F238E27FC236}">
                    <a16:creationId xmlns:a16="http://schemas.microsoft.com/office/drawing/2014/main" id="{9FF7E2CA-6628-4912-989C-9D4BF2C7E9D4}"/>
                  </a:ext>
                </a:extLst>
              </p:cNvPr>
              <p:cNvCxnSpPr>
                <a:cxnSpLocks noChangeShapeType="1"/>
                <a:stCxn id="42" idx="3"/>
                <a:endCxn id="46" idx="1"/>
              </p:cNvCxnSpPr>
              <p:nvPr/>
            </p:nvCxnSpPr>
            <p:spPr bwMode="auto">
              <a:xfrm>
                <a:off x="2262094" y="1943100"/>
                <a:ext cx="176306" cy="1588"/>
              </a:xfrm>
              <a:prstGeom prst="line">
                <a:avLst/>
              </a:prstGeom>
              <a:noFill/>
              <a:ln w="9525">
                <a:solidFill>
                  <a:schemeClr val="tx1"/>
                </a:solidFill>
                <a:round/>
                <a:headEnd/>
                <a:tailEnd/>
              </a:ln>
            </p:spPr>
          </p:cxnSp>
          <p:sp>
            <p:nvSpPr>
              <p:cNvPr id="45" name="Rectangle 30">
                <a:extLst>
                  <a:ext uri="{FF2B5EF4-FFF2-40B4-BE49-F238E27FC236}">
                    <a16:creationId xmlns:a16="http://schemas.microsoft.com/office/drawing/2014/main" id="{5A918F25-FD16-4A5A-9BA1-E75CEB6E56C3}"/>
                  </a:ext>
                </a:extLst>
              </p:cNvPr>
              <p:cNvSpPr>
                <a:spLocks noChangeArrowheads="1"/>
              </p:cNvSpPr>
              <p:nvPr/>
            </p:nvSpPr>
            <p:spPr bwMode="auto">
              <a:xfrm>
                <a:off x="381000" y="19050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sp>
            <p:nvSpPr>
              <p:cNvPr id="46" name="Rectangle 31">
                <a:extLst>
                  <a:ext uri="{FF2B5EF4-FFF2-40B4-BE49-F238E27FC236}">
                    <a16:creationId xmlns:a16="http://schemas.microsoft.com/office/drawing/2014/main" id="{A83EE561-76AB-4571-B504-4F7DB7121B84}"/>
                  </a:ext>
                </a:extLst>
              </p:cNvPr>
              <p:cNvSpPr>
                <a:spLocks noChangeArrowheads="1"/>
              </p:cNvSpPr>
              <p:nvPr/>
            </p:nvSpPr>
            <p:spPr bwMode="auto">
              <a:xfrm>
                <a:off x="2438400" y="19050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grpSp>
      <p:sp>
        <p:nvSpPr>
          <p:cNvPr id="79" name="TextBox 55">
            <a:extLst>
              <a:ext uri="{FF2B5EF4-FFF2-40B4-BE49-F238E27FC236}">
                <a16:creationId xmlns:a16="http://schemas.microsoft.com/office/drawing/2014/main" id="{45E8DE33-BD5F-4022-8451-0EB713F96408}"/>
              </a:ext>
            </a:extLst>
          </p:cNvPr>
          <p:cNvSpPr txBox="1">
            <a:spLocks noChangeArrowheads="1"/>
          </p:cNvSpPr>
          <p:nvPr/>
        </p:nvSpPr>
        <p:spPr bwMode="auto">
          <a:xfrm>
            <a:off x="600495" y="3382549"/>
            <a:ext cx="1066983" cy="954107"/>
          </a:xfrm>
          <a:prstGeom prst="rect">
            <a:avLst/>
          </a:prstGeom>
          <a:noFill/>
          <a:ln w="9525">
            <a:noFill/>
            <a:miter lim="800000"/>
            <a:headEnd/>
            <a:tailEnd/>
          </a:ln>
        </p:spPr>
        <p:txBody>
          <a:bodyPr>
            <a:prstTxWarp prst="textNoShape">
              <a:avLst/>
            </a:prstTxWarp>
            <a:spAutoFit/>
          </a:bodyPr>
          <a:lstStyle/>
          <a:p>
            <a:pPr algn="ctr"/>
            <a:r>
              <a:rPr lang="en-US" sz="1400" dirty="0"/>
              <a:t>Enormous pile of short reads from sequencer</a:t>
            </a:r>
          </a:p>
        </p:txBody>
      </p:sp>
      <p:sp>
        <p:nvSpPr>
          <p:cNvPr id="81" name="Left Brace 80">
            <a:extLst>
              <a:ext uri="{FF2B5EF4-FFF2-40B4-BE49-F238E27FC236}">
                <a16:creationId xmlns:a16="http://schemas.microsoft.com/office/drawing/2014/main" id="{9449EBBF-8303-4C24-967D-097E3A2C8C87}"/>
              </a:ext>
            </a:extLst>
          </p:cNvPr>
          <p:cNvSpPr/>
          <p:nvPr/>
        </p:nvSpPr>
        <p:spPr bwMode="auto">
          <a:xfrm rot="16200000">
            <a:off x="1033755" y="2774692"/>
            <a:ext cx="190117" cy="1025597"/>
          </a:xfrm>
          <a:prstGeom prst="leftBrace">
            <a:avLst/>
          </a:prstGeom>
          <a:no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prstTxWarp prst="textNoShape">
              <a:avLst/>
            </a:prstTxWarp>
          </a:bodyPr>
          <a:lstStyle/>
          <a:p>
            <a:pPr defTabSz="914400" eaLnBrk="0" hangingPunct="0">
              <a:defRPr/>
            </a:pPr>
            <a:endParaRPr lang="en-US" sz="2400">
              <a:solidFill>
                <a:schemeClr val="tx1"/>
              </a:solidFill>
              <a:latin typeface="Arial" pitchFamily="28" charset="0"/>
              <a:ea typeface="ＭＳ Ｐゴシック" pitchFamily="28" charset="-128"/>
              <a:cs typeface="ＭＳ Ｐゴシック" pitchFamily="28" charset="-128"/>
            </a:endParaRPr>
          </a:p>
        </p:txBody>
      </p:sp>
      <p:sp>
        <p:nvSpPr>
          <p:cNvPr id="83" name="Bent Arrow 45">
            <a:extLst>
              <a:ext uri="{FF2B5EF4-FFF2-40B4-BE49-F238E27FC236}">
                <a16:creationId xmlns:a16="http://schemas.microsoft.com/office/drawing/2014/main" id="{032BEAE8-4435-4C99-B4FF-4A35442DEDBF}"/>
              </a:ext>
            </a:extLst>
          </p:cNvPr>
          <p:cNvSpPr/>
          <p:nvPr/>
        </p:nvSpPr>
        <p:spPr>
          <a:xfrm rot="5400000">
            <a:off x="2361416" y="1790169"/>
            <a:ext cx="1755025" cy="2407480"/>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anchor="ctr">
            <a:prstTxWarp prst="textNoShape">
              <a:avLst/>
            </a:prstTxWarp>
          </a:bodyPr>
          <a:lstStyle/>
          <a:p>
            <a:pPr algn="ctr">
              <a:defRPr/>
            </a:pPr>
            <a:endParaRPr lang="en-US">
              <a:solidFill>
                <a:schemeClr val="tx1"/>
              </a:solidFill>
              <a:ea typeface="ＭＳ Ｐゴシック" pitchFamily="28" charset="-128"/>
              <a:cs typeface="ＭＳ Ｐゴシック" pitchFamily="28" charset="-128"/>
            </a:endParaRPr>
          </a:p>
        </p:txBody>
      </p:sp>
      <p:sp>
        <p:nvSpPr>
          <p:cNvPr id="86" name="TextBox 85">
            <a:extLst>
              <a:ext uri="{FF2B5EF4-FFF2-40B4-BE49-F238E27FC236}">
                <a16:creationId xmlns:a16="http://schemas.microsoft.com/office/drawing/2014/main" id="{FBD5CBED-635E-43A0-B339-97978A758BD4}"/>
              </a:ext>
            </a:extLst>
          </p:cNvPr>
          <p:cNvSpPr txBox="1"/>
          <p:nvPr/>
        </p:nvSpPr>
        <p:spPr>
          <a:xfrm>
            <a:off x="2248588" y="2015232"/>
            <a:ext cx="1127769"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prstTxWarp prst="textNoShape">
              <a:avLst/>
            </a:prstTxWarp>
            <a:spAutoFit/>
          </a:bodyPr>
          <a:lstStyle/>
          <a:p>
            <a:pPr algn="ctr">
              <a:defRPr/>
            </a:pPr>
            <a:r>
              <a:rPr lang="en-US" sz="1200" b="1" dirty="0">
                <a:solidFill>
                  <a:schemeClr val="bg1"/>
                </a:solidFill>
                <a:ea typeface="ＭＳ Ｐゴシック" pitchFamily="28" charset="-128"/>
                <a:cs typeface="ＭＳ Ｐゴシック" pitchFamily="28" charset="-128"/>
              </a:rPr>
              <a:t>Mapping and alignment algorithms</a:t>
            </a:r>
          </a:p>
        </p:txBody>
      </p:sp>
      <p:cxnSp>
        <p:nvCxnSpPr>
          <p:cNvPr id="91" name="Straight Connector 98">
            <a:extLst>
              <a:ext uri="{FF2B5EF4-FFF2-40B4-BE49-F238E27FC236}">
                <a16:creationId xmlns:a16="http://schemas.microsoft.com/office/drawing/2014/main" id="{949D5A20-499F-4050-BD0A-4A69578BEB9E}"/>
              </a:ext>
            </a:extLst>
          </p:cNvPr>
          <p:cNvCxnSpPr>
            <a:cxnSpLocks noChangeShapeType="1"/>
          </p:cNvCxnSpPr>
          <p:nvPr/>
        </p:nvCxnSpPr>
        <p:spPr bwMode="auto">
          <a:xfrm>
            <a:off x="600495" y="2714760"/>
            <a:ext cx="1066935" cy="992"/>
          </a:xfrm>
          <a:prstGeom prst="line">
            <a:avLst/>
          </a:prstGeom>
          <a:noFill/>
          <a:ln w="9525">
            <a:solidFill>
              <a:schemeClr val="tx1"/>
            </a:solidFill>
            <a:round/>
            <a:headEnd/>
            <a:tailEnd/>
          </a:ln>
        </p:spPr>
      </p:cxnSp>
      <p:sp>
        <p:nvSpPr>
          <p:cNvPr id="92" name="Rectangle 99">
            <a:extLst>
              <a:ext uri="{FF2B5EF4-FFF2-40B4-BE49-F238E27FC236}">
                <a16:creationId xmlns:a16="http://schemas.microsoft.com/office/drawing/2014/main" id="{7052A18E-EDA6-4DD8-A101-55C5E62E1F70}"/>
              </a:ext>
            </a:extLst>
          </p:cNvPr>
          <p:cNvSpPr>
            <a:spLocks noChangeArrowheads="1"/>
          </p:cNvSpPr>
          <p:nvPr/>
        </p:nvSpPr>
        <p:spPr bwMode="auto">
          <a:xfrm>
            <a:off x="866352" y="2690951"/>
            <a:ext cx="683632" cy="47619"/>
          </a:xfrm>
          <a:prstGeom prst="rect">
            <a:avLst/>
          </a:prstGeom>
          <a:solidFill>
            <a:srgbClr val="E46C0A"/>
          </a:solidFill>
          <a:ln w="9525">
            <a:solidFill>
              <a:schemeClr val="tx1"/>
            </a:solidFill>
            <a:round/>
            <a:headEnd/>
            <a:tailEnd/>
          </a:ln>
        </p:spPr>
        <p:txBody>
          <a:bodyPr anchor="ctr">
            <a:prstTxWarp prst="textNoShape">
              <a:avLst/>
            </a:prstTxWarp>
          </a:bodyPr>
          <a:lstStyle/>
          <a:p>
            <a:pPr algn="ctr"/>
            <a:endParaRPr lang="en-US" sz="2000"/>
          </a:p>
        </p:txBody>
      </p:sp>
      <p:cxnSp>
        <p:nvCxnSpPr>
          <p:cNvPr id="93" name="Straight Connector 35">
            <a:extLst>
              <a:ext uri="{FF2B5EF4-FFF2-40B4-BE49-F238E27FC236}">
                <a16:creationId xmlns:a16="http://schemas.microsoft.com/office/drawing/2014/main" id="{444C5F57-AA5D-4E7C-B198-54E5C108985F}"/>
              </a:ext>
            </a:extLst>
          </p:cNvPr>
          <p:cNvCxnSpPr>
            <a:cxnSpLocks noChangeShapeType="1"/>
            <a:endCxn id="94" idx="1"/>
          </p:cNvCxnSpPr>
          <p:nvPr/>
        </p:nvCxnSpPr>
        <p:spPr bwMode="auto">
          <a:xfrm>
            <a:off x="602708" y="2815129"/>
            <a:ext cx="84111" cy="877"/>
          </a:xfrm>
          <a:prstGeom prst="line">
            <a:avLst/>
          </a:prstGeom>
          <a:noFill/>
          <a:ln w="9525">
            <a:solidFill>
              <a:schemeClr val="tx1"/>
            </a:solidFill>
            <a:round/>
            <a:headEnd/>
            <a:tailEnd/>
          </a:ln>
        </p:spPr>
      </p:cxnSp>
      <p:sp>
        <p:nvSpPr>
          <p:cNvPr id="94" name="Rectangle 36">
            <a:extLst>
              <a:ext uri="{FF2B5EF4-FFF2-40B4-BE49-F238E27FC236}">
                <a16:creationId xmlns:a16="http://schemas.microsoft.com/office/drawing/2014/main" id="{6C60C86A-3481-4DE9-AF30-3EB09CF0AC79}"/>
              </a:ext>
            </a:extLst>
          </p:cNvPr>
          <p:cNvSpPr>
            <a:spLocks noChangeArrowheads="1"/>
          </p:cNvSpPr>
          <p:nvPr/>
        </p:nvSpPr>
        <p:spPr bwMode="auto">
          <a:xfrm>
            <a:off x="686818" y="2794104"/>
            <a:ext cx="672882" cy="42049"/>
          </a:xfrm>
          <a:prstGeom prst="rect">
            <a:avLst/>
          </a:prstGeom>
          <a:solidFill>
            <a:srgbClr val="E46C0A"/>
          </a:solidFill>
          <a:ln w="9525">
            <a:solidFill>
              <a:schemeClr val="tx1"/>
            </a:solidFill>
            <a:round/>
            <a:headEnd/>
            <a:tailEnd/>
          </a:ln>
        </p:spPr>
        <p:txBody>
          <a:bodyPr anchor="ctr">
            <a:prstTxWarp prst="textNoShape">
              <a:avLst/>
            </a:prstTxWarp>
          </a:bodyPr>
          <a:lstStyle/>
          <a:p>
            <a:pPr algn="ctr"/>
            <a:endParaRPr lang="en-US" sz="2000"/>
          </a:p>
        </p:txBody>
      </p:sp>
      <p:cxnSp>
        <p:nvCxnSpPr>
          <p:cNvPr id="95" name="Straight Connector 37">
            <a:extLst>
              <a:ext uri="{FF2B5EF4-FFF2-40B4-BE49-F238E27FC236}">
                <a16:creationId xmlns:a16="http://schemas.microsoft.com/office/drawing/2014/main" id="{93BFD6AD-70A0-42AC-8070-D2868147182E}"/>
              </a:ext>
            </a:extLst>
          </p:cNvPr>
          <p:cNvCxnSpPr>
            <a:cxnSpLocks noChangeShapeType="1"/>
            <a:stCxn id="94" idx="3"/>
          </p:cNvCxnSpPr>
          <p:nvPr/>
        </p:nvCxnSpPr>
        <p:spPr bwMode="auto">
          <a:xfrm>
            <a:off x="1359700" y="2815129"/>
            <a:ext cx="294386" cy="877"/>
          </a:xfrm>
          <a:prstGeom prst="line">
            <a:avLst/>
          </a:prstGeom>
          <a:noFill/>
          <a:ln w="9525">
            <a:solidFill>
              <a:schemeClr val="tx1"/>
            </a:solidFill>
            <a:round/>
            <a:headEnd/>
            <a:tailEnd/>
          </a:ln>
        </p:spPr>
      </p:cxnSp>
      <p:sp>
        <p:nvSpPr>
          <p:cNvPr id="96" name="Rectangle 90">
            <a:extLst>
              <a:ext uri="{FF2B5EF4-FFF2-40B4-BE49-F238E27FC236}">
                <a16:creationId xmlns:a16="http://schemas.microsoft.com/office/drawing/2014/main" id="{FE0A2524-9890-43A1-9E17-8F09781E7620}"/>
              </a:ext>
            </a:extLst>
          </p:cNvPr>
          <p:cNvSpPr>
            <a:spLocks noChangeArrowheads="1"/>
          </p:cNvSpPr>
          <p:nvPr/>
        </p:nvSpPr>
        <p:spPr bwMode="auto">
          <a:xfrm>
            <a:off x="606607" y="2889774"/>
            <a:ext cx="607673" cy="47600"/>
          </a:xfrm>
          <a:prstGeom prst="rect">
            <a:avLst/>
          </a:prstGeom>
          <a:solidFill>
            <a:srgbClr val="E46C0A"/>
          </a:solidFill>
          <a:ln w="9525">
            <a:solidFill>
              <a:schemeClr val="tx1"/>
            </a:solidFill>
            <a:round/>
            <a:headEnd/>
            <a:tailEnd/>
          </a:ln>
        </p:spPr>
        <p:txBody>
          <a:bodyPr anchor="ctr">
            <a:prstTxWarp prst="textNoShape">
              <a:avLst/>
            </a:prstTxWarp>
          </a:bodyPr>
          <a:lstStyle/>
          <a:p>
            <a:pPr algn="ctr"/>
            <a:endParaRPr lang="en-US" sz="2000"/>
          </a:p>
        </p:txBody>
      </p:sp>
      <p:cxnSp>
        <p:nvCxnSpPr>
          <p:cNvPr id="97" name="Straight Connector 91">
            <a:extLst>
              <a:ext uri="{FF2B5EF4-FFF2-40B4-BE49-F238E27FC236}">
                <a16:creationId xmlns:a16="http://schemas.microsoft.com/office/drawing/2014/main" id="{8AB3A6FF-8D8E-4156-9B2B-F126956337C0}"/>
              </a:ext>
            </a:extLst>
          </p:cNvPr>
          <p:cNvCxnSpPr>
            <a:cxnSpLocks noChangeShapeType="1"/>
            <a:stCxn id="96" idx="3"/>
          </p:cNvCxnSpPr>
          <p:nvPr/>
        </p:nvCxnSpPr>
        <p:spPr bwMode="auto">
          <a:xfrm>
            <a:off x="1214280" y="2913574"/>
            <a:ext cx="439806" cy="0"/>
          </a:xfrm>
          <a:prstGeom prst="line">
            <a:avLst/>
          </a:prstGeom>
          <a:noFill/>
          <a:ln w="9525">
            <a:solidFill>
              <a:schemeClr val="tx1"/>
            </a:solidFill>
            <a:round/>
            <a:headEnd/>
            <a:tailEnd/>
          </a:ln>
        </p:spPr>
      </p:cxnSp>
      <p:grpSp>
        <p:nvGrpSpPr>
          <p:cNvPr id="98" name="Group 97">
            <a:extLst>
              <a:ext uri="{FF2B5EF4-FFF2-40B4-BE49-F238E27FC236}">
                <a16:creationId xmlns:a16="http://schemas.microsoft.com/office/drawing/2014/main" id="{A7D84796-1DC5-46E6-8DE4-56728DD5AF97}"/>
              </a:ext>
            </a:extLst>
          </p:cNvPr>
          <p:cNvGrpSpPr/>
          <p:nvPr/>
        </p:nvGrpSpPr>
        <p:grpSpPr>
          <a:xfrm>
            <a:off x="1967121" y="4098056"/>
            <a:ext cx="4945693" cy="935426"/>
            <a:chOff x="2617841" y="4691469"/>
            <a:chExt cx="6070679" cy="1148207"/>
          </a:xfrm>
        </p:grpSpPr>
        <p:grpSp>
          <p:nvGrpSpPr>
            <p:cNvPr id="99" name="Group 223">
              <a:extLst>
                <a:ext uri="{FF2B5EF4-FFF2-40B4-BE49-F238E27FC236}">
                  <a16:creationId xmlns:a16="http://schemas.microsoft.com/office/drawing/2014/main" id="{32D2FAB1-B4FA-49E0-BAAD-87A40F6718E4}"/>
                </a:ext>
              </a:extLst>
            </p:cNvPr>
            <p:cNvGrpSpPr>
              <a:grpSpLocks/>
            </p:cNvGrpSpPr>
            <p:nvPr/>
          </p:nvGrpSpPr>
          <p:grpSpPr bwMode="auto">
            <a:xfrm>
              <a:off x="2617841" y="4691469"/>
              <a:ext cx="6070679" cy="1148207"/>
              <a:chOff x="276004" y="3137517"/>
              <a:chExt cx="5290429" cy="798389"/>
            </a:xfrm>
          </p:grpSpPr>
          <p:sp>
            <p:nvSpPr>
              <p:cNvPr id="107" name="Rectangle 60">
                <a:extLst>
                  <a:ext uri="{FF2B5EF4-FFF2-40B4-BE49-F238E27FC236}">
                    <a16:creationId xmlns:a16="http://schemas.microsoft.com/office/drawing/2014/main" id="{B1F046D4-7641-4ECD-BCD5-7ED10365186D}"/>
                  </a:ext>
                </a:extLst>
              </p:cNvPr>
              <p:cNvSpPr>
                <a:spLocks noChangeArrowheads="1"/>
              </p:cNvSpPr>
              <p:nvPr/>
            </p:nvSpPr>
            <p:spPr bwMode="auto">
              <a:xfrm>
                <a:off x="763528" y="3372934"/>
                <a:ext cx="81254" cy="40627"/>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u="sng"/>
              </a:p>
            </p:txBody>
          </p:sp>
          <p:sp>
            <p:nvSpPr>
              <p:cNvPr id="108" name="Rectangle 61">
                <a:extLst>
                  <a:ext uri="{FF2B5EF4-FFF2-40B4-BE49-F238E27FC236}">
                    <a16:creationId xmlns:a16="http://schemas.microsoft.com/office/drawing/2014/main" id="{F6EA9079-8C50-446B-924C-E86A2855EB34}"/>
                  </a:ext>
                </a:extLst>
              </p:cNvPr>
              <p:cNvSpPr>
                <a:spLocks noChangeArrowheads="1"/>
              </p:cNvSpPr>
              <p:nvPr/>
            </p:nvSpPr>
            <p:spPr bwMode="auto">
              <a:xfrm>
                <a:off x="547648" y="3232587"/>
                <a:ext cx="731283" cy="40627"/>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a:p>
            </p:txBody>
          </p:sp>
          <p:sp>
            <p:nvSpPr>
              <p:cNvPr id="109" name="Rectangle 62">
                <a:extLst>
                  <a:ext uri="{FF2B5EF4-FFF2-40B4-BE49-F238E27FC236}">
                    <a16:creationId xmlns:a16="http://schemas.microsoft.com/office/drawing/2014/main" id="{0553FE69-6130-4368-AA5B-2B0973C3C4F6}"/>
                  </a:ext>
                </a:extLst>
              </p:cNvPr>
              <p:cNvSpPr>
                <a:spLocks noChangeArrowheads="1"/>
              </p:cNvSpPr>
              <p:nvPr/>
            </p:nvSpPr>
            <p:spPr bwMode="auto">
              <a:xfrm>
                <a:off x="1685200" y="3232587"/>
                <a:ext cx="731283" cy="40627"/>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sp>
            <p:nvSpPr>
              <p:cNvPr id="110" name="Rectangle 63">
                <a:extLst>
                  <a:ext uri="{FF2B5EF4-FFF2-40B4-BE49-F238E27FC236}">
                    <a16:creationId xmlns:a16="http://schemas.microsoft.com/office/drawing/2014/main" id="{C2CA11AA-6668-45DB-A4E6-8D343C74535B}"/>
                  </a:ext>
                </a:extLst>
              </p:cNvPr>
              <p:cNvSpPr>
                <a:spLocks noChangeArrowheads="1"/>
              </p:cNvSpPr>
              <p:nvPr/>
            </p:nvSpPr>
            <p:spPr bwMode="auto">
              <a:xfrm>
                <a:off x="2822751" y="3232587"/>
                <a:ext cx="731283" cy="40627"/>
              </a:xfrm>
              <a:prstGeom prst="rect">
                <a:avLst/>
              </a:prstGeom>
              <a:solidFill>
                <a:schemeClr val="accent6">
                  <a:lumMod val="75000"/>
                </a:schemeClr>
              </a:solidFill>
              <a:ln w="9525">
                <a:solidFill>
                  <a:schemeClr val="tx1"/>
                </a:solidFill>
                <a:round/>
                <a:headEnd/>
                <a:tailEnd/>
              </a:ln>
            </p:spPr>
            <p:txBody>
              <a:bodyPr anchor="ctr">
                <a:prstTxWarp prst="textNoShape">
                  <a:avLst/>
                </a:prstTxWarp>
              </a:bodyPr>
              <a:lstStyle/>
              <a:p>
                <a:pPr algn="ctr"/>
                <a:endParaRPr lang="en-US" sz="2000"/>
              </a:p>
            </p:txBody>
          </p:sp>
          <p:cxnSp>
            <p:nvCxnSpPr>
              <p:cNvPr id="111" name="Straight Connector 64">
                <a:extLst>
                  <a:ext uri="{FF2B5EF4-FFF2-40B4-BE49-F238E27FC236}">
                    <a16:creationId xmlns:a16="http://schemas.microsoft.com/office/drawing/2014/main" id="{2AF91A00-9530-4152-86DB-491A9DDE4BEA}"/>
                  </a:ext>
                </a:extLst>
              </p:cNvPr>
              <p:cNvCxnSpPr>
                <a:cxnSpLocks noChangeShapeType="1"/>
                <a:stCxn id="127" idx="3"/>
                <a:endCxn id="108" idx="1"/>
              </p:cNvCxnSpPr>
              <p:nvPr/>
            </p:nvCxnSpPr>
            <p:spPr bwMode="auto">
              <a:xfrm>
                <a:off x="357260" y="3252900"/>
                <a:ext cx="190388" cy="847"/>
              </a:xfrm>
              <a:prstGeom prst="line">
                <a:avLst/>
              </a:prstGeom>
              <a:noFill/>
              <a:ln w="9525">
                <a:solidFill>
                  <a:schemeClr val="tx1"/>
                </a:solidFill>
                <a:round/>
                <a:headEnd/>
                <a:tailEnd/>
              </a:ln>
            </p:spPr>
          </p:cxnSp>
          <p:cxnSp>
            <p:nvCxnSpPr>
              <p:cNvPr id="112" name="Straight Connector 65">
                <a:extLst>
                  <a:ext uri="{FF2B5EF4-FFF2-40B4-BE49-F238E27FC236}">
                    <a16:creationId xmlns:a16="http://schemas.microsoft.com/office/drawing/2014/main" id="{B61D2E1F-E030-4828-A3C9-57843F71B4AD}"/>
                  </a:ext>
                </a:extLst>
              </p:cNvPr>
              <p:cNvCxnSpPr>
                <a:cxnSpLocks noChangeShapeType="1"/>
                <a:stCxn id="108" idx="3"/>
                <a:endCxn id="109" idx="1"/>
              </p:cNvCxnSpPr>
              <p:nvPr/>
            </p:nvCxnSpPr>
            <p:spPr bwMode="auto">
              <a:xfrm>
                <a:off x="1278931" y="3252900"/>
                <a:ext cx="406268" cy="847"/>
              </a:xfrm>
              <a:prstGeom prst="line">
                <a:avLst/>
              </a:prstGeom>
              <a:noFill/>
              <a:ln w="9525">
                <a:solidFill>
                  <a:schemeClr val="tx1"/>
                </a:solidFill>
                <a:round/>
                <a:headEnd/>
                <a:tailEnd/>
              </a:ln>
            </p:spPr>
          </p:cxnSp>
          <p:cxnSp>
            <p:nvCxnSpPr>
              <p:cNvPr id="113" name="Straight Connector 66">
                <a:extLst>
                  <a:ext uri="{FF2B5EF4-FFF2-40B4-BE49-F238E27FC236}">
                    <a16:creationId xmlns:a16="http://schemas.microsoft.com/office/drawing/2014/main" id="{C8702840-7902-4B6B-8292-301946A1F00D}"/>
                  </a:ext>
                </a:extLst>
              </p:cNvPr>
              <p:cNvCxnSpPr>
                <a:cxnSpLocks noChangeShapeType="1"/>
                <a:stCxn id="109" idx="3"/>
                <a:endCxn id="110" idx="1"/>
              </p:cNvCxnSpPr>
              <p:nvPr/>
            </p:nvCxnSpPr>
            <p:spPr bwMode="auto">
              <a:xfrm>
                <a:off x="2416483" y="3252900"/>
                <a:ext cx="406268" cy="847"/>
              </a:xfrm>
              <a:prstGeom prst="line">
                <a:avLst/>
              </a:prstGeom>
              <a:noFill/>
              <a:ln w="9525">
                <a:solidFill>
                  <a:schemeClr val="tx1"/>
                </a:solidFill>
                <a:round/>
                <a:headEnd/>
                <a:tailEnd/>
              </a:ln>
            </p:spPr>
          </p:cxnSp>
          <p:cxnSp>
            <p:nvCxnSpPr>
              <p:cNvPr id="114" name="Straight Connector 67">
                <a:extLst>
                  <a:ext uri="{FF2B5EF4-FFF2-40B4-BE49-F238E27FC236}">
                    <a16:creationId xmlns:a16="http://schemas.microsoft.com/office/drawing/2014/main" id="{990987C0-38ED-4F0F-BB5E-37D23842BEAF}"/>
                  </a:ext>
                </a:extLst>
              </p:cNvPr>
              <p:cNvCxnSpPr>
                <a:cxnSpLocks noChangeShapeType="1"/>
                <a:stCxn id="110" idx="3"/>
              </p:cNvCxnSpPr>
              <p:nvPr/>
            </p:nvCxnSpPr>
            <p:spPr bwMode="auto">
              <a:xfrm>
                <a:off x="3554034" y="3252900"/>
                <a:ext cx="134626" cy="847"/>
              </a:xfrm>
              <a:prstGeom prst="line">
                <a:avLst/>
              </a:prstGeom>
              <a:noFill/>
              <a:ln w="9525">
                <a:solidFill>
                  <a:schemeClr val="tx1"/>
                </a:solidFill>
                <a:round/>
                <a:headEnd/>
                <a:tailEnd/>
              </a:ln>
            </p:spPr>
          </p:cxnSp>
          <p:sp>
            <p:nvSpPr>
              <p:cNvPr id="115" name="TextBox 68">
                <a:extLst>
                  <a:ext uri="{FF2B5EF4-FFF2-40B4-BE49-F238E27FC236}">
                    <a16:creationId xmlns:a16="http://schemas.microsoft.com/office/drawing/2014/main" id="{79EED6F5-EB65-4624-9D89-D72E8336B725}"/>
                  </a:ext>
                </a:extLst>
              </p:cNvPr>
              <p:cNvSpPr txBox="1">
                <a:spLocks noChangeArrowheads="1"/>
              </p:cNvSpPr>
              <p:nvPr/>
            </p:nvSpPr>
            <p:spPr bwMode="auto">
              <a:xfrm>
                <a:off x="3919675" y="3137517"/>
                <a:ext cx="1646758" cy="236419"/>
              </a:xfrm>
              <a:prstGeom prst="rect">
                <a:avLst/>
              </a:prstGeom>
              <a:noFill/>
              <a:ln w="9525">
                <a:noFill/>
                <a:miter lim="800000"/>
                <a:headEnd/>
                <a:tailEnd/>
              </a:ln>
            </p:spPr>
            <p:txBody>
              <a:bodyPr wrap="square">
                <a:prstTxWarp prst="textNoShape">
                  <a:avLst/>
                </a:prstTxWarp>
                <a:spAutoFit/>
              </a:bodyPr>
              <a:lstStyle/>
              <a:p>
                <a:r>
                  <a:rPr lang="en-US" sz="1200" b="1" dirty="0"/>
                  <a:t>Reference genome</a:t>
                </a:r>
              </a:p>
            </p:txBody>
          </p:sp>
          <p:grpSp>
            <p:nvGrpSpPr>
              <p:cNvPr id="116" name="Group 159">
                <a:extLst>
                  <a:ext uri="{FF2B5EF4-FFF2-40B4-BE49-F238E27FC236}">
                    <a16:creationId xmlns:a16="http://schemas.microsoft.com/office/drawing/2014/main" id="{8EC3DEB8-9A59-404C-A54B-5842CE71C03E}"/>
                  </a:ext>
                </a:extLst>
              </p:cNvPr>
              <p:cNvGrpSpPr>
                <a:grpSpLocks/>
              </p:cNvGrpSpPr>
              <p:nvPr/>
            </p:nvGrpSpPr>
            <p:grpSpPr bwMode="auto">
              <a:xfrm>
                <a:off x="1034810" y="3691090"/>
                <a:ext cx="1015670" cy="40627"/>
                <a:chOff x="533400" y="2819400"/>
                <a:chExt cx="1905000" cy="76200"/>
              </a:xfrm>
            </p:grpSpPr>
            <p:sp>
              <p:nvSpPr>
                <p:cNvPr id="149" name="Rectangle 107">
                  <a:extLst>
                    <a:ext uri="{FF2B5EF4-FFF2-40B4-BE49-F238E27FC236}">
                      <a16:creationId xmlns:a16="http://schemas.microsoft.com/office/drawing/2014/main" id="{D8923EE8-4101-4B51-A053-46B2B1036CEC}"/>
                    </a:ext>
                  </a:extLst>
                </p:cNvPr>
                <p:cNvSpPr>
                  <a:spLocks noChangeArrowheads="1"/>
                </p:cNvSpPr>
                <p:nvPr/>
              </p:nvSpPr>
              <p:spPr bwMode="auto">
                <a:xfrm>
                  <a:off x="533400" y="2819400"/>
                  <a:ext cx="457200" cy="76200"/>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u="sng"/>
                </a:p>
              </p:txBody>
            </p:sp>
            <p:cxnSp>
              <p:nvCxnSpPr>
                <p:cNvPr id="150" name="Straight Connector 108">
                  <a:extLst>
                    <a:ext uri="{FF2B5EF4-FFF2-40B4-BE49-F238E27FC236}">
                      <a16:creationId xmlns:a16="http://schemas.microsoft.com/office/drawing/2014/main" id="{154C3A43-583F-4BDA-98F5-B096FAF29497}"/>
                    </a:ext>
                  </a:extLst>
                </p:cNvPr>
                <p:cNvCxnSpPr>
                  <a:cxnSpLocks noChangeShapeType="1"/>
                  <a:stCxn id="149" idx="3"/>
                  <a:endCxn id="151" idx="1"/>
                </p:cNvCxnSpPr>
                <p:nvPr/>
              </p:nvCxnSpPr>
              <p:spPr bwMode="auto">
                <a:xfrm>
                  <a:off x="990600" y="2857500"/>
                  <a:ext cx="762000" cy="1588"/>
                </a:xfrm>
                <a:prstGeom prst="line">
                  <a:avLst/>
                </a:prstGeom>
                <a:noFill/>
                <a:ln w="9525">
                  <a:solidFill>
                    <a:schemeClr val="tx1"/>
                  </a:solidFill>
                  <a:round/>
                  <a:headEnd/>
                  <a:tailEnd/>
                </a:ln>
              </p:spPr>
            </p:cxnSp>
            <p:sp>
              <p:nvSpPr>
                <p:cNvPr id="151" name="Rectangle 109">
                  <a:extLst>
                    <a:ext uri="{FF2B5EF4-FFF2-40B4-BE49-F238E27FC236}">
                      <a16:creationId xmlns:a16="http://schemas.microsoft.com/office/drawing/2014/main" id="{4D0ECCF4-D843-41CF-88C9-C37C39166F54}"/>
                    </a:ext>
                  </a:extLst>
                </p:cNvPr>
                <p:cNvSpPr>
                  <a:spLocks noChangeArrowheads="1"/>
                </p:cNvSpPr>
                <p:nvPr/>
              </p:nvSpPr>
              <p:spPr bwMode="auto">
                <a:xfrm>
                  <a:off x="1752600" y="2819400"/>
                  <a:ext cx="685800" cy="76200"/>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grpSp>
          <p:grpSp>
            <p:nvGrpSpPr>
              <p:cNvPr id="117" name="Group 163">
                <a:extLst>
                  <a:ext uri="{FF2B5EF4-FFF2-40B4-BE49-F238E27FC236}">
                    <a16:creationId xmlns:a16="http://schemas.microsoft.com/office/drawing/2014/main" id="{B4E43530-930E-4A2B-83A8-260DB1849488}"/>
                  </a:ext>
                </a:extLst>
              </p:cNvPr>
              <p:cNvGrpSpPr>
                <a:grpSpLocks/>
              </p:cNvGrpSpPr>
              <p:nvPr/>
            </p:nvGrpSpPr>
            <p:grpSpPr bwMode="auto">
              <a:xfrm>
                <a:off x="750422" y="3592425"/>
                <a:ext cx="1015671" cy="40627"/>
                <a:chOff x="533400" y="2514600"/>
                <a:chExt cx="1905000" cy="76200"/>
              </a:xfrm>
            </p:grpSpPr>
            <p:sp>
              <p:nvSpPr>
                <p:cNvPr id="146" name="Rectangle 104">
                  <a:extLst>
                    <a:ext uri="{FF2B5EF4-FFF2-40B4-BE49-F238E27FC236}">
                      <a16:creationId xmlns:a16="http://schemas.microsoft.com/office/drawing/2014/main" id="{9C09441C-3AF2-414F-A004-8E8D3BA1506B}"/>
                    </a:ext>
                  </a:extLst>
                </p:cNvPr>
                <p:cNvSpPr>
                  <a:spLocks noChangeArrowheads="1"/>
                </p:cNvSpPr>
                <p:nvPr/>
              </p:nvSpPr>
              <p:spPr bwMode="auto">
                <a:xfrm>
                  <a:off x="533400" y="2514600"/>
                  <a:ext cx="990600" cy="76200"/>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u="sng"/>
                </a:p>
              </p:txBody>
            </p:sp>
            <p:cxnSp>
              <p:nvCxnSpPr>
                <p:cNvPr id="147" name="Straight Connector 105">
                  <a:extLst>
                    <a:ext uri="{FF2B5EF4-FFF2-40B4-BE49-F238E27FC236}">
                      <a16:creationId xmlns:a16="http://schemas.microsoft.com/office/drawing/2014/main" id="{0EC39918-4E45-445E-81E7-BE21C958446E}"/>
                    </a:ext>
                  </a:extLst>
                </p:cNvPr>
                <p:cNvCxnSpPr>
                  <a:cxnSpLocks noChangeShapeType="1"/>
                  <a:stCxn id="146" idx="3"/>
                  <a:endCxn id="148" idx="1"/>
                </p:cNvCxnSpPr>
                <p:nvPr/>
              </p:nvCxnSpPr>
              <p:spPr bwMode="auto">
                <a:xfrm>
                  <a:off x="1524000" y="2552700"/>
                  <a:ext cx="762000" cy="1588"/>
                </a:xfrm>
                <a:prstGeom prst="line">
                  <a:avLst/>
                </a:prstGeom>
                <a:noFill/>
                <a:ln w="9525">
                  <a:solidFill>
                    <a:schemeClr val="tx1"/>
                  </a:solidFill>
                  <a:round/>
                  <a:headEnd/>
                  <a:tailEnd/>
                </a:ln>
              </p:spPr>
            </p:cxnSp>
            <p:sp>
              <p:nvSpPr>
                <p:cNvPr id="148" name="Rectangle 106">
                  <a:extLst>
                    <a:ext uri="{FF2B5EF4-FFF2-40B4-BE49-F238E27FC236}">
                      <a16:creationId xmlns:a16="http://schemas.microsoft.com/office/drawing/2014/main" id="{1C90F10E-6893-437F-831A-C3B3559A6D94}"/>
                    </a:ext>
                  </a:extLst>
                </p:cNvPr>
                <p:cNvSpPr>
                  <a:spLocks noChangeArrowheads="1"/>
                </p:cNvSpPr>
                <p:nvPr/>
              </p:nvSpPr>
              <p:spPr bwMode="auto">
                <a:xfrm>
                  <a:off x="2286000" y="2514600"/>
                  <a:ext cx="152400" cy="76200"/>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grpSp>
          <p:sp>
            <p:nvSpPr>
              <p:cNvPr id="118" name="Rectangle 71">
                <a:extLst>
                  <a:ext uri="{FF2B5EF4-FFF2-40B4-BE49-F238E27FC236}">
                    <a16:creationId xmlns:a16="http://schemas.microsoft.com/office/drawing/2014/main" id="{659D6CD8-CDAB-4B6E-8767-1C5C82A9D48F}"/>
                  </a:ext>
                </a:extLst>
              </p:cNvPr>
              <p:cNvSpPr>
                <a:spLocks noChangeArrowheads="1"/>
              </p:cNvSpPr>
              <p:nvPr/>
            </p:nvSpPr>
            <p:spPr bwMode="auto">
              <a:xfrm>
                <a:off x="1196009" y="3789755"/>
                <a:ext cx="81254" cy="40627"/>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u="sng"/>
              </a:p>
            </p:txBody>
          </p:sp>
          <p:cxnSp>
            <p:nvCxnSpPr>
              <p:cNvPr id="119" name="Straight Connector 72">
                <a:extLst>
                  <a:ext uri="{FF2B5EF4-FFF2-40B4-BE49-F238E27FC236}">
                    <a16:creationId xmlns:a16="http://schemas.microsoft.com/office/drawing/2014/main" id="{AC299F41-30F8-45A5-A93E-E1CEAE02734A}"/>
                  </a:ext>
                </a:extLst>
              </p:cNvPr>
              <p:cNvCxnSpPr>
                <a:cxnSpLocks noChangeShapeType="1"/>
                <a:stCxn id="118" idx="3"/>
                <a:endCxn id="120" idx="1"/>
              </p:cNvCxnSpPr>
              <p:nvPr/>
            </p:nvCxnSpPr>
            <p:spPr bwMode="auto">
              <a:xfrm>
                <a:off x="1277262" y="3810068"/>
                <a:ext cx="407577" cy="847"/>
              </a:xfrm>
              <a:prstGeom prst="line">
                <a:avLst/>
              </a:prstGeom>
              <a:noFill/>
              <a:ln w="9525">
                <a:solidFill>
                  <a:schemeClr val="tx1"/>
                </a:solidFill>
                <a:round/>
                <a:headEnd/>
                <a:tailEnd/>
              </a:ln>
            </p:spPr>
          </p:cxnSp>
          <p:sp>
            <p:nvSpPr>
              <p:cNvPr id="120" name="Rectangle 73">
                <a:extLst>
                  <a:ext uri="{FF2B5EF4-FFF2-40B4-BE49-F238E27FC236}">
                    <a16:creationId xmlns:a16="http://schemas.microsoft.com/office/drawing/2014/main" id="{219B6CF9-7B2E-4DB5-B6FA-392AAB100C92}"/>
                  </a:ext>
                </a:extLst>
              </p:cNvPr>
              <p:cNvSpPr>
                <a:spLocks noChangeArrowheads="1"/>
              </p:cNvSpPr>
              <p:nvPr/>
            </p:nvSpPr>
            <p:spPr bwMode="auto">
              <a:xfrm>
                <a:off x="1684839" y="3789755"/>
                <a:ext cx="568776" cy="40627"/>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grpSp>
            <p:nvGrpSpPr>
              <p:cNvPr id="121" name="Group 171">
                <a:extLst>
                  <a:ext uri="{FF2B5EF4-FFF2-40B4-BE49-F238E27FC236}">
                    <a16:creationId xmlns:a16="http://schemas.microsoft.com/office/drawing/2014/main" id="{D9E0648D-B7C4-4FD4-B16D-8A97C3A59EF4}"/>
                  </a:ext>
                </a:extLst>
              </p:cNvPr>
              <p:cNvGrpSpPr>
                <a:grpSpLocks/>
              </p:cNvGrpSpPr>
              <p:nvPr/>
            </p:nvGrpSpPr>
            <p:grpSpPr bwMode="auto">
              <a:xfrm>
                <a:off x="548083" y="3494814"/>
                <a:ext cx="1096925" cy="40627"/>
                <a:chOff x="533400" y="2209800"/>
                <a:chExt cx="2057400" cy="76200"/>
              </a:xfrm>
            </p:grpSpPr>
            <p:sp>
              <p:nvSpPr>
                <p:cNvPr id="143" name="Rectangle 101">
                  <a:extLst>
                    <a:ext uri="{FF2B5EF4-FFF2-40B4-BE49-F238E27FC236}">
                      <a16:creationId xmlns:a16="http://schemas.microsoft.com/office/drawing/2014/main" id="{AD8C17F0-EB52-4BC8-99CD-2E64A41BC97E}"/>
                    </a:ext>
                  </a:extLst>
                </p:cNvPr>
                <p:cNvSpPr>
                  <a:spLocks noChangeArrowheads="1"/>
                </p:cNvSpPr>
                <p:nvPr/>
              </p:nvSpPr>
              <p:spPr bwMode="auto">
                <a:xfrm>
                  <a:off x="533400" y="2209800"/>
                  <a:ext cx="1371600" cy="76200"/>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u="sng"/>
                </a:p>
              </p:txBody>
            </p:sp>
            <p:cxnSp>
              <p:nvCxnSpPr>
                <p:cNvPr id="144" name="Straight Connector 102">
                  <a:extLst>
                    <a:ext uri="{FF2B5EF4-FFF2-40B4-BE49-F238E27FC236}">
                      <a16:creationId xmlns:a16="http://schemas.microsoft.com/office/drawing/2014/main" id="{4467445D-9DDD-4132-8AF2-B2CF551EEFD9}"/>
                    </a:ext>
                  </a:extLst>
                </p:cNvPr>
                <p:cNvCxnSpPr>
                  <a:cxnSpLocks noChangeShapeType="1"/>
                  <a:stCxn id="143" idx="3"/>
                  <a:endCxn id="145" idx="1"/>
                </p:cNvCxnSpPr>
                <p:nvPr/>
              </p:nvCxnSpPr>
              <p:spPr bwMode="auto">
                <a:xfrm>
                  <a:off x="1905000" y="2247900"/>
                  <a:ext cx="533400" cy="1588"/>
                </a:xfrm>
                <a:prstGeom prst="line">
                  <a:avLst/>
                </a:prstGeom>
                <a:noFill/>
                <a:ln w="9525">
                  <a:solidFill>
                    <a:schemeClr val="tx1"/>
                  </a:solidFill>
                  <a:round/>
                  <a:headEnd/>
                  <a:tailEnd/>
                </a:ln>
              </p:spPr>
            </p:cxnSp>
            <p:sp>
              <p:nvSpPr>
                <p:cNvPr id="145" name="Rectangle 103">
                  <a:extLst>
                    <a:ext uri="{FF2B5EF4-FFF2-40B4-BE49-F238E27FC236}">
                      <a16:creationId xmlns:a16="http://schemas.microsoft.com/office/drawing/2014/main" id="{DFC438CC-EABA-4602-8CBC-90BA444BF649}"/>
                    </a:ext>
                  </a:extLst>
                </p:cNvPr>
                <p:cNvSpPr>
                  <a:spLocks noChangeArrowheads="1"/>
                </p:cNvSpPr>
                <p:nvPr/>
              </p:nvSpPr>
              <p:spPr bwMode="auto">
                <a:xfrm>
                  <a:off x="2438400" y="22098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grpSp>
            <p:nvGrpSpPr>
              <p:cNvPr id="122" name="Group 175">
                <a:extLst>
                  <a:ext uri="{FF2B5EF4-FFF2-40B4-BE49-F238E27FC236}">
                    <a16:creationId xmlns:a16="http://schemas.microsoft.com/office/drawing/2014/main" id="{4C00B283-0945-48E1-B0E6-A9A71738CBDD}"/>
                  </a:ext>
                </a:extLst>
              </p:cNvPr>
              <p:cNvGrpSpPr>
                <a:grpSpLocks/>
              </p:cNvGrpSpPr>
              <p:nvPr/>
            </p:nvGrpSpPr>
            <p:grpSpPr bwMode="auto">
              <a:xfrm>
                <a:off x="2538363" y="3393238"/>
                <a:ext cx="1015672" cy="346069"/>
                <a:chOff x="-404904" y="2856367"/>
                <a:chExt cx="1905000" cy="648833"/>
              </a:xfrm>
            </p:grpSpPr>
            <p:cxnSp>
              <p:nvCxnSpPr>
                <p:cNvPr id="140" name="Straight Connector 98">
                  <a:extLst>
                    <a:ext uri="{FF2B5EF4-FFF2-40B4-BE49-F238E27FC236}">
                      <a16:creationId xmlns:a16="http://schemas.microsoft.com/office/drawing/2014/main" id="{8933C95D-3B64-4E6E-AAE1-1F0B84E29ED1}"/>
                    </a:ext>
                  </a:extLst>
                </p:cNvPr>
                <p:cNvCxnSpPr>
                  <a:cxnSpLocks noChangeShapeType="1"/>
                  <a:endCxn id="141" idx="1"/>
                </p:cNvCxnSpPr>
                <p:nvPr/>
              </p:nvCxnSpPr>
              <p:spPr bwMode="auto">
                <a:xfrm>
                  <a:off x="-404904" y="2894466"/>
                  <a:ext cx="533400" cy="1588"/>
                </a:xfrm>
                <a:prstGeom prst="line">
                  <a:avLst/>
                </a:prstGeom>
                <a:noFill/>
                <a:ln w="9525">
                  <a:solidFill>
                    <a:schemeClr val="tx1"/>
                  </a:solidFill>
                  <a:round/>
                  <a:headEnd/>
                  <a:tailEnd/>
                </a:ln>
              </p:spPr>
            </p:cxnSp>
            <p:sp>
              <p:nvSpPr>
                <p:cNvPr id="141" name="Rectangle 99">
                  <a:extLst>
                    <a:ext uri="{FF2B5EF4-FFF2-40B4-BE49-F238E27FC236}">
                      <a16:creationId xmlns:a16="http://schemas.microsoft.com/office/drawing/2014/main" id="{EC3198ED-572E-46C9-A7AA-4FEA8B6DEEC7}"/>
                    </a:ext>
                  </a:extLst>
                </p:cNvPr>
                <p:cNvSpPr>
                  <a:spLocks noChangeArrowheads="1"/>
                </p:cNvSpPr>
                <p:nvPr/>
              </p:nvSpPr>
              <p:spPr bwMode="auto">
                <a:xfrm>
                  <a:off x="128496" y="2856367"/>
                  <a:ext cx="1371600" cy="76200"/>
                </a:xfrm>
                <a:prstGeom prst="rect">
                  <a:avLst/>
                </a:prstGeom>
                <a:solidFill>
                  <a:srgbClr val="E46C0A"/>
                </a:solidFill>
                <a:ln w="9525">
                  <a:solidFill>
                    <a:schemeClr val="tx1"/>
                  </a:solidFill>
                  <a:round/>
                  <a:headEnd/>
                  <a:tailEnd/>
                </a:ln>
              </p:spPr>
              <p:txBody>
                <a:bodyPr anchor="ctr">
                  <a:prstTxWarp prst="textNoShape">
                    <a:avLst/>
                  </a:prstTxWarp>
                </a:bodyPr>
                <a:lstStyle/>
                <a:p>
                  <a:pPr algn="ctr"/>
                  <a:endParaRPr lang="en-US" sz="2000"/>
                </a:p>
              </p:txBody>
            </p:sp>
            <p:sp>
              <p:nvSpPr>
                <p:cNvPr id="142" name="Rectangle 100">
                  <a:extLst>
                    <a:ext uri="{FF2B5EF4-FFF2-40B4-BE49-F238E27FC236}">
                      <a16:creationId xmlns:a16="http://schemas.microsoft.com/office/drawing/2014/main" id="{7001A52A-6DD3-4EA3-86E9-02302F4FE43A}"/>
                    </a:ext>
                  </a:extLst>
                </p:cNvPr>
                <p:cNvSpPr>
                  <a:spLocks noChangeArrowheads="1"/>
                </p:cNvSpPr>
                <p:nvPr/>
              </p:nvSpPr>
              <p:spPr bwMode="auto">
                <a:xfrm>
                  <a:off x="381000" y="34290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grpSp>
            <p:nvGrpSpPr>
              <p:cNvPr id="123" name="Group 179">
                <a:extLst>
                  <a:ext uri="{FF2B5EF4-FFF2-40B4-BE49-F238E27FC236}">
                    <a16:creationId xmlns:a16="http://schemas.microsoft.com/office/drawing/2014/main" id="{A34C6D1B-6283-4547-8169-3863AA9C5CB1}"/>
                  </a:ext>
                </a:extLst>
              </p:cNvPr>
              <p:cNvGrpSpPr>
                <a:grpSpLocks/>
              </p:cNvGrpSpPr>
              <p:nvPr/>
            </p:nvGrpSpPr>
            <p:grpSpPr bwMode="auto">
              <a:xfrm>
                <a:off x="2741498" y="3532218"/>
                <a:ext cx="1394063" cy="305807"/>
                <a:chOff x="-23905" y="3236650"/>
                <a:chExt cx="2614705" cy="573350"/>
              </a:xfrm>
            </p:grpSpPr>
            <p:cxnSp>
              <p:nvCxnSpPr>
                <p:cNvPr id="136" name="Straight Connector 93">
                  <a:extLst>
                    <a:ext uri="{FF2B5EF4-FFF2-40B4-BE49-F238E27FC236}">
                      <a16:creationId xmlns:a16="http://schemas.microsoft.com/office/drawing/2014/main" id="{16A1A297-D77B-4C22-A0FD-23162FB14D07}"/>
                    </a:ext>
                  </a:extLst>
                </p:cNvPr>
                <p:cNvCxnSpPr>
                  <a:cxnSpLocks noChangeShapeType="1"/>
                </p:cNvCxnSpPr>
                <p:nvPr/>
              </p:nvCxnSpPr>
              <p:spPr bwMode="auto">
                <a:xfrm>
                  <a:off x="-23905" y="3236650"/>
                  <a:ext cx="152401" cy="1588"/>
                </a:xfrm>
                <a:prstGeom prst="line">
                  <a:avLst/>
                </a:prstGeom>
                <a:noFill/>
                <a:ln w="9525">
                  <a:solidFill>
                    <a:schemeClr val="tx1"/>
                  </a:solidFill>
                  <a:round/>
                  <a:headEnd/>
                  <a:tailEnd/>
                </a:ln>
              </p:spPr>
            </p:cxnSp>
            <p:cxnSp>
              <p:nvCxnSpPr>
                <p:cNvPr id="137" name="Straight Connector 95">
                  <a:extLst>
                    <a:ext uri="{FF2B5EF4-FFF2-40B4-BE49-F238E27FC236}">
                      <a16:creationId xmlns:a16="http://schemas.microsoft.com/office/drawing/2014/main" id="{9E3CC068-8FC0-43F3-8241-397DD41782C2}"/>
                    </a:ext>
                  </a:extLst>
                </p:cNvPr>
                <p:cNvCxnSpPr>
                  <a:cxnSpLocks noChangeShapeType="1"/>
                </p:cNvCxnSpPr>
                <p:nvPr/>
              </p:nvCxnSpPr>
              <p:spPr bwMode="auto">
                <a:xfrm>
                  <a:off x="1347695" y="3236650"/>
                  <a:ext cx="533400" cy="1588"/>
                </a:xfrm>
                <a:prstGeom prst="line">
                  <a:avLst/>
                </a:prstGeom>
                <a:noFill/>
                <a:ln w="9525">
                  <a:solidFill>
                    <a:schemeClr val="tx1"/>
                  </a:solidFill>
                  <a:round/>
                  <a:headEnd/>
                  <a:tailEnd/>
                </a:ln>
              </p:spPr>
            </p:cxnSp>
            <p:sp>
              <p:nvSpPr>
                <p:cNvPr id="138" name="Rectangle 96">
                  <a:extLst>
                    <a:ext uri="{FF2B5EF4-FFF2-40B4-BE49-F238E27FC236}">
                      <a16:creationId xmlns:a16="http://schemas.microsoft.com/office/drawing/2014/main" id="{73EAD8A4-BD9F-42DE-B74E-01C81AB1C906}"/>
                    </a:ext>
                  </a:extLst>
                </p:cNvPr>
                <p:cNvSpPr>
                  <a:spLocks noChangeArrowheads="1"/>
                </p:cNvSpPr>
                <p:nvPr/>
              </p:nvSpPr>
              <p:spPr bwMode="auto">
                <a:xfrm>
                  <a:off x="381000" y="37338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sp>
              <p:nvSpPr>
                <p:cNvPr id="139" name="Rectangle 97">
                  <a:extLst>
                    <a:ext uri="{FF2B5EF4-FFF2-40B4-BE49-F238E27FC236}">
                      <a16:creationId xmlns:a16="http://schemas.microsoft.com/office/drawing/2014/main" id="{1EA56A1A-1713-4FB1-A341-0FF6654B4D3B}"/>
                    </a:ext>
                  </a:extLst>
                </p:cNvPr>
                <p:cNvSpPr>
                  <a:spLocks noChangeArrowheads="1"/>
                </p:cNvSpPr>
                <p:nvPr/>
              </p:nvSpPr>
              <p:spPr bwMode="auto">
                <a:xfrm>
                  <a:off x="2438400" y="37338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grpSp>
            <p:nvGrpSpPr>
              <p:cNvPr id="124" name="Group 185">
                <a:extLst>
                  <a:ext uri="{FF2B5EF4-FFF2-40B4-BE49-F238E27FC236}">
                    <a16:creationId xmlns:a16="http://schemas.microsoft.com/office/drawing/2014/main" id="{444126B6-10D7-4935-AAE2-F232622251E2}"/>
                  </a:ext>
                </a:extLst>
              </p:cNvPr>
              <p:cNvGrpSpPr>
                <a:grpSpLocks/>
              </p:cNvGrpSpPr>
              <p:nvPr/>
            </p:nvGrpSpPr>
            <p:grpSpPr bwMode="auto">
              <a:xfrm>
                <a:off x="2904003" y="3627425"/>
                <a:ext cx="1231553" cy="308481"/>
                <a:chOff x="280892" y="3536213"/>
                <a:chExt cx="2309908" cy="578587"/>
              </a:xfrm>
            </p:grpSpPr>
            <p:sp>
              <p:nvSpPr>
                <p:cNvPr id="133" name="Rectangle 90">
                  <a:extLst>
                    <a:ext uri="{FF2B5EF4-FFF2-40B4-BE49-F238E27FC236}">
                      <a16:creationId xmlns:a16="http://schemas.microsoft.com/office/drawing/2014/main" id="{ABB8A124-B069-49A2-8008-C4C557647C3B}"/>
                    </a:ext>
                  </a:extLst>
                </p:cNvPr>
                <p:cNvSpPr>
                  <a:spLocks noChangeArrowheads="1"/>
                </p:cNvSpPr>
                <p:nvPr/>
              </p:nvSpPr>
              <p:spPr bwMode="auto">
                <a:xfrm>
                  <a:off x="280892" y="3536213"/>
                  <a:ext cx="1219201" cy="76200"/>
                </a:xfrm>
                <a:prstGeom prst="rect">
                  <a:avLst/>
                </a:prstGeom>
                <a:solidFill>
                  <a:srgbClr val="E46C0A"/>
                </a:solidFill>
                <a:ln w="9525">
                  <a:solidFill>
                    <a:schemeClr val="tx1"/>
                  </a:solidFill>
                  <a:round/>
                  <a:headEnd/>
                  <a:tailEnd/>
                </a:ln>
              </p:spPr>
              <p:txBody>
                <a:bodyPr anchor="ctr">
                  <a:prstTxWarp prst="textNoShape">
                    <a:avLst/>
                  </a:prstTxWarp>
                </a:bodyPr>
                <a:lstStyle/>
                <a:p>
                  <a:pPr algn="ctr"/>
                  <a:endParaRPr lang="en-US" sz="2000"/>
                </a:p>
              </p:txBody>
            </p:sp>
            <p:cxnSp>
              <p:nvCxnSpPr>
                <p:cNvPr id="134" name="Straight Connector 91">
                  <a:extLst>
                    <a:ext uri="{FF2B5EF4-FFF2-40B4-BE49-F238E27FC236}">
                      <a16:creationId xmlns:a16="http://schemas.microsoft.com/office/drawing/2014/main" id="{A7836BF4-D5FC-49E0-A929-18F9BF247476}"/>
                    </a:ext>
                  </a:extLst>
                </p:cNvPr>
                <p:cNvCxnSpPr>
                  <a:cxnSpLocks noChangeShapeType="1"/>
                  <a:stCxn id="133" idx="3"/>
                </p:cNvCxnSpPr>
                <p:nvPr/>
              </p:nvCxnSpPr>
              <p:spPr bwMode="auto">
                <a:xfrm>
                  <a:off x="1500092" y="3574313"/>
                  <a:ext cx="685800" cy="1588"/>
                </a:xfrm>
                <a:prstGeom prst="line">
                  <a:avLst/>
                </a:prstGeom>
                <a:noFill/>
                <a:ln w="9525">
                  <a:solidFill>
                    <a:schemeClr val="tx1"/>
                  </a:solidFill>
                  <a:round/>
                  <a:headEnd/>
                  <a:tailEnd/>
                </a:ln>
              </p:spPr>
            </p:cxnSp>
            <p:sp>
              <p:nvSpPr>
                <p:cNvPr id="135" name="Rectangle 92">
                  <a:extLst>
                    <a:ext uri="{FF2B5EF4-FFF2-40B4-BE49-F238E27FC236}">
                      <a16:creationId xmlns:a16="http://schemas.microsoft.com/office/drawing/2014/main" id="{9EE9D3F3-2E18-43A7-87EE-9E4F4C132F56}"/>
                    </a:ext>
                  </a:extLst>
                </p:cNvPr>
                <p:cNvSpPr>
                  <a:spLocks noChangeArrowheads="1"/>
                </p:cNvSpPr>
                <p:nvPr/>
              </p:nvSpPr>
              <p:spPr bwMode="auto">
                <a:xfrm>
                  <a:off x="2438400" y="40386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grpSp>
            <p:nvGrpSpPr>
              <p:cNvPr id="125" name="Group 189">
                <a:extLst>
                  <a:ext uri="{FF2B5EF4-FFF2-40B4-BE49-F238E27FC236}">
                    <a16:creationId xmlns:a16="http://schemas.microsoft.com/office/drawing/2014/main" id="{BE07D9DF-BD2C-430E-B24E-982F7BE93FEF}"/>
                  </a:ext>
                </a:extLst>
              </p:cNvPr>
              <p:cNvGrpSpPr>
                <a:grpSpLocks/>
              </p:cNvGrpSpPr>
              <p:nvPr/>
            </p:nvGrpSpPr>
            <p:grpSpPr bwMode="auto">
              <a:xfrm>
                <a:off x="276004" y="3395094"/>
                <a:ext cx="1178178" cy="40627"/>
                <a:chOff x="381000" y="1905000"/>
                <a:chExt cx="2209800" cy="76200"/>
              </a:xfrm>
            </p:grpSpPr>
            <p:sp>
              <p:nvSpPr>
                <p:cNvPr id="128" name="Rectangle 85">
                  <a:extLst>
                    <a:ext uri="{FF2B5EF4-FFF2-40B4-BE49-F238E27FC236}">
                      <a16:creationId xmlns:a16="http://schemas.microsoft.com/office/drawing/2014/main" id="{6CC4D22E-A15F-454F-88D0-DEF4070B9953}"/>
                    </a:ext>
                  </a:extLst>
                </p:cNvPr>
                <p:cNvSpPr>
                  <a:spLocks noChangeArrowheads="1"/>
                </p:cNvSpPr>
                <p:nvPr/>
              </p:nvSpPr>
              <p:spPr bwMode="auto">
                <a:xfrm>
                  <a:off x="890494" y="1905000"/>
                  <a:ext cx="1371600" cy="76200"/>
                </a:xfrm>
                <a:prstGeom prst="rect">
                  <a:avLst/>
                </a:prstGeom>
                <a:solidFill>
                  <a:schemeClr val="accent1"/>
                </a:solidFill>
                <a:ln w="9525">
                  <a:solidFill>
                    <a:schemeClr val="tx1"/>
                  </a:solidFill>
                  <a:round/>
                  <a:headEnd/>
                  <a:tailEnd/>
                </a:ln>
              </p:spPr>
              <p:txBody>
                <a:bodyPr anchor="ctr">
                  <a:prstTxWarp prst="textNoShape">
                    <a:avLst/>
                  </a:prstTxWarp>
                </a:bodyPr>
                <a:lstStyle/>
                <a:p>
                  <a:pPr algn="ctr"/>
                  <a:endParaRPr lang="en-US" sz="2000"/>
                </a:p>
              </p:txBody>
            </p:sp>
            <p:cxnSp>
              <p:nvCxnSpPr>
                <p:cNvPr id="129" name="Straight Connector 86">
                  <a:extLst>
                    <a:ext uri="{FF2B5EF4-FFF2-40B4-BE49-F238E27FC236}">
                      <a16:creationId xmlns:a16="http://schemas.microsoft.com/office/drawing/2014/main" id="{41EC1769-4512-4BE8-8D11-23712634343D}"/>
                    </a:ext>
                  </a:extLst>
                </p:cNvPr>
                <p:cNvCxnSpPr>
                  <a:cxnSpLocks noChangeShapeType="1"/>
                  <a:stCxn id="131" idx="3"/>
                  <a:endCxn id="128" idx="1"/>
                </p:cNvCxnSpPr>
                <p:nvPr/>
              </p:nvCxnSpPr>
              <p:spPr bwMode="auto">
                <a:xfrm>
                  <a:off x="533400" y="1943100"/>
                  <a:ext cx="357094" cy="1588"/>
                </a:xfrm>
                <a:prstGeom prst="line">
                  <a:avLst/>
                </a:prstGeom>
                <a:noFill/>
                <a:ln w="9525">
                  <a:solidFill>
                    <a:schemeClr val="tx1"/>
                  </a:solidFill>
                  <a:round/>
                  <a:headEnd/>
                  <a:tailEnd/>
                </a:ln>
              </p:spPr>
            </p:cxnSp>
            <p:cxnSp>
              <p:nvCxnSpPr>
                <p:cNvPr id="130" name="Straight Connector 87">
                  <a:extLst>
                    <a:ext uri="{FF2B5EF4-FFF2-40B4-BE49-F238E27FC236}">
                      <a16:creationId xmlns:a16="http://schemas.microsoft.com/office/drawing/2014/main" id="{D49CF4E5-C927-43C0-86DF-4D2A376858C5}"/>
                    </a:ext>
                  </a:extLst>
                </p:cNvPr>
                <p:cNvCxnSpPr>
                  <a:cxnSpLocks noChangeShapeType="1"/>
                  <a:stCxn id="128" idx="3"/>
                  <a:endCxn id="132" idx="1"/>
                </p:cNvCxnSpPr>
                <p:nvPr/>
              </p:nvCxnSpPr>
              <p:spPr bwMode="auto">
                <a:xfrm>
                  <a:off x="2262094" y="1943100"/>
                  <a:ext cx="176306" cy="1588"/>
                </a:xfrm>
                <a:prstGeom prst="line">
                  <a:avLst/>
                </a:prstGeom>
                <a:noFill/>
                <a:ln w="9525">
                  <a:solidFill>
                    <a:schemeClr val="tx1"/>
                  </a:solidFill>
                  <a:round/>
                  <a:headEnd/>
                  <a:tailEnd/>
                </a:ln>
              </p:spPr>
            </p:cxnSp>
            <p:sp>
              <p:nvSpPr>
                <p:cNvPr id="131" name="Rectangle 88">
                  <a:extLst>
                    <a:ext uri="{FF2B5EF4-FFF2-40B4-BE49-F238E27FC236}">
                      <a16:creationId xmlns:a16="http://schemas.microsoft.com/office/drawing/2014/main" id="{2E58A075-DAE7-42B9-B98C-DFF4973A3F37}"/>
                    </a:ext>
                  </a:extLst>
                </p:cNvPr>
                <p:cNvSpPr>
                  <a:spLocks noChangeArrowheads="1"/>
                </p:cNvSpPr>
                <p:nvPr/>
              </p:nvSpPr>
              <p:spPr bwMode="auto">
                <a:xfrm>
                  <a:off x="381000" y="19050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sp>
              <p:nvSpPr>
                <p:cNvPr id="132" name="Rectangle 89">
                  <a:extLst>
                    <a:ext uri="{FF2B5EF4-FFF2-40B4-BE49-F238E27FC236}">
                      <a16:creationId xmlns:a16="http://schemas.microsoft.com/office/drawing/2014/main" id="{FE3480FF-7513-4D5D-B8E6-BB4D5DE10B9A}"/>
                    </a:ext>
                  </a:extLst>
                </p:cNvPr>
                <p:cNvSpPr>
                  <a:spLocks noChangeArrowheads="1"/>
                </p:cNvSpPr>
                <p:nvPr/>
              </p:nvSpPr>
              <p:spPr bwMode="auto">
                <a:xfrm>
                  <a:off x="2438400" y="1905000"/>
                  <a:ext cx="152400" cy="76200"/>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a:p>
              </p:txBody>
            </p:sp>
          </p:grpSp>
          <p:sp>
            <p:nvSpPr>
              <p:cNvPr id="126" name="Rectangle 80">
                <a:extLst>
                  <a:ext uri="{FF2B5EF4-FFF2-40B4-BE49-F238E27FC236}">
                    <a16:creationId xmlns:a16="http://schemas.microsoft.com/office/drawing/2014/main" id="{16CA6AEA-9BEA-4A49-AB21-DA38788B037A}"/>
                  </a:ext>
                </a:extLst>
              </p:cNvPr>
              <p:cNvSpPr>
                <a:spLocks noChangeArrowheads="1"/>
              </p:cNvSpPr>
              <p:nvPr/>
            </p:nvSpPr>
            <p:spPr bwMode="auto">
              <a:xfrm>
                <a:off x="3688661" y="3313841"/>
                <a:ext cx="81254" cy="40627"/>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u="sng"/>
              </a:p>
            </p:txBody>
          </p:sp>
          <p:sp>
            <p:nvSpPr>
              <p:cNvPr id="127" name="Rectangle 81">
                <a:extLst>
                  <a:ext uri="{FF2B5EF4-FFF2-40B4-BE49-F238E27FC236}">
                    <a16:creationId xmlns:a16="http://schemas.microsoft.com/office/drawing/2014/main" id="{5E35405E-AC77-4070-B823-79CDB6A1925B}"/>
                  </a:ext>
                </a:extLst>
              </p:cNvPr>
              <p:cNvSpPr>
                <a:spLocks noChangeArrowheads="1"/>
              </p:cNvSpPr>
              <p:nvPr/>
            </p:nvSpPr>
            <p:spPr bwMode="auto">
              <a:xfrm>
                <a:off x="276006" y="3232587"/>
                <a:ext cx="81254" cy="40627"/>
              </a:xfrm>
              <a:prstGeom prst="rect">
                <a:avLst/>
              </a:prstGeom>
              <a:solidFill>
                <a:schemeClr val="bg1"/>
              </a:solidFill>
              <a:ln w="9525">
                <a:solidFill>
                  <a:schemeClr val="bg1"/>
                </a:solidFill>
                <a:round/>
                <a:headEnd/>
                <a:tailEnd/>
              </a:ln>
            </p:spPr>
            <p:txBody>
              <a:bodyPr anchor="ctr">
                <a:prstTxWarp prst="textNoShape">
                  <a:avLst/>
                </a:prstTxWarp>
              </a:bodyPr>
              <a:lstStyle/>
              <a:p>
                <a:pPr algn="ctr"/>
                <a:endParaRPr lang="en-US" sz="2000" u="sng"/>
              </a:p>
            </p:txBody>
          </p:sp>
        </p:grpSp>
        <p:sp>
          <p:nvSpPr>
            <p:cNvPr id="100" name="Rectangle 99">
              <a:extLst>
                <a:ext uri="{FF2B5EF4-FFF2-40B4-BE49-F238E27FC236}">
                  <a16:creationId xmlns:a16="http://schemas.microsoft.com/office/drawing/2014/main" id="{0D16A55B-2E72-4556-8D62-20335D2FA65E}"/>
                </a:ext>
              </a:extLst>
            </p:cNvPr>
            <p:cNvSpPr>
              <a:spLocks noChangeArrowheads="1"/>
            </p:cNvSpPr>
            <p:nvPr/>
          </p:nvSpPr>
          <p:spPr bwMode="auto">
            <a:xfrm>
              <a:off x="5540192" y="5229886"/>
              <a:ext cx="839136" cy="58451"/>
            </a:xfrm>
            <a:prstGeom prst="rect">
              <a:avLst/>
            </a:prstGeom>
            <a:solidFill>
              <a:srgbClr val="E46C0A"/>
            </a:solidFill>
            <a:ln w="9525">
              <a:solidFill>
                <a:schemeClr val="tx1"/>
              </a:solidFill>
              <a:round/>
              <a:headEnd/>
              <a:tailEnd/>
            </a:ln>
          </p:spPr>
          <p:txBody>
            <a:bodyPr anchor="ctr">
              <a:prstTxWarp prst="textNoShape">
                <a:avLst/>
              </a:prstTxWarp>
            </a:bodyPr>
            <a:lstStyle/>
            <a:p>
              <a:pPr algn="ctr"/>
              <a:endParaRPr lang="en-US" sz="2000"/>
            </a:p>
          </p:txBody>
        </p:sp>
        <p:cxnSp>
          <p:nvCxnSpPr>
            <p:cNvPr id="101" name="Straight Connector 40">
              <a:extLst>
                <a:ext uri="{FF2B5EF4-FFF2-40B4-BE49-F238E27FC236}">
                  <a16:creationId xmlns:a16="http://schemas.microsoft.com/office/drawing/2014/main" id="{C32285F4-5E37-4ACC-922A-B3F6EE4706A1}"/>
                </a:ext>
              </a:extLst>
            </p:cNvPr>
            <p:cNvCxnSpPr>
              <a:cxnSpLocks noChangeShapeType="1"/>
              <a:stCxn id="132" idx="3"/>
            </p:cNvCxnSpPr>
            <p:nvPr/>
          </p:nvCxnSpPr>
          <p:spPr bwMode="auto">
            <a:xfrm>
              <a:off x="3969781" y="5091120"/>
              <a:ext cx="264674" cy="1058"/>
            </a:xfrm>
            <a:prstGeom prst="line">
              <a:avLst/>
            </a:prstGeom>
            <a:noFill/>
            <a:ln w="9525">
              <a:solidFill>
                <a:schemeClr val="tx1"/>
              </a:solidFill>
              <a:round/>
              <a:headEnd/>
              <a:tailEnd/>
            </a:ln>
          </p:spPr>
        </p:cxnSp>
        <p:sp>
          <p:nvSpPr>
            <p:cNvPr id="102" name="Rectangle 62">
              <a:extLst>
                <a:ext uri="{FF2B5EF4-FFF2-40B4-BE49-F238E27FC236}">
                  <a16:creationId xmlns:a16="http://schemas.microsoft.com/office/drawing/2014/main" id="{12BB65DB-D5A8-42E4-8506-0DE4A07AC92C}"/>
                </a:ext>
              </a:extLst>
            </p:cNvPr>
            <p:cNvSpPr>
              <a:spLocks noChangeArrowheads="1"/>
            </p:cNvSpPr>
            <p:nvPr/>
          </p:nvSpPr>
          <p:spPr bwMode="auto">
            <a:xfrm>
              <a:off x="4234870" y="5060466"/>
              <a:ext cx="839135" cy="58428"/>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sp>
          <p:nvSpPr>
            <p:cNvPr id="103" name="Rectangle 32">
              <a:extLst>
                <a:ext uri="{FF2B5EF4-FFF2-40B4-BE49-F238E27FC236}">
                  <a16:creationId xmlns:a16="http://schemas.microsoft.com/office/drawing/2014/main" id="{B4EF5547-1A56-4B30-98E1-B4F4C1550A55}"/>
                </a:ext>
              </a:extLst>
            </p:cNvPr>
            <p:cNvSpPr>
              <a:spLocks noChangeArrowheads="1"/>
            </p:cNvSpPr>
            <p:nvPr/>
          </p:nvSpPr>
          <p:spPr bwMode="auto">
            <a:xfrm>
              <a:off x="4241052" y="5207518"/>
              <a:ext cx="825939" cy="51594"/>
            </a:xfrm>
            <a:prstGeom prst="rect">
              <a:avLst/>
            </a:prstGeom>
            <a:solidFill>
              <a:srgbClr val="E3C5B8"/>
            </a:solidFill>
            <a:ln w="9525">
              <a:solidFill>
                <a:schemeClr val="tx1"/>
              </a:solidFill>
              <a:round/>
              <a:headEnd/>
              <a:tailEnd/>
            </a:ln>
          </p:spPr>
          <p:txBody>
            <a:bodyPr anchor="ctr">
              <a:prstTxWarp prst="textNoShape">
                <a:avLst/>
              </a:prstTxWarp>
            </a:bodyPr>
            <a:lstStyle/>
            <a:p>
              <a:pPr algn="ctr"/>
              <a:endParaRPr lang="en-US" sz="2000"/>
            </a:p>
          </p:txBody>
        </p:sp>
        <p:cxnSp>
          <p:nvCxnSpPr>
            <p:cNvPr id="104" name="Straight Connector 33">
              <a:extLst>
                <a:ext uri="{FF2B5EF4-FFF2-40B4-BE49-F238E27FC236}">
                  <a16:creationId xmlns:a16="http://schemas.microsoft.com/office/drawing/2014/main" id="{4291A7D9-6C2B-4307-9D27-3B6BB9E306C6}"/>
                </a:ext>
              </a:extLst>
            </p:cNvPr>
            <p:cNvCxnSpPr>
              <a:cxnSpLocks noChangeShapeType="1"/>
              <a:stCxn id="103" idx="3"/>
            </p:cNvCxnSpPr>
            <p:nvPr/>
          </p:nvCxnSpPr>
          <p:spPr bwMode="auto">
            <a:xfrm flipV="1">
              <a:off x="5066991" y="5229886"/>
              <a:ext cx="244017" cy="3429"/>
            </a:xfrm>
            <a:prstGeom prst="line">
              <a:avLst/>
            </a:prstGeom>
            <a:noFill/>
            <a:ln w="9525">
              <a:solidFill>
                <a:schemeClr val="tx1"/>
              </a:solidFill>
              <a:round/>
              <a:headEnd/>
              <a:tailEnd/>
            </a:ln>
          </p:spPr>
        </p:cxnSp>
        <p:sp>
          <p:nvSpPr>
            <p:cNvPr id="105" name="TextBox 55">
              <a:extLst>
                <a:ext uri="{FF2B5EF4-FFF2-40B4-BE49-F238E27FC236}">
                  <a16:creationId xmlns:a16="http://schemas.microsoft.com/office/drawing/2014/main" id="{EB634886-F8CF-4BCE-871E-38809F21C51C}"/>
                </a:ext>
              </a:extLst>
            </p:cNvPr>
            <p:cNvSpPr txBox="1">
              <a:spLocks noChangeArrowheads="1"/>
            </p:cNvSpPr>
            <p:nvPr/>
          </p:nvSpPr>
          <p:spPr bwMode="auto">
            <a:xfrm>
              <a:off x="7163294" y="5015584"/>
              <a:ext cx="1309687" cy="793350"/>
            </a:xfrm>
            <a:prstGeom prst="rect">
              <a:avLst/>
            </a:prstGeom>
            <a:noFill/>
            <a:ln w="9525">
              <a:noFill/>
              <a:miter lim="800000"/>
              <a:headEnd/>
              <a:tailEnd/>
            </a:ln>
          </p:spPr>
          <p:txBody>
            <a:bodyPr>
              <a:prstTxWarp prst="textNoShape">
                <a:avLst/>
              </a:prstTxWarp>
              <a:spAutoFit/>
            </a:bodyPr>
            <a:lstStyle/>
            <a:p>
              <a:r>
                <a:rPr lang="en-US" sz="1200" dirty="0"/>
                <a:t>Reads mapped to reference</a:t>
              </a:r>
            </a:p>
          </p:txBody>
        </p:sp>
        <p:sp>
          <p:nvSpPr>
            <p:cNvPr id="106" name="Left Brace 105">
              <a:extLst>
                <a:ext uri="{FF2B5EF4-FFF2-40B4-BE49-F238E27FC236}">
                  <a16:creationId xmlns:a16="http://schemas.microsoft.com/office/drawing/2014/main" id="{B2CA69F6-7358-460D-932B-7DEF5A98165A}"/>
                </a:ext>
              </a:extLst>
            </p:cNvPr>
            <p:cNvSpPr/>
            <p:nvPr/>
          </p:nvSpPr>
          <p:spPr bwMode="auto">
            <a:xfrm rot="10800000">
              <a:off x="6929932" y="5030035"/>
              <a:ext cx="233362" cy="751214"/>
            </a:xfrm>
            <a:prstGeom prst="leftBrace">
              <a:avLst>
                <a:gd name="adj1" fmla="val 37836"/>
                <a:gd name="adj2" fmla="val 50000"/>
              </a:avLst>
            </a:prstGeom>
            <a:no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prstTxWarp prst="textNoShape">
                <a:avLst/>
              </a:prstTxWarp>
            </a:bodyPr>
            <a:lstStyle/>
            <a:p>
              <a:pPr defTabSz="914400" eaLnBrk="0" hangingPunct="0">
                <a:defRPr/>
              </a:pPr>
              <a:endParaRPr lang="en-US" sz="2400">
                <a:solidFill>
                  <a:schemeClr val="tx1"/>
                </a:solidFill>
                <a:latin typeface="Arial" pitchFamily="28" charset="0"/>
                <a:ea typeface="ＭＳ Ｐゴシック" pitchFamily="28" charset="-128"/>
                <a:cs typeface="ＭＳ Ｐゴシック" pitchFamily="28" charset="-128"/>
              </a:endParaRPr>
            </a:p>
          </p:txBody>
        </p:sp>
      </p:grpSp>
      <p:sp>
        <p:nvSpPr>
          <p:cNvPr id="152" name="TextBox 151">
            <a:extLst>
              <a:ext uri="{FF2B5EF4-FFF2-40B4-BE49-F238E27FC236}">
                <a16:creationId xmlns:a16="http://schemas.microsoft.com/office/drawing/2014/main" id="{3073D40E-6010-4440-899A-D06D7030F807}"/>
              </a:ext>
            </a:extLst>
          </p:cNvPr>
          <p:cNvSpPr txBox="1"/>
          <p:nvPr/>
        </p:nvSpPr>
        <p:spPr>
          <a:xfrm>
            <a:off x="4937264" y="2305893"/>
            <a:ext cx="1182440" cy="492443"/>
          </a:xfrm>
          <a:prstGeom prst="rect">
            <a:avLst/>
          </a:prstGeom>
          <a:noFill/>
        </p:spPr>
        <p:txBody>
          <a:bodyPr wrap="none" rtlCol="0">
            <a:spAutoFit/>
          </a:bodyPr>
          <a:lstStyle/>
          <a:p>
            <a:r>
              <a:rPr lang="en-US" sz="1400" b="1" dirty="0"/>
              <a:t>BWA for DNA</a:t>
            </a:r>
          </a:p>
          <a:p>
            <a:pPr marL="171450" indent="-171450">
              <a:buFont typeface="Arial"/>
              <a:buChar char="•"/>
            </a:pPr>
            <a:endParaRPr lang="en-US" sz="1200" b="1" dirty="0"/>
          </a:p>
        </p:txBody>
      </p:sp>
      <p:sp>
        <p:nvSpPr>
          <p:cNvPr id="153" name="Rectangle 152">
            <a:extLst>
              <a:ext uri="{FF2B5EF4-FFF2-40B4-BE49-F238E27FC236}">
                <a16:creationId xmlns:a16="http://schemas.microsoft.com/office/drawing/2014/main" id="{DD719FE4-5CA0-4610-AEEF-CC0EB22D628D}"/>
              </a:ext>
            </a:extLst>
          </p:cNvPr>
          <p:cNvSpPr/>
          <p:nvPr/>
        </p:nvSpPr>
        <p:spPr>
          <a:xfrm>
            <a:off x="350160" y="5073165"/>
            <a:ext cx="3309393" cy="317500"/>
          </a:xfrm>
          <a:prstGeom prst="rect">
            <a:avLst/>
          </a:prstGeom>
          <a:solidFill>
            <a:schemeClr val="bg1"/>
          </a:solidFill>
          <a:ln>
            <a:noFill/>
          </a:ln>
          <a:effectLst>
            <a:outerShdw blurRad="40000" dist="23000" dir="5400000" rotWithShape="0">
              <a:schemeClr val="bg1">
                <a:alpha val="35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5" name="Content Placeholder 7">
            <a:extLst>
              <a:ext uri="{FF2B5EF4-FFF2-40B4-BE49-F238E27FC236}">
                <a16:creationId xmlns:a16="http://schemas.microsoft.com/office/drawing/2014/main" id="{94B87143-C236-4D16-9E64-104A87C0815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256" r="15673"/>
          <a:stretch/>
        </p:blipFill>
        <p:spPr>
          <a:xfrm>
            <a:off x="6894435" y="4672053"/>
            <a:ext cx="4559166" cy="1854079"/>
          </a:xfrm>
          <a:prstGeom prst="rect">
            <a:avLst/>
          </a:prstGeom>
        </p:spPr>
      </p:pic>
      <p:sp>
        <p:nvSpPr>
          <p:cNvPr id="156" name="Content Placeholder 5">
            <a:extLst>
              <a:ext uri="{FF2B5EF4-FFF2-40B4-BE49-F238E27FC236}">
                <a16:creationId xmlns:a16="http://schemas.microsoft.com/office/drawing/2014/main" id="{AF95D936-30FC-4D2C-8ED3-9902A3DDB0CD}"/>
              </a:ext>
            </a:extLst>
          </p:cNvPr>
          <p:cNvSpPr>
            <a:spLocks noGrp="1"/>
          </p:cNvSpPr>
          <p:nvPr>
            <p:ph sz="half" idx="1"/>
          </p:nvPr>
        </p:nvSpPr>
        <p:spPr>
          <a:xfrm>
            <a:off x="6915926" y="2033775"/>
            <a:ext cx="5181600" cy="4351338"/>
          </a:xfrm>
        </p:spPr>
        <p:txBody>
          <a:bodyPr>
            <a:normAutofit/>
          </a:bodyPr>
          <a:lstStyle/>
          <a:p>
            <a:r>
              <a:rPr lang="en-GB" sz="1800" dirty="0">
                <a:latin typeface="Arial" panose="020B0604020202020204" pitchFamily="34" charset="0"/>
                <a:cs typeface="Arial" panose="020B0604020202020204" pitchFamily="34" charset="0"/>
              </a:rPr>
              <a:t>Short read sequences from the machine need to be </a:t>
            </a:r>
            <a:r>
              <a:rPr lang="en-GB" sz="1800" b="1" dirty="0">
                <a:latin typeface="Arial" panose="020B0604020202020204" pitchFamily="34" charset="0"/>
                <a:cs typeface="Arial" panose="020B0604020202020204" pitchFamily="34" charset="0"/>
              </a:rPr>
              <a:t>re-assembled</a:t>
            </a:r>
            <a:r>
              <a:rPr lang="en-GB" sz="1800" dirty="0">
                <a:latin typeface="Arial" panose="020B0604020202020204" pitchFamily="34" charset="0"/>
                <a:cs typeface="Arial" panose="020B0604020202020204" pitchFamily="34" charset="0"/>
              </a:rPr>
              <a:t> like a jigsaw</a:t>
            </a:r>
          </a:p>
          <a:p>
            <a:endParaRPr lang="en-GB" sz="1800" dirty="0">
              <a:latin typeface="Arial" panose="020B0604020202020204" pitchFamily="34" charset="0"/>
              <a:cs typeface="Arial" panose="020B0604020202020204" pitchFamily="34" charset="0"/>
            </a:endParaRPr>
          </a:p>
          <a:p>
            <a:r>
              <a:rPr lang="en-GB" sz="1800" dirty="0">
                <a:latin typeface="Arial" panose="020B0604020202020204" pitchFamily="34" charset="0"/>
                <a:cs typeface="Arial" panose="020B0604020202020204" pitchFamily="34" charset="0"/>
              </a:rPr>
              <a:t>Mapped against the reference genome using the alignment algorithm BWA</a:t>
            </a:r>
          </a:p>
        </p:txBody>
      </p:sp>
      <p:sp>
        <p:nvSpPr>
          <p:cNvPr id="2" name="TextBox 1">
            <a:extLst>
              <a:ext uri="{FF2B5EF4-FFF2-40B4-BE49-F238E27FC236}">
                <a16:creationId xmlns:a16="http://schemas.microsoft.com/office/drawing/2014/main" id="{77B48263-9DB8-8334-103E-A4D81D154D1E}"/>
              </a:ext>
            </a:extLst>
          </p:cNvPr>
          <p:cNvSpPr txBox="1"/>
          <p:nvPr/>
        </p:nvSpPr>
        <p:spPr>
          <a:xfrm>
            <a:off x="910444" y="5914417"/>
            <a:ext cx="4864024" cy="369332"/>
          </a:xfrm>
          <a:prstGeom prst="rect">
            <a:avLst/>
          </a:prstGeom>
          <a:noFill/>
        </p:spPr>
        <p:txBody>
          <a:bodyPr wrap="none" rtlCol="0">
            <a:spAutoFit/>
          </a:bodyPr>
          <a:lstStyle/>
          <a:p>
            <a:r>
              <a:rPr lang="en-GB" dirty="0"/>
              <a:t>More info : https://omics.sbs/blog/bwa/bwa.html</a:t>
            </a:r>
          </a:p>
        </p:txBody>
      </p:sp>
    </p:spTree>
    <p:extLst>
      <p:ext uri="{BB962C8B-B14F-4D97-AF65-F5344CB8AC3E}">
        <p14:creationId xmlns:p14="http://schemas.microsoft.com/office/powerpoint/2010/main" val="3667106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70402-CEDD-624A-F83D-AF69A98563DC}"/>
              </a:ext>
            </a:extLst>
          </p:cNvPr>
          <p:cNvSpPr>
            <a:spLocks noGrp="1"/>
          </p:cNvSpPr>
          <p:nvPr>
            <p:ph type="title"/>
          </p:nvPr>
        </p:nvSpPr>
        <p:spPr/>
        <p:txBody>
          <a:bodyPr/>
          <a:lstStyle/>
          <a:p>
            <a:pPr algn="ctr"/>
            <a:r>
              <a:rPr lang="en-GB" b="1" dirty="0"/>
              <a:t>Genomics – Data Sizes</a:t>
            </a:r>
          </a:p>
        </p:txBody>
      </p:sp>
      <p:pic>
        <p:nvPicPr>
          <p:cNvPr id="3" name="Picture 2">
            <a:extLst>
              <a:ext uri="{FF2B5EF4-FFF2-40B4-BE49-F238E27FC236}">
                <a16:creationId xmlns:a16="http://schemas.microsoft.com/office/drawing/2014/main" id="{5331AE9E-0DC3-B028-F3A6-7466335EA71C}"/>
              </a:ext>
            </a:extLst>
          </p:cNvPr>
          <p:cNvPicPr>
            <a:picLocks noChangeAspect="1"/>
          </p:cNvPicPr>
          <p:nvPr/>
        </p:nvPicPr>
        <p:blipFill>
          <a:blip r:embed="rId2"/>
          <a:stretch>
            <a:fillRect/>
          </a:stretch>
        </p:blipFill>
        <p:spPr>
          <a:xfrm>
            <a:off x="1008576" y="1791347"/>
            <a:ext cx="10704512" cy="4907874"/>
          </a:xfrm>
          <a:prstGeom prst="rect">
            <a:avLst/>
          </a:prstGeom>
        </p:spPr>
      </p:pic>
      <p:sp>
        <p:nvSpPr>
          <p:cNvPr id="4" name="Rectangle 3">
            <a:extLst>
              <a:ext uri="{FF2B5EF4-FFF2-40B4-BE49-F238E27FC236}">
                <a16:creationId xmlns:a16="http://schemas.microsoft.com/office/drawing/2014/main" id="{EAB74C74-A76E-FA80-5AEC-72CF4E6E6756}"/>
              </a:ext>
            </a:extLst>
          </p:cNvPr>
          <p:cNvSpPr/>
          <p:nvPr/>
        </p:nvSpPr>
        <p:spPr>
          <a:xfrm>
            <a:off x="691132" y="1791347"/>
            <a:ext cx="864096" cy="490787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FCE5E290-792F-1228-A325-C9BD570065B8}"/>
              </a:ext>
            </a:extLst>
          </p:cNvPr>
          <p:cNvSpPr txBox="1"/>
          <p:nvPr/>
        </p:nvSpPr>
        <p:spPr>
          <a:xfrm rot="16200000">
            <a:off x="418846" y="3720563"/>
            <a:ext cx="710451" cy="369332"/>
          </a:xfrm>
          <a:prstGeom prst="rect">
            <a:avLst/>
          </a:prstGeom>
          <a:solidFill>
            <a:srgbClr val="FFFFFF"/>
          </a:solidFill>
        </p:spPr>
        <p:txBody>
          <a:bodyPr wrap="none" rtlCol="0">
            <a:spAutoFit/>
          </a:bodyPr>
          <a:lstStyle/>
          <a:p>
            <a:r>
              <a:rPr lang="en-GB" b="1" dirty="0">
                <a:solidFill>
                  <a:srgbClr val="002B3C"/>
                </a:solidFill>
              </a:rPr>
              <a:t>WES</a:t>
            </a:r>
          </a:p>
        </p:txBody>
      </p:sp>
      <p:sp>
        <p:nvSpPr>
          <p:cNvPr id="6" name="TextBox 5">
            <a:extLst>
              <a:ext uri="{FF2B5EF4-FFF2-40B4-BE49-F238E27FC236}">
                <a16:creationId xmlns:a16="http://schemas.microsoft.com/office/drawing/2014/main" id="{00C7404B-2A96-2A4B-D480-8D9AC4834398}"/>
              </a:ext>
            </a:extLst>
          </p:cNvPr>
          <p:cNvSpPr txBox="1"/>
          <p:nvPr/>
        </p:nvSpPr>
        <p:spPr>
          <a:xfrm rot="16200000">
            <a:off x="-11920" y="5307935"/>
            <a:ext cx="1723549" cy="646331"/>
          </a:xfrm>
          <a:prstGeom prst="rect">
            <a:avLst/>
          </a:prstGeom>
          <a:solidFill>
            <a:srgbClr val="FFFFFF"/>
          </a:solidFill>
        </p:spPr>
        <p:txBody>
          <a:bodyPr wrap="none" rtlCol="0">
            <a:spAutoFit/>
          </a:bodyPr>
          <a:lstStyle/>
          <a:p>
            <a:pPr algn="ctr"/>
            <a:r>
              <a:rPr lang="en-GB" b="1" dirty="0">
                <a:solidFill>
                  <a:srgbClr val="002B3C"/>
                </a:solidFill>
              </a:rPr>
              <a:t>SNP </a:t>
            </a:r>
          </a:p>
          <a:p>
            <a:pPr algn="ctr"/>
            <a:r>
              <a:rPr lang="en-GB" b="1" dirty="0">
                <a:solidFill>
                  <a:srgbClr val="002B3C"/>
                </a:solidFill>
              </a:rPr>
              <a:t>GENOTYPING</a:t>
            </a:r>
          </a:p>
        </p:txBody>
      </p:sp>
      <p:sp>
        <p:nvSpPr>
          <p:cNvPr id="7" name="TextBox 6">
            <a:extLst>
              <a:ext uri="{FF2B5EF4-FFF2-40B4-BE49-F238E27FC236}">
                <a16:creationId xmlns:a16="http://schemas.microsoft.com/office/drawing/2014/main" id="{816F22A9-D71C-B17A-3818-39A8088A5E24}"/>
              </a:ext>
            </a:extLst>
          </p:cNvPr>
          <p:cNvSpPr txBox="1"/>
          <p:nvPr/>
        </p:nvSpPr>
        <p:spPr>
          <a:xfrm rot="16200000">
            <a:off x="343307" y="2306512"/>
            <a:ext cx="736099" cy="369332"/>
          </a:xfrm>
          <a:prstGeom prst="rect">
            <a:avLst/>
          </a:prstGeom>
          <a:solidFill>
            <a:srgbClr val="FFFFFF"/>
          </a:solidFill>
        </p:spPr>
        <p:txBody>
          <a:bodyPr wrap="none" rtlCol="0">
            <a:spAutoFit/>
          </a:bodyPr>
          <a:lstStyle/>
          <a:p>
            <a:r>
              <a:rPr lang="en-GB" b="1" dirty="0">
                <a:solidFill>
                  <a:srgbClr val="002B3C"/>
                </a:solidFill>
              </a:rPr>
              <a:t>WGS</a:t>
            </a:r>
          </a:p>
        </p:txBody>
      </p:sp>
    </p:spTree>
    <p:extLst>
      <p:ext uri="{BB962C8B-B14F-4D97-AF65-F5344CB8AC3E}">
        <p14:creationId xmlns:p14="http://schemas.microsoft.com/office/powerpoint/2010/main" val="68079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C3EB87EF-FC6E-4027-4D67-E1D1B444890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48860" y="1844814"/>
            <a:ext cx="10010328" cy="2071103"/>
          </a:xfrm>
          <a:prstGeom prst="rect">
            <a:avLst/>
          </a:prstGeom>
        </p:spPr>
      </p:pic>
      <p:graphicFrame>
        <p:nvGraphicFramePr>
          <p:cNvPr id="4" name="Table 5">
            <a:extLst>
              <a:ext uri="{FF2B5EF4-FFF2-40B4-BE49-F238E27FC236}">
                <a16:creationId xmlns:a16="http://schemas.microsoft.com/office/drawing/2014/main" id="{FAA4684E-84BF-D6C6-E82D-80C598F47DC9}"/>
              </a:ext>
            </a:extLst>
          </p:cNvPr>
          <p:cNvGraphicFramePr>
            <a:graphicFrameLocks noGrp="1"/>
          </p:cNvGraphicFramePr>
          <p:nvPr>
            <p:extLst>
              <p:ext uri="{D42A27DB-BD31-4B8C-83A1-F6EECF244321}">
                <p14:modId xmlns:p14="http://schemas.microsoft.com/office/powerpoint/2010/main" val="4286715021"/>
              </p:ext>
            </p:extLst>
          </p:nvPr>
        </p:nvGraphicFramePr>
        <p:xfrm>
          <a:off x="1496751" y="3915917"/>
          <a:ext cx="9462437" cy="1125342"/>
        </p:xfrm>
        <a:graphic>
          <a:graphicData uri="http://schemas.openxmlformats.org/drawingml/2006/table">
            <a:tbl>
              <a:tblPr firstRow="1" bandRow="1">
                <a:solidFill>
                  <a:schemeClr val="bg1"/>
                </a:solidFill>
                <a:tableStyleId>{5C22544A-7EE6-4342-B048-85BDC9FD1C3A}</a:tableStyleId>
              </a:tblPr>
              <a:tblGrid>
                <a:gridCol w="2520280">
                  <a:extLst>
                    <a:ext uri="{9D8B030D-6E8A-4147-A177-3AD203B41FA5}">
                      <a16:colId xmlns:a16="http://schemas.microsoft.com/office/drawing/2014/main" val="1365385872"/>
                    </a:ext>
                  </a:extLst>
                </a:gridCol>
                <a:gridCol w="2304256">
                  <a:extLst>
                    <a:ext uri="{9D8B030D-6E8A-4147-A177-3AD203B41FA5}">
                      <a16:colId xmlns:a16="http://schemas.microsoft.com/office/drawing/2014/main" val="1959998040"/>
                    </a:ext>
                  </a:extLst>
                </a:gridCol>
                <a:gridCol w="2272292">
                  <a:extLst>
                    <a:ext uri="{9D8B030D-6E8A-4147-A177-3AD203B41FA5}">
                      <a16:colId xmlns:a16="http://schemas.microsoft.com/office/drawing/2014/main" val="859918918"/>
                    </a:ext>
                  </a:extLst>
                </a:gridCol>
                <a:gridCol w="2365609">
                  <a:extLst>
                    <a:ext uri="{9D8B030D-6E8A-4147-A177-3AD203B41FA5}">
                      <a16:colId xmlns:a16="http://schemas.microsoft.com/office/drawing/2014/main" val="1472119849"/>
                    </a:ext>
                  </a:extLst>
                </a:gridCol>
              </a:tblGrid>
              <a:tr h="370840">
                <a:tc>
                  <a:txBody>
                    <a:bodyPr/>
                    <a:lstStyle/>
                    <a:p>
                      <a:r>
                        <a:rPr lang="en-GB" dirty="0"/>
                        <a:t>WGS</a:t>
                      </a:r>
                    </a:p>
                  </a:txBody>
                  <a:tcPr/>
                </a:tc>
                <a:tc>
                  <a:txBody>
                    <a:bodyPr/>
                    <a:lstStyle/>
                    <a:p>
                      <a:pPr algn="ctr"/>
                      <a:r>
                        <a:rPr lang="en-GB" dirty="0"/>
                        <a:t>80-100 GB</a:t>
                      </a:r>
                    </a:p>
                  </a:txBody>
                  <a:tcPr/>
                </a:tc>
                <a:tc>
                  <a:txBody>
                    <a:bodyPr/>
                    <a:lstStyle/>
                    <a:p>
                      <a:pPr algn="ctr"/>
                      <a:r>
                        <a:rPr lang="en-GB" dirty="0"/>
                        <a:t>80-100 GB</a:t>
                      </a:r>
                    </a:p>
                  </a:txBody>
                  <a:tcPr/>
                </a:tc>
                <a:tc>
                  <a:txBody>
                    <a:bodyPr/>
                    <a:lstStyle/>
                    <a:p>
                      <a:pPr algn="ctr"/>
                      <a:r>
                        <a:rPr lang="en-GB" dirty="0"/>
                        <a:t>2-4 GB</a:t>
                      </a:r>
                    </a:p>
                  </a:txBody>
                  <a:tcPr/>
                </a:tc>
                <a:extLst>
                  <a:ext uri="{0D108BD9-81ED-4DB2-BD59-A6C34878D82A}">
                    <a16:rowId xmlns:a16="http://schemas.microsoft.com/office/drawing/2014/main" val="1638544213"/>
                  </a:ext>
                </a:extLst>
              </a:tr>
              <a:tr h="370840">
                <a:tc>
                  <a:txBody>
                    <a:bodyPr/>
                    <a:lstStyle/>
                    <a:p>
                      <a:r>
                        <a:rPr lang="en-GB" dirty="0"/>
                        <a:t>WES</a:t>
                      </a:r>
                    </a:p>
                  </a:txBody>
                  <a:tcPr/>
                </a:tc>
                <a:tc>
                  <a:txBody>
                    <a:bodyPr/>
                    <a:lstStyle/>
                    <a:p>
                      <a:pPr algn="ctr"/>
                      <a:r>
                        <a:rPr lang="en-GB" dirty="0"/>
                        <a:t>3-4 GB</a:t>
                      </a:r>
                    </a:p>
                  </a:txBody>
                  <a:tcPr/>
                </a:tc>
                <a:tc>
                  <a:txBody>
                    <a:bodyPr/>
                    <a:lstStyle/>
                    <a:p>
                      <a:pPr algn="ctr"/>
                      <a:r>
                        <a:rPr lang="en-GB" dirty="0"/>
                        <a:t>3-4 GB</a:t>
                      </a:r>
                    </a:p>
                  </a:txBody>
                  <a:tcPr/>
                </a:tc>
                <a:tc>
                  <a:txBody>
                    <a:bodyPr/>
                    <a:lstStyle/>
                    <a:p>
                      <a:pPr algn="ctr"/>
                      <a:r>
                        <a:rPr lang="en-GB" dirty="0"/>
                        <a:t>200 MB</a:t>
                      </a:r>
                    </a:p>
                  </a:txBody>
                  <a:tcPr/>
                </a:tc>
                <a:extLst>
                  <a:ext uri="{0D108BD9-81ED-4DB2-BD59-A6C34878D82A}">
                    <a16:rowId xmlns:a16="http://schemas.microsoft.com/office/drawing/2014/main" val="1855259127"/>
                  </a:ext>
                </a:extLst>
              </a:tr>
              <a:tr h="383662">
                <a:tc>
                  <a:txBody>
                    <a:bodyPr/>
                    <a:lstStyle/>
                    <a:p>
                      <a:r>
                        <a:rPr lang="en-GB" dirty="0"/>
                        <a:t>SNP arrays genotype</a:t>
                      </a:r>
                    </a:p>
                  </a:txBody>
                  <a:tcPr/>
                </a:tc>
                <a:tc>
                  <a:txBody>
                    <a:bodyPr/>
                    <a:lstStyle/>
                    <a:p>
                      <a:pPr algn="ctr"/>
                      <a:endParaRPr lang="en-GB" dirty="0"/>
                    </a:p>
                  </a:txBody>
                  <a:tcPr/>
                </a:tc>
                <a:tc>
                  <a:txBody>
                    <a:bodyPr/>
                    <a:lstStyle/>
                    <a:p>
                      <a:pPr algn="ctr"/>
                      <a:endParaRPr lang="en-GB" dirty="0"/>
                    </a:p>
                  </a:txBody>
                  <a:tcPr/>
                </a:tc>
                <a:tc>
                  <a:txBody>
                    <a:bodyPr/>
                    <a:lstStyle/>
                    <a:p>
                      <a:pPr algn="ctr"/>
                      <a:r>
                        <a:rPr lang="en-GB" dirty="0"/>
                        <a:t>1-2 MB</a:t>
                      </a:r>
                    </a:p>
                  </a:txBody>
                  <a:tcPr/>
                </a:tc>
                <a:extLst>
                  <a:ext uri="{0D108BD9-81ED-4DB2-BD59-A6C34878D82A}">
                    <a16:rowId xmlns:a16="http://schemas.microsoft.com/office/drawing/2014/main" val="2596794509"/>
                  </a:ext>
                </a:extLst>
              </a:tr>
            </a:tbl>
          </a:graphicData>
        </a:graphic>
      </p:graphicFrame>
      <p:sp>
        <p:nvSpPr>
          <p:cNvPr id="5" name="TextBox 4">
            <a:extLst>
              <a:ext uri="{FF2B5EF4-FFF2-40B4-BE49-F238E27FC236}">
                <a16:creationId xmlns:a16="http://schemas.microsoft.com/office/drawing/2014/main" id="{2D5063DB-5244-0DEB-677E-309C1252781F}"/>
              </a:ext>
            </a:extLst>
          </p:cNvPr>
          <p:cNvSpPr txBox="1"/>
          <p:nvPr/>
        </p:nvSpPr>
        <p:spPr>
          <a:xfrm>
            <a:off x="842440" y="5450338"/>
            <a:ext cx="2808312" cy="1200329"/>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chemeClr val="bg1">
                    <a:lumMod val="10000"/>
                  </a:schemeClr>
                </a:solidFill>
              </a:rPr>
              <a:t>Coverage?</a:t>
            </a:r>
          </a:p>
          <a:p>
            <a:pPr marL="285750" indent="-285750">
              <a:buFont typeface="Arial" panose="020B0604020202020204" pitchFamily="34" charset="0"/>
              <a:buChar char="•"/>
            </a:pPr>
            <a:endParaRPr lang="en-GB" dirty="0">
              <a:solidFill>
                <a:schemeClr val="bg1">
                  <a:lumMod val="10000"/>
                </a:schemeClr>
              </a:solidFill>
            </a:endParaRPr>
          </a:p>
          <a:p>
            <a:pPr marL="285750" indent="-285750">
              <a:buFont typeface="Arial" panose="020B0604020202020204" pitchFamily="34" charset="0"/>
              <a:buChar char="•"/>
            </a:pPr>
            <a:endParaRPr lang="en-GB" dirty="0">
              <a:solidFill>
                <a:schemeClr val="bg1">
                  <a:lumMod val="10000"/>
                </a:schemeClr>
              </a:solidFill>
            </a:endParaRPr>
          </a:p>
          <a:p>
            <a:pPr marL="285750" indent="-285750">
              <a:buFont typeface="Arial" panose="020B0604020202020204" pitchFamily="34" charset="0"/>
              <a:buChar char="•"/>
            </a:pPr>
            <a:r>
              <a:rPr lang="en-GB" dirty="0">
                <a:solidFill>
                  <a:schemeClr val="bg1">
                    <a:lumMod val="10000"/>
                  </a:schemeClr>
                </a:solidFill>
              </a:rPr>
              <a:t>Number of samples?</a:t>
            </a:r>
          </a:p>
        </p:txBody>
      </p:sp>
      <p:grpSp>
        <p:nvGrpSpPr>
          <p:cNvPr id="6" name="Group 5">
            <a:extLst>
              <a:ext uri="{FF2B5EF4-FFF2-40B4-BE49-F238E27FC236}">
                <a16:creationId xmlns:a16="http://schemas.microsoft.com/office/drawing/2014/main" id="{40DE43AA-B8D3-BB03-7518-3BE5951387FB}"/>
              </a:ext>
            </a:extLst>
          </p:cNvPr>
          <p:cNvGrpSpPr/>
          <p:nvPr/>
        </p:nvGrpSpPr>
        <p:grpSpPr>
          <a:xfrm>
            <a:off x="3967587" y="5943600"/>
            <a:ext cx="8094285" cy="914400"/>
            <a:chOff x="2999656" y="5246794"/>
            <a:chExt cx="8094285" cy="914400"/>
          </a:xfrm>
        </p:grpSpPr>
        <p:pic>
          <p:nvPicPr>
            <p:cNvPr id="7" name="Graphic 6" descr="Group with solid fill">
              <a:extLst>
                <a:ext uri="{FF2B5EF4-FFF2-40B4-BE49-F238E27FC236}">
                  <a16:creationId xmlns:a16="http://schemas.microsoft.com/office/drawing/2014/main" id="{E76ECE7E-4308-B1A8-9B76-497E9DB9F08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966114" y="5246794"/>
              <a:ext cx="896843" cy="914400"/>
            </a:xfrm>
            <a:prstGeom prst="rect">
              <a:avLst/>
            </a:prstGeom>
          </p:spPr>
        </p:pic>
        <p:pic>
          <p:nvPicPr>
            <p:cNvPr id="8" name="Graphic 7" descr="Group with solid fill">
              <a:extLst>
                <a:ext uri="{FF2B5EF4-FFF2-40B4-BE49-F238E27FC236}">
                  <a16:creationId xmlns:a16="http://schemas.microsoft.com/office/drawing/2014/main" id="{6CD56E82-E3CC-4A52-BD02-2C391160BAB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804601" y="5246794"/>
              <a:ext cx="896843" cy="914400"/>
            </a:xfrm>
            <a:prstGeom prst="rect">
              <a:avLst/>
            </a:prstGeom>
          </p:spPr>
        </p:pic>
        <p:pic>
          <p:nvPicPr>
            <p:cNvPr id="9" name="Graphic 8" descr="Group with solid fill">
              <a:extLst>
                <a:ext uri="{FF2B5EF4-FFF2-40B4-BE49-F238E27FC236}">
                  <a16:creationId xmlns:a16="http://schemas.microsoft.com/office/drawing/2014/main" id="{A24631EE-5B0F-9FA3-EAB4-968C9736A2A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55541" y="5246794"/>
              <a:ext cx="896843" cy="914400"/>
            </a:xfrm>
            <a:prstGeom prst="rect">
              <a:avLst/>
            </a:prstGeom>
          </p:spPr>
        </p:pic>
        <p:pic>
          <p:nvPicPr>
            <p:cNvPr id="10" name="Graphic 9" descr="Group with solid fill">
              <a:extLst>
                <a:ext uri="{FF2B5EF4-FFF2-40B4-BE49-F238E27FC236}">
                  <a16:creationId xmlns:a16="http://schemas.microsoft.com/office/drawing/2014/main" id="{DB0B7071-B19D-9457-7655-CC9EB9F463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417541" y="5246794"/>
              <a:ext cx="914400" cy="914400"/>
            </a:xfrm>
            <a:prstGeom prst="rect">
              <a:avLst/>
            </a:prstGeom>
          </p:spPr>
        </p:pic>
        <p:pic>
          <p:nvPicPr>
            <p:cNvPr id="11" name="Graphic 10" descr="Group with solid fill">
              <a:extLst>
                <a:ext uri="{FF2B5EF4-FFF2-40B4-BE49-F238E27FC236}">
                  <a16:creationId xmlns:a16="http://schemas.microsoft.com/office/drawing/2014/main" id="{3AC8C67A-6BF4-AFC6-78C0-4E174C216FD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79541" y="5246794"/>
              <a:ext cx="914400" cy="914400"/>
            </a:xfrm>
            <a:prstGeom prst="rect">
              <a:avLst/>
            </a:prstGeom>
          </p:spPr>
        </p:pic>
        <p:pic>
          <p:nvPicPr>
            <p:cNvPr id="12" name="Graphic 11" descr="Group with solid fill">
              <a:extLst>
                <a:ext uri="{FF2B5EF4-FFF2-40B4-BE49-F238E27FC236}">
                  <a16:creationId xmlns:a16="http://schemas.microsoft.com/office/drawing/2014/main" id="{95869FD2-2DDF-F90F-78F3-6520F8E9184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999656" y="5246794"/>
              <a:ext cx="896843" cy="914400"/>
            </a:xfrm>
            <a:prstGeom prst="rect">
              <a:avLst/>
            </a:prstGeom>
          </p:spPr>
        </p:pic>
        <p:pic>
          <p:nvPicPr>
            <p:cNvPr id="13" name="Graphic 12" descr="Group with solid fill">
              <a:extLst>
                <a:ext uri="{FF2B5EF4-FFF2-40B4-BE49-F238E27FC236}">
                  <a16:creationId xmlns:a16="http://schemas.microsoft.com/office/drawing/2014/main" id="{9BBAB4BF-F611-DED5-12AC-FB8E2CF52BE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838143" y="5246794"/>
              <a:ext cx="896843" cy="914400"/>
            </a:xfrm>
            <a:prstGeom prst="rect">
              <a:avLst/>
            </a:prstGeom>
          </p:spPr>
        </p:pic>
        <p:pic>
          <p:nvPicPr>
            <p:cNvPr id="14" name="Graphic 13" descr="Group with solid fill">
              <a:extLst>
                <a:ext uri="{FF2B5EF4-FFF2-40B4-BE49-F238E27FC236}">
                  <a16:creationId xmlns:a16="http://schemas.microsoft.com/office/drawing/2014/main" id="{0C263CD8-BE92-96D4-4DDA-134C5932562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73601" y="5246794"/>
              <a:ext cx="896843" cy="914400"/>
            </a:xfrm>
            <a:prstGeom prst="rect">
              <a:avLst/>
            </a:prstGeom>
          </p:spPr>
        </p:pic>
        <p:pic>
          <p:nvPicPr>
            <p:cNvPr id="15" name="Graphic 14" descr="Group with solid fill">
              <a:extLst>
                <a:ext uri="{FF2B5EF4-FFF2-40B4-BE49-F238E27FC236}">
                  <a16:creationId xmlns:a16="http://schemas.microsoft.com/office/drawing/2014/main" id="{8F0321C0-AB37-BAC4-5A7E-0C41D8CDF8C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435601" y="5246794"/>
              <a:ext cx="896843" cy="914400"/>
            </a:xfrm>
            <a:prstGeom prst="rect">
              <a:avLst/>
            </a:prstGeom>
          </p:spPr>
        </p:pic>
        <p:pic>
          <p:nvPicPr>
            <p:cNvPr id="16" name="Graphic 15" descr="Group with solid fill">
              <a:extLst>
                <a:ext uri="{FF2B5EF4-FFF2-40B4-BE49-F238E27FC236}">
                  <a16:creationId xmlns:a16="http://schemas.microsoft.com/office/drawing/2014/main" id="{5743138C-683C-639D-D3CC-7115D6964E1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197601" y="5246794"/>
              <a:ext cx="896843" cy="914400"/>
            </a:xfrm>
            <a:prstGeom prst="rect">
              <a:avLst/>
            </a:prstGeom>
          </p:spPr>
        </p:pic>
      </p:grpSp>
      <p:sp>
        <p:nvSpPr>
          <p:cNvPr id="17" name="Title 1">
            <a:extLst>
              <a:ext uri="{FF2B5EF4-FFF2-40B4-BE49-F238E27FC236}">
                <a16:creationId xmlns:a16="http://schemas.microsoft.com/office/drawing/2014/main" id="{A5A26C23-0CF9-B10D-BBC3-5F65803B4A5E}"/>
              </a:ext>
            </a:extLst>
          </p:cNvPr>
          <p:cNvSpPr>
            <a:spLocks noGrp="1"/>
          </p:cNvSpPr>
          <p:nvPr>
            <p:ph type="title"/>
          </p:nvPr>
        </p:nvSpPr>
        <p:spPr>
          <a:xfrm>
            <a:off x="838200" y="365125"/>
            <a:ext cx="10515600" cy="1325563"/>
          </a:xfrm>
        </p:spPr>
        <p:txBody>
          <a:bodyPr/>
          <a:lstStyle/>
          <a:p>
            <a:pPr algn="ctr"/>
            <a:r>
              <a:rPr lang="en-GB" b="1" dirty="0"/>
              <a:t>Genomics  – Data Sizes</a:t>
            </a:r>
          </a:p>
        </p:txBody>
      </p:sp>
    </p:spTree>
    <p:extLst>
      <p:ext uri="{BB962C8B-B14F-4D97-AF65-F5344CB8AC3E}">
        <p14:creationId xmlns:p14="http://schemas.microsoft.com/office/powerpoint/2010/main" val="741928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C478C-C70A-E70A-19A4-B3823EA118E1}"/>
              </a:ext>
            </a:extLst>
          </p:cNvPr>
          <p:cNvSpPr>
            <a:spLocks noGrp="1"/>
          </p:cNvSpPr>
          <p:nvPr>
            <p:ph type="title"/>
          </p:nvPr>
        </p:nvSpPr>
        <p:spPr>
          <a:xfrm>
            <a:off x="1103376" y="621157"/>
            <a:ext cx="10515600" cy="1325563"/>
          </a:xfrm>
        </p:spPr>
        <p:txBody>
          <a:bodyPr>
            <a:normAutofit/>
          </a:bodyPr>
          <a:lstStyle/>
          <a:p>
            <a:pPr algn="ctr"/>
            <a:r>
              <a:rPr lang="en-GB" b="1" dirty="0">
                <a:latin typeface="Arial" panose="020B0604020202020204" pitchFamily="34" charset="0"/>
                <a:cs typeface="Arial" panose="020B0604020202020204" pitchFamily="34" charset="0"/>
              </a:rPr>
              <a:t>NGS– Processing Time</a:t>
            </a:r>
            <a:br>
              <a:rPr lang="en-GB" b="1" dirty="0">
                <a:latin typeface="Arial" panose="020B0604020202020204" pitchFamily="34" charset="0"/>
                <a:cs typeface="Arial" panose="020B0604020202020204" pitchFamily="34" charset="0"/>
              </a:rPr>
            </a:br>
            <a:endParaRPr lang="en-GB"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0C25E2F-722D-7D9C-1605-0D19FB0B7B98}"/>
              </a:ext>
            </a:extLst>
          </p:cNvPr>
          <p:cNvPicPr>
            <a:picLocks noChangeAspect="1"/>
          </p:cNvPicPr>
          <p:nvPr/>
        </p:nvPicPr>
        <p:blipFill>
          <a:blip r:embed="rId2"/>
          <a:stretch>
            <a:fillRect/>
          </a:stretch>
        </p:blipFill>
        <p:spPr>
          <a:xfrm>
            <a:off x="838200" y="2011927"/>
            <a:ext cx="11443184" cy="4480948"/>
          </a:xfrm>
          <a:prstGeom prst="rect">
            <a:avLst/>
          </a:prstGeom>
        </p:spPr>
      </p:pic>
    </p:spTree>
    <p:extLst>
      <p:ext uri="{BB962C8B-B14F-4D97-AF65-F5344CB8AC3E}">
        <p14:creationId xmlns:p14="http://schemas.microsoft.com/office/powerpoint/2010/main" val="1990267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E0405-E2B6-83B2-A644-81B25D89273F}"/>
              </a:ext>
            </a:extLst>
          </p:cNvPr>
          <p:cNvSpPr>
            <a:spLocks noGrp="1"/>
          </p:cNvSpPr>
          <p:nvPr>
            <p:ph type="title"/>
          </p:nvPr>
        </p:nvSpPr>
        <p:spPr/>
        <p:txBody>
          <a:bodyPr/>
          <a:lstStyle/>
          <a:p>
            <a:r>
              <a:rPr lang="en-GB" b="1" dirty="0">
                <a:latin typeface="Arial" panose="020B0604020202020204" pitchFamily="34" charset="0"/>
                <a:cs typeface="Arial" panose="020B0604020202020204" pitchFamily="34" charset="0"/>
              </a:rPr>
              <a:t>Genomic Data - Practical Challenges</a:t>
            </a:r>
            <a:br>
              <a:rPr lang="en-GB" b="1" dirty="0">
                <a:latin typeface="Arial" panose="020B0604020202020204" pitchFamily="34" charset="0"/>
                <a:cs typeface="Arial" panose="020B0604020202020204" pitchFamily="34" charset="0"/>
              </a:rPr>
            </a:br>
            <a:endParaRPr lang="en-GB" b="1" dirty="0">
              <a:latin typeface="Arial" panose="020B0604020202020204" pitchFamily="34" charset="0"/>
              <a:cs typeface="Arial" panose="020B0604020202020204" pitchFamily="34" charset="0"/>
            </a:endParaRPr>
          </a:p>
        </p:txBody>
      </p:sp>
      <p:sp>
        <p:nvSpPr>
          <p:cNvPr id="3" name="Text Placeholder 3">
            <a:extLst>
              <a:ext uri="{FF2B5EF4-FFF2-40B4-BE49-F238E27FC236}">
                <a16:creationId xmlns:a16="http://schemas.microsoft.com/office/drawing/2014/main" id="{BAF2D23F-9261-D335-3BE7-E4A16F7321BF}"/>
              </a:ext>
            </a:extLst>
          </p:cNvPr>
          <p:cNvSpPr txBox="1">
            <a:spLocks/>
          </p:cNvSpPr>
          <p:nvPr/>
        </p:nvSpPr>
        <p:spPr>
          <a:xfrm>
            <a:off x="1042485" y="498612"/>
            <a:ext cx="9506272" cy="4801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pic>
        <p:nvPicPr>
          <p:cNvPr id="4" name="Picture 3">
            <a:extLst>
              <a:ext uri="{FF2B5EF4-FFF2-40B4-BE49-F238E27FC236}">
                <a16:creationId xmlns:a16="http://schemas.microsoft.com/office/drawing/2014/main" id="{14553CB5-11F5-A93D-1576-A67A345092F1}"/>
              </a:ext>
            </a:extLst>
          </p:cNvPr>
          <p:cNvPicPr>
            <a:picLocks noChangeAspect="1"/>
          </p:cNvPicPr>
          <p:nvPr/>
        </p:nvPicPr>
        <p:blipFill>
          <a:blip r:embed="rId2"/>
          <a:stretch>
            <a:fillRect/>
          </a:stretch>
        </p:blipFill>
        <p:spPr>
          <a:xfrm>
            <a:off x="1823652" y="1342966"/>
            <a:ext cx="10155067" cy="905001"/>
          </a:xfrm>
          <a:prstGeom prst="rect">
            <a:avLst/>
          </a:prstGeom>
        </p:spPr>
      </p:pic>
      <p:pic>
        <p:nvPicPr>
          <p:cNvPr id="5" name="Picture 4">
            <a:extLst>
              <a:ext uri="{FF2B5EF4-FFF2-40B4-BE49-F238E27FC236}">
                <a16:creationId xmlns:a16="http://schemas.microsoft.com/office/drawing/2014/main" id="{F2BCC01D-17D3-AFBA-54A1-B6184F73A7E9}"/>
              </a:ext>
            </a:extLst>
          </p:cNvPr>
          <p:cNvPicPr>
            <a:picLocks noChangeAspect="1"/>
          </p:cNvPicPr>
          <p:nvPr/>
        </p:nvPicPr>
        <p:blipFill>
          <a:blip r:embed="rId2"/>
          <a:stretch>
            <a:fillRect/>
          </a:stretch>
        </p:blipFill>
        <p:spPr>
          <a:xfrm>
            <a:off x="1823651" y="2329947"/>
            <a:ext cx="10155067" cy="905001"/>
          </a:xfrm>
          <a:prstGeom prst="rect">
            <a:avLst/>
          </a:prstGeom>
        </p:spPr>
      </p:pic>
      <p:pic>
        <p:nvPicPr>
          <p:cNvPr id="6" name="Picture 5">
            <a:extLst>
              <a:ext uri="{FF2B5EF4-FFF2-40B4-BE49-F238E27FC236}">
                <a16:creationId xmlns:a16="http://schemas.microsoft.com/office/drawing/2014/main" id="{E8A50626-5924-F965-2067-E9FD22DE5EED}"/>
              </a:ext>
            </a:extLst>
          </p:cNvPr>
          <p:cNvPicPr>
            <a:picLocks noChangeAspect="1"/>
          </p:cNvPicPr>
          <p:nvPr/>
        </p:nvPicPr>
        <p:blipFill>
          <a:blip r:embed="rId2"/>
          <a:stretch>
            <a:fillRect/>
          </a:stretch>
        </p:blipFill>
        <p:spPr>
          <a:xfrm>
            <a:off x="1833850" y="3316928"/>
            <a:ext cx="10155067" cy="905001"/>
          </a:xfrm>
          <a:prstGeom prst="rect">
            <a:avLst/>
          </a:prstGeom>
        </p:spPr>
      </p:pic>
      <p:sp>
        <p:nvSpPr>
          <p:cNvPr id="7" name="TextBox 6">
            <a:extLst>
              <a:ext uri="{FF2B5EF4-FFF2-40B4-BE49-F238E27FC236}">
                <a16:creationId xmlns:a16="http://schemas.microsoft.com/office/drawing/2014/main" id="{228614F5-725D-6D3C-1FBA-5B639F70A5BF}"/>
              </a:ext>
            </a:extLst>
          </p:cNvPr>
          <p:cNvSpPr txBox="1"/>
          <p:nvPr/>
        </p:nvSpPr>
        <p:spPr>
          <a:xfrm>
            <a:off x="500389" y="1610800"/>
            <a:ext cx="1159292" cy="369332"/>
          </a:xfrm>
          <a:prstGeom prst="rect">
            <a:avLst/>
          </a:prstGeom>
          <a:noFill/>
        </p:spPr>
        <p:txBody>
          <a:bodyPr wrap="none" rtlCol="0">
            <a:spAutoFit/>
          </a:bodyPr>
          <a:lstStyle/>
          <a:p>
            <a:r>
              <a:rPr lang="en-GB" dirty="0">
                <a:solidFill>
                  <a:schemeClr val="bg1">
                    <a:lumMod val="10000"/>
                  </a:schemeClr>
                </a:solidFill>
              </a:rPr>
              <a:t>Sample 1</a:t>
            </a:r>
          </a:p>
        </p:txBody>
      </p:sp>
      <p:sp>
        <p:nvSpPr>
          <p:cNvPr id="8" name="TextBox 7">
            <a:extLst>
              <a:ext uri="{FF2B5EF4-FFF2-40B4-BE49-F238E27FC236}">
                <a16:creationId xmlns:a16="http://schemas.microsoft.com/office/drawing/2014/main" id="{078682D1-B170-2DA4-190A-1AF67C406D8E}"/>
              </a:ext>
            </a:extLst>
          </p:cNvPr>
          <p:cNvSpPr txBox="1"/>
          <p:nvPr/>
        </p:nvSpPr>
        <p:spPr>
          <a:xfrm>
            <a:off x="500389" y="3584762"/>
            <a:ext cx="1197764" cy="369332"/>
          </a:xfrm>
          <a:prstGeom prst="rect">
            <a:avLst/>
          </a:prstGeom>
          <a:noFill/>
        </p:spPr>
        <p:txBody>
          <a:bodyPr wrap="none" rtlCol="0">
            <a:spAutoFit/>
          </a:bodyPr>
          <a:lstStyle/>
          <a:p>
            <a:r>
              <a:rPr lang="en-GB" dirty="0">
                <a:solidFill>
                  <a:schemeClr val="bg1">
                    <a:lumMod val="10000"/>
                  </a:schemeClr>
                </a:solidFill>
              </a:rPr>
              <a:t>Sample N</a:t>
            </a:r>
          </a:p>
        </p:txBody>
      </p:sp>
      <p:sp>
        <p:nvSpPr>
          <p:cNvPr id="9" name="TextBox 8">
            <a:extLst>
              <a:ext uri="{FF2B5EF4-FFF2-40B4-BE49-F238E27FC236}">
                <a16:creationId xmlns:a16="http://schemas.microsoft.com/office/drawing/2014/main" id="{F2877EB3-F466-0EC6-7091-D3E8ED377F0B}"/>
              </a:ext>
            </a:extLst>
          </p:cNvPr>
          <p:cNvSpPr txBox="1"/>
          <p:nvPr/>
        </p:nvSpPr>
        <p:spPr>
          <a:xfrm>
            <a:off x="495056" y="2586587"/>
            <a:ext cx="1159292" cy="369332"/>
          </a:xfrm>
          <a:prstGeom prst="rect">
            <a:avLst/>
          </a:prstGeom>
          <a:noFill/>
        </p:spPr>
        <p:txBody>
          <a:bodyPr wrap="none" rtlCol="0">
            <a:spAutoFit/>
          </a:bodyPr>
          <a:lstStyle/>
          <a:p>
            <a:r>
              <a:rPr lang="en-GB" dirty="0">
                <a:solidFill>
                  <a:schemeClr val="bg1">
                    <a:lumMod val="10000"/>
                  </a:schemeClr>
                </a:solidFill>
              </a:rPr>
              <a:t>Sample 2</a:t>
            </a:r>
          </a:p>
        </p:txBody>
      </p:sp>
      <p:sp>
        <p:nvSpPr>
          <p:cNvPr id="10" name="TextBox 9">
            <a:extLst>
              <a:ext uri="{FF2B5EF4-FFF2-40B4-BE49-F238E27FC236}">
                <a16:creationId xmlns:a16="http://schemas.microsoft.com/office/drawing/2014/main" id="{CE49287A-C35D-09EA-EDF9-BA28FB4109FD}"/>
              </a:ext>
            </a:extLst>
          </p:cNvPr>
          <p:cNvSpPr txBox="1"/>
          <p:nvPr/>
        </p:nvSpPr>
        <p:spPr>
          <a:xfrm rot="5400000">
            <a:off x="891522" y="3087939"/>
            <a:ext cx="415498" cy="369332"/>
          </a:xfrm>
          <a:prstGeom prst="rect">
            <a:avLst/>
          </a:prstGeom>
          <a:noFill/>
        </p:spPr>
        <p:txBody>
          <a:bodyPr wrap="none" rtlCol="0">
            <a:spAutoFit/>
          </a:bodyPr>
          <a:lstStyle/>
          <a:p>
            <a:r>
              <a:rPr lang="en-GB" dirty="0">
                <a:solidFill>
                  <a:schemeClr val="bg1">
                    <a:lumMod val="10000"/>
                  </a:schemeClr>
                </a:solidFill>
              </a:rPr>
              <a:t>…</a:t>
            </a:r>
          </a:p>
        </p:txBody>
      </p:sp>
      <p:sp>
        <p:nvSpPr>
          <p:cNvPr id="11" name="TextBox 10">
            <a:extLst>
              <a:ext uri="{FF2B5EF4-FFF2-40B4-BE49-F238E27FC236}">
                <a16:creationId xmlns:a16="http://schemas.microsoft.com/office/drawing/2014/main" id="{382B8E4A-8F77-BF6E-54C3-D9BF0A9E27C7}"/>
              </a:ext>
            </a:extLst>
          </p:cNvPr>
          <p:cNvSpPr txBox="1"/>
          <p:nvPr/>
        </p:nvSpPr>
        <p:spPr>
          <a:xfrm>
            <a:off x="1272439" y="4439310"/>
            <a:ext cx="1749197" cy="369332"/>
          </a:xfrm>
          <a:prstGeom prst="rect">
            <a:avLst/>
          </a:prstGeom>
          <a:noFill/>
        </p:spPr>
        <p:txBody>
          <a:bodyPr wrap="none" rtlCol="0">
            <a:spAutoFit/>
          </a:bodyPr>
          <a:lstStyle/>
          <a:p>
            <a:r>
              <a:rPr lang="en-GB" b="1" dirty="0">
                <a:solidFill>
                  <a:schemeClr val="bg1">
                    <a:lumMod val="10000"/>
                  </a:schemeClr>
                </a:solidFill>
              </a:rPr>
              <a:t>Parallelisation</a:t>
            </a:r>
          </a:p>
        </p:txBody>
      </p:sp>
      <p:sp>
        <p:nvSpPr>
          <p:cNvPr id="12" name="TextBox 11">
            <a:extLst>
              <a:ext uri="{FF2B5EF4-FFF2-40B4-BE49-F238E27FC236}">
                <a16:creationId xmlns:a16="http://schemas.microsoft.com/office/drawing/2014/main" id="{075C1C07-6B5E-66F5-96D7-BEE5E5E328C1}"/>
              </a:ext>
            </a:extLst>
          </p:cNvPr>
          <p:cNvSpPr txBox="1"/>
          <p:nvPr/>
        </p:nvSpPr>
        <p:spPr>
          <a:xfrm>
            <a:off x="3930599" y="4439310"/>
            <a:ext cx="1659429" cy="369332"/>
          </a:xfrm>
          <a:prstGeom prst="rect">
            <a:avLst/>
          </a:prstGeom>
          <a:noFill/>
        </p:spPr>
        <p:txBody>
          <a:bodyPr wrap="none" rtlCol="0">
            <a:spAutoFit/>
          </a:bodyPr>
          <a:lstStyle/>
          <a:p>
            <a:r>
              <a:rPr lang="en-GB" b="1" dirty="0">
                <a:solidFill>
                  <a:schemeClr val="bg1">
                    <a:lumMod val="10000"/>
                  </a:schemeClr>
                </a:solidFill>
              </a:rPr>
              <a:t>Data Integrity</a:t>
            </a:r>
          </a:p>
        </p:txBody>
      </p:sp>
      <p:sp>
        <p:nvSpPr>
          <p:cNvPr id="13" name="TextBox 12">
            <a:extLst>
              <a:ext uri="{FF2B5EF4-FFF2-40B4-BE49-F238E27FC236}">
                <a16:creationId xmlns:a16="http://schemas.microsoft.com/office/drawing/2014/main" id="{E72DB6C2-4EC3-D4E7-E6AC-3D6D11A0EEF6}"/>
              </a:ext>
            </a:extLst>
          </p:cNvPr>
          <p:cNvSpPr txBox="1"/>
          <p:nvPr/>
        </p:nvSpPr>
        <p:spPr>
          <a:xfrm>
            <a:off x="6261696" y="4439310"/>
            <a:ext cx="1941557" cy="369332"/>
          </a:xfrm>
          <a:prstGeom prst="rect">
            <a:avLst/>
          </a:prstGeom>
          <a:noFill/>
        </p:spPr>
        <p:txBody>
          <a:bodyPr wrap="none" rtlCol="0">
            <a:spAutoFit/>
          </a:bodyPr>
          <a:lstStyle/>
          <a:p>
            <a:r>
              <a:rPr lang="en-GB" b="1" dirty="0">
                <a:solidFill>
                  <a:schemeClr val="bg1">
                    <a:lumMod val="10000"/>
                  </a:schemeClr>
                </a:solidFill>
              </a:rPr>
              <a:t>Sample Mix-ups</a:t>
            </a:r>
          </a:p>
        </p:txBody>
      </p:sp>
      <p:sp>
        <p:nvSpPr>
          <p:cNvPr id="14" name="TextBox 13">
            <a:extLst>
              <a:ext uri="{FF2B5EF4-FFF2-40B4-BE49-F238E27FC236}">
                <a16:creationId xmlns:a16="http://schemas.microsoft.com/office/drawing/2014/main" id="{28E7BFAF-780E-6D0F-1AC7-E4CEB0A32BCB}"/>
              </a:ext>
            </a:extLst>
          </p:cNvPr>
          <p:cNvSpPr txBox="1"/>
          <p:nvPr/>
        </p:nvSpPr>
        <p:spPr>
          <a:xfrm>
            <a:off x="8683127" y="4450470"/>
            <a:ext cx="2634054" cy="369332"/>
          </a:xfrm>
          <a:prstGeom prst="rect">
            <a:avLst/>
          </a:prstGeom>
          <a:noFill/>
        </p:spPr>
        <p:txBody>
          <a:bodyPr wrap="none" rtlCol="0">
            <a:spAutoFit/>
          </a:bodyPr>
          <a:lstStyle/>
          <a:p>
            <a:r>
              <a:rPr lang="en-GB" b="1" dirty="0">
                <a:solidFill>
                  <a:schemeClr val="bg1">
                    <a:lumMod val="10000"/>
                  </a:schemeClr>
                </a:solidFill>
              </a:rPr>
              <a:t>Optimising Resources</a:t>
            </a:r>
          </a:p>
        </p:txBody>
      </p:sp>
      <p:pic>
        <p:nvPicPr>
          <p:cNvPr id="15" name="Picture 2" descr="Image result for gatk">
            <a:extLst>
              <a:ext uri="{FF2B5EF4-FFF2-40B4-BE49-F238E27FC236}">
                <a16:creationId xmlns:a16="http://schemas.microsoft.com/office/drawing/2014/main" id="{54D36148-DB01-2463-8443-9ED35E99D90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65361" y="5201649"/>
            <a:ext cx="1997228" cy="77488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6429FF53-CB14-F7C4-CF3E-2143465784D7}"/>
              </a:ext>
            </a:extLst>
          </p:cNvPr>
          <p:cNvSpPr txBox="1"/>
          <p:nvPr/>
        </p:nvSpPr>
        <p:spPr>
          <a:xfrm>
            <a:off x="180752" y="5589090"/>
            <a:ext cx="2528581" cy="369332"/>
          </a:xfrm>
          <a:prstGeom prst="rect">
            <a:avLst/>
          </a:prstGeom>
          <a:noFill/>
        </p:spPr>
        <p:txBody>
          <a:bodyPr wrap="square" rtlCol="0">
            <a:spAutoFit/>
          </a:bodyPr>
          <a:lstStyle/>
          <a:p>
            <a:r>
              <a:rPr lang="en-GB" b="1" dirty="0">
                <a:solidFill>
                  <a:schemeClr val="bg1">
                    <a:lumMod val="10000"/>
                  </a:schemeClr>
                </a:solidFill>
              </a:rPr>
              <a:t>WORKFLOW CREATION: </a:t>
            </a:r>
          </a:p>
        </p:txBody>
      </p:sp>
      <p:pic>
        <p:nvPicPr>
          <p:cNvPr id="17" name="Picture 16">
            <a:extLst>
              <a:ext uri="{FF2B5EF4-FFF2-40B4-BE49-F238E27FC236}">
                <a16:creationId xmlns:a16="http://schemas.microsoft.com/office/drawing/2014/main" id="{1DA83BE3-17DC-2AF9-D7E6-208845427A9D}"/>
              </a:ext>
            </a:extLst>
          </p:cNvPr>
          <p:cNvPicPr>
            <a:picLocks noChangeAspect="1"/>
          </p:cNvPicPr>
          <p:nvPr/>
        </p:nvPicPr>
        <p:blipFill>
          <a:blip r:embed="rId4"/>
          <a:stretch>
            <a:fillRect/>
          </a:stretch>
        </p:blipFill>
        <p:spPr>
          <a:xfrm>
            <a:off x="6845709" y="5024153"/>
            <a:ext cx="2095792" cy="533474"/>
          </a:xfrm>
          <a:prstGeom prst="rect">
            <a:avLst/>
          </a:prstGeom>
        </p:spPr>
      </p:pic>
      <p:pic>
        <p:nvPicPr>
          <p:cNvPr id="18" name="Picture 17">
            <a:extLst>
              <a:ext uri="{FF2B5EF4-FFF2-40B4-BE49-F238E27FC236}">
                <a16:creationId xmlns:a16="http://schemas.microsoft.com/office/drawing/2014/main" id="{1EC05EF0-E96D-7E47-3CB2-C13781D5F78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75744" y="5145656"/>
            <a:ext cx="1004466" cy="1368152"/>
          </a:xfrm>
          <a:prstGeom prst="rect">
            <a:avLst/>
          </a:prstGeom>
        </p:spPr>
      </p:pic>
      <p:pic>
        <p:nvPicPr>
          <p:cNvPr id="19" name="Picture 18">
            <a:extLst>
              <a:ext uri="{FF2B5EF4-FFF2-40B4-BE49-F238E27FC236}">
                <a16:creationId xmlns:a16="http://schemas.microsoft.com/office/drawing/2014/main" id="{10FE858C-5C16-2980-F18A-8C8CDC83A5A3}"/>
              </a:ext>
            </a:extLst>
          </p:cNvPr>
          <p:cNvPicPr>
            <a:picLocks noChangeAspect="1"/>
          </p:cNvPicPr>
          <p:nvPr/>
        </p:nvPicPr>
        <p:blipFill>
          <a:blip r:embed="rId6"/>
          <a:stretch>
            <a:fillRect/>
          </a:stretch>
        </p:blipFill>
        <p:spPr>
          <a:xfrm>
            <a:off x="10648841" y="5205140"/>
            <a:ext cx="1238423" cy="400106"/>
          </a:xfrm>
          <a:prstGeom prst="rect">
            <a:avLst/>
          </a:prstGeom>
        </p:spPr>
      </p:pic>
      <p:pic>
        <p:nvPicPr>
          <p:cNvPr id="20" name="Picture 19">
            <a:extLst>
              <a:ext uri="{FF2B5EF4-FFF2-40B4-BE49-F238E27FC236}">
                <a16:creationId xmlns:a16="http://schemas.microsoft.com/office/drawing/2014/main" id="{1D53C5C1-CF87-6CC3-9E16-1474885F8995}"/>
              </a:ext>
            </a:extLst>
          </p:cNvPr>
          <p:cNvPicPr>
            <a:picLocks noChangeAspect="1"/>
          </p:cNvPicPr>
          <p:nvPr/>
        </p:nvPicPr>
        <p:blipFill>
          <a:blip r:embed="rId7"/>
          <a:stretch>
            <a:fillRect/>
          </a:stretch>
        </p:blipFill>
        <p:spPr>
          <a:xfrm>
            <a:off x="6082644" y="6073175"/>
            <a:ext cx="2133898" cy="600159"/>
          </a:xfrm>
          <a:prstGeom prst="rect">
            <a:avLst/>
          </a:prstGeom>
        </p:spPr>
      </p:pic>
      <p:pic>
        <p:nvPicPr>
          <p:cNvPr id="21" name="Picture 20">
            <a:extLst>
              <a:ext uri="{FF2B5EF4-FFF2-40B4-BE49-F238E27FC236}">
                <a16:creationId xmlns:a16="http://schemas.microsoft.com/office/drawing/2014/main" id="{21F650AD-8762-A3F5-DA9B-1FBB1C5D6324}"/>
              </a:ext>
            </a:extLst>
          </p:cNvPr>
          <p:cNvPicPr>
            <a:picLocks noChangeAspect="1"/>
          </p:cNvPicPr>
          <p:nvPr/>
        </p:nvPicPr>
        <p:blipFill>
          <a:blip r:embed="rId8"/>
          <a:stretch>
            <a:fillRect/>
          </a:stretch>
        </p:blipFill>
        <p:spPr>
          <a:xfrm>
            <a:off x="10414453" y="5844543"/>
            <a:ext cx="1514686" cy="828791"/>
          </a:xfrm>
          <a:prstGeom prst="rect">
            <a:avLst/>
          </a:prstGeom>
        </p:spPr>
      </p:pic>
      <p:pic>
        <p:nvPicPr>
          <p:cNvPr id="22" name="Picture 21">
            <a:extLst>
              <a:ext uri="{FF2B5EF4-FFF2-40B4-BE49-F238E27FC236}">
                <a16:creationId xmlns:a16="http://schemas.microsoft.com/office/drawing/2014/main" id="{705F75BA-AF9B-E075-10EC-FB66DF77BD97}"/>
              </a:ext>
            </a:extLst>
          </p:cNvPr>
          <p:cNvPicPr>
            <a:picLocks noChangeAspect="1"/>
          </p:cNvPicPr>
          <p:nvPr/>
        </p:nvPicPr>
        <p:blipFill>
          <a:blip r:embed="rId9"/>
          <a:stretch>
            <a:fillRect/>
          </a:stretch>
        </p:blipFill>
        <p:spPr>
          <a:xfrm>
            <a:off x="2877494" y="5088501"/>
            <a:ext cx="1492786" cy="1270887"/>
          </a:xfrm>
          <a:prstGeom prst="rect">
            <a:avLst/>
          </a:prstGeom>
        </p:spPr>
      </p:pic>
      <p:sp>
        <p:nvSpPr>
          <p:cNvPr id="23" name="TextBox 22">
            <a:extLst>
              <a:ext uri="{FF2B5EF4-FFF2-40B4-BE49-F238E27FC236}">
                <a16:creationId xmlns:a16="http://schemas.microsoft.com/office/drawing/2014/main" id="{A6D55096-422D-C2E3-95CA-0A05A76EE526}"/>
              </a:ext>
            </a:extLst>
          </p:cNvPr>
          <p:cNvSpPr txBox="1"/>
          <p:nvPr/>
        </p:nvSpPr>
        <p:spPr>
          <a:xfrm>
            <a:off x="3218037" y="6454581"/>
            <a:ext cx="1069524" cy="369332"/>
          </a:xfrm>
          <a:prstGeom prst="rect">
            <a:avLst/>
          </a:prstGeom>
          <a:noFill/>
        </p:spPr>
        <p:txBody>
          <a:bodyPr wrap="none" rtlCol="0">
            <a:spAutoFit/>
          </a:bodyPr>
          <a:lstStyle/>
          <a:p>
            <a:r>
              <a:rPr lang="en-GB" b="1" dirty="0">
                <a:solidFill>
                  <a:schemeClr val="bg1">
                    <a:lumMod val="10000"/>
                  </a:schemeClr>
                </a:solidFill>
              </a:rPr>
              <a:t>GITHUB</a:t>
            </a:r>
          </a:p>
        </p:txBody>
      </p:sp>
    </p:spTree>
    <p:extLst>
      <p:ext uri="{BB962C8B-B14F-4D97-AF65-F5344CB8AC3E}">
        <p14:creationId xmlns:p14="http://schemas.microsoft.com/office/powerpoint/2010/main" val="349339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dirty="0">
                <a:latin typeface="Arial" panose="020B0604020202020204" pitchFamily="34" charset="0"/>
                <a:cs typeface="Arial" panose="020B0604020202020204" pitchFamily="34" charset="0"/>
              </a:rPr>
              <a:t>Analysis of the Human mtDNA Sequence</a:t>
            </a:r>
          </a:p>
        </p:txBody>
      </p:sp>
      <p:pic>
        <p:nvPicPr>
          <p:cNvPr id="157" name="Picture 156">
            <a:extLst>
              <a:ext uri="{FF2B5EF4-FFF2-40B4-BE49-F238E27FC236}">
                <a16:creationId xmlns:a16="http://schemas.microsoft.com/office/drawing/2014/main" id="{18364607-D4EF-4715-97F2-4B6573668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234" y="1826148"/>
            <a:ext cx="3397806" cy="3205704"/>
          </a:xfrm>
          <a:prstGeom prst="rect">
            <a:avLst/>
          </a:prstGeom>
        </p:spPr>
      </p:pic>
      <p:sp>
        <p:nvSpPr>
          <p:cNvPr id="158" name="Rectangle 157">
            <a:extLst>
              <a:ext uri="{FF2B5EF4-FFF2-40B4-BE49-F238E27FC236}">
                <a16:creationId xmlns:a16="http://schemas.microsoft.com/office/drawing/2014/main" id="{F143F5CE-968F-4154-8061-CEE8FF433EB6}"/>
              </a:ext>
            </a:extLst>
          </p:cNvPr>
          <p:cNvSpPr/>
          <p:nvPr/>
        </p:nvSpPr>
        <p:spPr>
          <a:xfrm>
            <a:off x="1412788" y="2300685"/>
            <a:ext cx="5393445" cy="3077766"/>
          </a:xfrm>
          <a:prstGeom prst="rect">
            <a:avLst/>
          </a:prstGeom>
        </p:spPr>
        <p:txBody>
          <a:bodyPr wrap="square">
            <a:spAutoFit/>
          </a:bodyPr>
          <a:lstStyle/>
          <a:p>
            <a:pPr marL="285750" indent="-285750">
              <a:buFont typeface="Arial" panose="020B0604020202020204" pitchFamily="34" charset="0"/>
              <a:buChar char="•"/>
            </a:pPr>
            <a:r>
              <a:rPr lang="nn-NO" sz="2000" dirty="0">
                <a:latin typeface="Arial" panose="020B0604020202020204" pitchFamily="34" charset="0"/>
                <a:cs typeface="Arial" panose="020B0604020202020204" pitchFamily="34" charset="0"/>
              </a:rPr>
              <a:t>Mitochondrial DNA (mtDNA)</a:t>
            </a:r>
          </a:p>
          <a:p>
            <a:pPr marL="285750" indent="-285750">
              <a:buFont typeface="Arial" panose="020B0604020202020204" pitchFamily="34" charset="0"/>
              <a:buChar char="•"/>
            </a:pPr>
            <a:endParaRPr lang="nn-NO" sz="20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nn-NO" sz="2000" dirty="0">
                <a:latin typeface="Arial" panose="020B0604020202020204" pitchFamily="34" charset="0"/>
                <a:cs typeface="Arial" panose="020B0604020202020204" pitchFamily="34" charset="0"/>
              </a:rPr>
              <a:t>Closed- circular 16.6kb in size</a:t>
            </a:r>
          </a:p>
          <a:p>
            <a:pPr lvl="1"/>
            <a:endParaRPr lang="nn-NO" sz="20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nn-NO" sz="2000" dirty="0">
                <a:latin typeface="Arial" panose="020B0604020202020204" pitchFamily="34" charset="0"/>
                <a:cs typeface="Arial" panose="020B0604020202020204" pitchFamily="34" charset="0"/>
              </a:rPr>
              <a:t>mtDNA encodes 13 proteins</a:t>
            </a:r>
          </a:p>
          <a:p>
            <a:pPr marL="742950" lvl="1" indent="-285750">
              <a:buFont typeface="Wingdings" panose="05000000000000000000" pitchFamily="2" charset="2"/>
              <a:buChar char="§"/>
            </a:pPr>
            <a:r>
              <a:rPr lang="nn-NO" sz="2000" dirty="0">
                <a:latin typeface="Arial" panose="020B0604020202020204" pitchFamily="34" charset="0"/>
                <a:cs typeface="Arial" panose="020B0604020202020204" pitchFamily="34" charset="0"/>
              </a:rPr>
              <a:t>Essential subunits of oxidate phosphorylation</a:t>
            </a:r>
          </a:p>
          <a:p>
            <a:pPr marL="742950" lvl="1" indent="-285750">
              <a:buFont typeface="Wingdings" panose="05000000000000000000" pitchFamily="2" charset="2"/>
              <a:buChar char="§"/>
            </a:pPr>
            <a:endParaRPr lang="nn-NO" dirty="0">
              <a:solidFill>
                <a:srgbClr val="002060"/>
              </a:solidFill>
              <a:latin typeface="Garamond" panose="02020404030301010803" pitchFamily="18" charset="0"/>
            </a:endParaRPr>
          </a:p>
          <a:p>
            <a:pPr lvl="1"/>
            <a:endParaRPr lang="nn-NO" dirty="0">
              <a:solidFill>
                <a:srgbClr val="002060"/>
              </a:solidFill>
              <a:latin typeface="Garamond" panose="02020404030301010803" pitchFamily="18" charset="0"/>
            </a:endParaRPr>
          </a:p>
          <a:p>
            <a:pPr lvl="1"/>
            <a:r>
              <a:rPr lang="nn-NO" dirty="0">
                <a:solidFill>
                  <a:srgbClr val="002060"/>
                </a:solidFill>
                <a:latin typeface="Garamond" panose="02020404030301010803" pitchFamily="18" charset="0"/>
              </a:rPr>
              <a:t> </a:t>
            </a:r>
          </a:p>
        </p:txBody>
      </p:sp>
      <p:sp>
        <p:nvSpPr>
          <p:cNvPr id="2" name="TextBox 1">
            <a:extLst>
              <a:ext uri="{FF2B5EF4-FFF2-40B4-BE49-F238E27FC236}">
                <a16:creationId xmlns:a16="http://schemas.microsoft.com/office/drawing/2014/main" id="{D7C59799-1E19-B3AC-66A9-4FDBE43867F8}"/>
              </a:ext>
            </a:extLst>
          </p:cNvPr>
          <p:cNvSpPr txBox="1"/>
          <p:nvPr/>
        </p:nvSpPr>
        <p:spPr>
          <a:xfrm>
            <a:off x="1068423" y="5845908"/>
            <a:ext cx="6084743" cy="646331"/>
          </a:xfrm>
          <a:prstGeom prst="rect">
            <a:avLst/>
          </a:prstGeom>
          <a:noFill/>
        </p:spPr>
        <p:txBody>
          <a:bodyPr wrap="none" rtlCol="0">
            <a:spAutoFit/>
          </a:bodyPr>
          <a:lstStyle/>
          <a:p>
            <a:r>
              <a:rPr lang="en-GB" dirty="0"/>
              <a:t>16569 base pairs compared to 3,300,000,000 bp entire genome</a:t>
            </a:r>
          </a:p>
          <a:p>
            <a:r>
              <a:rPr lang="en-GB" dirty="0"/>
              <a:t>                                                            30,000,000 bp exome</a:t>
            </a:r>
          </a:p>
        </p:txBody>
      </p:sp>
      <p:sp>
        <p:nvSpPr>
          <p:cNvPr id="3" name="Arrow: Right 2">
            <a:extLst>
              <a:ext uri="{FF2B5EF4-FFF2-40B4-BE49-F238E27FC236}">
                <a16:creationId xmlns:a16="http://schemas.microsoft.com/office/drawing/2014/main" id="{BFC9AE79-C9E0-1527-0DE8-42B8D0384CCD}"/>
              </a:ext>
            </a:extLst>
          </p:cNvPr>
          <p:cNvSpPr/>
          <p:nvPr/>
        </p:nvSpPr>
        <p:spPr>
          <a:xfrm>
            <a:off x="7123176" y="5925312"/>
            <a:ext cx="740664" cy="3840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B4A86C1C-AE53-C017-9472-45DF096F3262}"/>
              </a:ext>
            </a:extLst>
          </p:cNvPr>
          <p:cNvSpPr txBox="1"/>
          <p:nvPr/>
        </p:nvSpPr>
        <p:spPr>
          <a:xfrm>
            <a:off x="8203035" y="5794170"/>
            <a:ext cx="2413931" cy="646331"/>
          </a:xfrm>
          <a:prstGeom prst="rect">
            <a:avLst/>
          </a:prstGeom>
          <a:noFill/>
        </p:spPr>
        <p:txBody>
          <a:bodyPr wrap="none" rtlCol="0">
            <a:spAutoFit/>
          </a:bodyPr>
          <a:lstStyle/>
          <a:p>
            <a:r>
              <a:rPr lang="en-GB" dirty="0"/>
              <a:t>Small file sizes</a:t>
            </a:r>
          </a:p>
          <a:p>
            <a:r>
              <a:rPr lang="en-GB" dirty="0"/>
              <a:t>Quick processing times!</a:t>
            </a:r>
          </a:p>
        </p:txBody>
      </p:sp>
      <p:sp>
        <p:nvSpPr>
          <p:cNvPr id="6" name="Rectangle 5">
            <a:extLst>
              <a:ext uri="{FF2B5EF4-FFF2-40B4-BE49-F238E27FC236}">
                <a16:creationId xmlns:a16="http://schemas.microsoft.com/office/drawing/2014/main" id="{C3953875-EB4A-DF55-5349-37028D25404D}"/>
              </a:ext>
            </a:extLst>
          </p:cNvPr>
          <p:cNvSpPr/>
          <p:nvPr/>
        </p:nvSpPr>
        <p:spPr>
          <a:xfrm>
            <a:off x="576072" y="5641849"/>
            <a:ext cx="10643616" cy="969264"/>
          </a:xfrm>
          <a:prstGeom prst="rect">
            <a:avLst/>
          </a:prstGeom>
          <a:no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49018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dirty="0">
                <a:latin typeface="Arial" panose="020B0604020202020204" pitchFamily="34" charset="0"/>
                <a:cs typeface="Arial" panose="020B0604020202020204" pitchFamily="34" charset="0"/>
              </a:rPr>
              <a:t>Part 1 – Preparing reference</a:t>
            </a:r>
          </a:p>
        </p:txBody>
      </p:sp>
      <p:sp>
        <p:nvSpPr>
          <p:cNvPr id="2" name="Content Placeholder 1">
            <a:extLst>
              <a:ext uri="{FF2B5EF4-FFF2-40B4-BE49-F238E27FC236}">
                <a16:creationId xmlns:a16="http://schemas.microsoft.com/office/drawing/2014/main" id="{867A0D73-A6BB-46B5-B7DF-AF37C4B76D49}"/>
              </a:ext>
            </a:extLst>
          </p:cNvPr>
          <p:cNvSpPr>
            <a:spLocks noGrp="1"/>
          </p:cNvSpPr>
          <p:nvPr>
            <p:ph idx="1"/>
          </p:nvPr>
        </p:nvSpPr>
        <p:spPr>
          <a:xfrm>
            <a:off x="208738" y="1690688"/>
            <a:ext cx="11774523" cy="4351338"/>
          </a:xfrm>
        </p:spPr>
        <p:txBody>
          <a:bodyPr/>
          <a:lstStyle/>
          <a:p>
            <a:pPr marL="0" indent="0">
              <a:buNone/>
            </a:pPr>
            <a:r>
              <a:rPr lang="en-GB" dirty="0">
                <a:latin typeface="Arial" panose="020B0604020202020204" pitchFamily="34" charset="0"/>
                <a:cs typeface="Arial" panose="020B0604020202020204" pitchFamily="34" charset="0"/>
              </a:rPr>
              <a:t>Downloading and preparing our mitochondrial reference (chrM) fasta file.</a:t>
            </a:r>
          </a:p>
          <a:p>
            <a:pPr>
              <a:buFont typeface="Wingdings" panose="05000000000000000000" pitchFamily="2" charset="2"/>
              <a:buChar char="Ø"/>
            </a:pPr>
            <a:endParaRPr lang="en-GB" dirty="0">
              <a:latin typeface="Garamond" panose="02020404030301010803" pitchFamily="18" charset="0"/>
            </a:endParaRPr>
          </a:p>
          <a:p>
            <a:pPr>
              <a:buFont typeface="Wingdings" panose="05000000000000000000" pitchFamily="2" charset="2"/>
              <a:buChar char="Ø"/>
            </a:pPr>
            <a:r>
              <a:rPr lang="en-GB" dirty="0">
                <a:latin typeface="Arial" panose="020B0604020202020204" pitchFamily="34" charset="0"/>
                <a:cs typeface="Arial" panose="020B0604020202020204" pitchFamily="34" charset="0"/>
              </a:rPr>
              <a:t>At the Linux terminal type:</a:t>
            </a:r>
          </a:p>
          <a:p>
            <a:pPr marL="0" indent="0">
              <a:buNone/>
            </a:pPr>
            <a:r>
              <a:rPr lang="en-GB" sz="2400" dirty="0">
                <a:solidFill>
                  <a:srgbClr val="0066FF"/>
                </a:solidFill>
                <a:latin typeface="Garamond" panose="02020404030301010803" pitchFamily="18" charset="0"/>
              </a:rPr>
              <a:t>	</a:t>
            </a:r>
            <a:r>
              <a:rPr lang="en-GB" sz="1800" dirty="0" err="1">
                <a:solidFill>
                  <a:srgbClr val="0070C0"/>
                </a:solidFill>
                <a:latin typeface="Consolas" panose="020B0609020204030204" pitchFamily="49" charset="0"/>
              </a:rPr>
              <a:t>mkdir</a:t>
            </a:r>
            <a:r>
              <a:rPr lang="en-GB" sz="1800" dirty="0">
                <a:latin typeface="Consolas" panose="020B0609020204030204" pitchFamily="49" charset="0"/>
              </a:rPr>
              <a:t> reference</a:t>
            </a:r>
          </a:p>
          <a:p>
            <a:pPr marL="0" indent="0">
              <a:buNone/>
            </a:pPr>
            <a:endParaRPr lang="en-GB" sz="1800" dirty="0">
              <a:latin typeface="Consolas" panose="020B0609020204030204" pitchFamily="49" charset="0"/>
            </a:endParaRPr>
          </a:p>
          <a:p>
            <a:pPr marL="0" indent="0">
              <a:buNone/>
            </a:pPr>
            <a:r>
              <a:rPr lang="en-GB" sz="1800" dirty="0">
                <a:solidFill>
                  <a:srgbClr val="0066FF"/>
                </a:solidFill>
                <a:latin typeface="Consolas" panose="020B0609020204030204" pitchFamily="49" charset="0"/>
              </a:rPr>
              <a:t>	</a:t>
            </a:r>
            <a:r>
              <a:rPr lang="en-GB" sz="1800" dirty="0" err="1">
                <a:solidFill>
                  <a:srgbClr val="0070C0"/>
                </a:solidFill>
                <a:latin typeface="Consolas" panose="020B0609020204030204" pitchFamily="49" charset="0"/>
              </a:rPr>
              <a:t>wget</a:t>
            </a:r>
            <a:r>
              <a:rPr lang="en-GB" sz="1800" dirty="0">
                <a:latin typeface="Consolas" panose="020B0609020204030204" pitchFamily="49" charset="0"/>
              </a:rPr>
              <a:t> –timestamping 	'ftp://hgdownload.cse.ucsc.edu/</a:t>
            </a:r>
            <a:r>
              <a:rPr lang="en-GB" sz="1800" dirty="0" err="1">
                <a:latin typeface="Consolas" panose="020B0609020204030204" pitchFamily="49" charset="0"/>
              </a:rPr>
              <a:t>goldenPath</a:t>
            </a:r>
            <a:r>
              <a:rPr lang="en-GB" sz="1800" dirty="0">
                <a:latin typeface="Consolas" panose="020B0609020204030204" pitchFamily="49" charset="0"/>
              </a:rPr>
              <a:t>/hg38/chromosomes/chrM.fa.gz' -O 	reference/chrM.fa.gz</a:t>
            </a:r>
          </a:p>
        </p:txBody>
      </p:sp>
      <p:sp>
        <p:nvSpPr>
          <p:cNvPr id="3" name="TextBox 2">
            <a:extLst>
              <a:ext uri="{FF2B5EF4-FFF2-40B4-BE49-F238E27FC236}">
                <a16:creationId xmlns:a16="http://schemas.microsoft.com/office/drawing/2014/main" id="{C73440F6-7993-45A0-A95A-33A59AC24B62}"/>
              </a:ext>
            </a:extLst>
          </p:cNvPr>
          <p:cNvSpPr txBox="1"/>
          <p:nvPr/>
        </p:nvSpPr>
        <p:spPr>
          <a:xfrm>
            <a:off x="4672185" y="5569545"/>
            <a:ext cx="7025623" cy="923330"/>
          </a:xfrm>
          <a:prstGeom prst="rect">
            <a:avLst/>
          </a:prstGeom>
          <a:noFill/>
        </p:spPr>
        <p:txBody>
          <a:bodyPr wrap="square" rtlCol="0">
            <a:spAutoFit/>
          </a:bodyPr>
          <a:lstStyle/>
          <a:p>
            <a:r>
              <a:rPr lang="en-GB" dirty="0">
                <a:solidFill>
                  <a:schemeClr val="bg2">
                    <a:lumMod val="50000"/>
                  </a:schemeClr>
                </a:solidFill>
                <a:latin typeface="Arial" panose="020B0604020202020204" pitchFamily="34" charset="0"/>
                <a:cs typeface="Arial" panose="020B0604020202020204" pitchFamily="34" charset="0"/>
              </a:rPr>
              <a:t>…here we are creating a new directory (called reference) with the </a:t>
            </a:r>
            <a:r>
              <a:rPr lang="en-GB" dirty="0" err="1">
                <a:solidFill>
                  <a:schemeClr val="bg2">
                    <a:lumMod val="50000"/>
                  </a:schemeClr>
                </a:solidFill>
                <a:latin typeface="Arial" panose="020B0604020202020204" pitchFamily="34" charset="0"/>
                <a:cs typeface="Arial" panose="020B0604020202020204" pitchFamily="34" charset="0"/>
              </a:rPr>
              <a:t>linux</a:t>
            </a:r>
            <a:r>
              <a:rPr lang="en-GB" dirty="0">
                <a:solidFill>
                  <a:schemeClr val="bg2">
                    <a:lumMod val="50000"/>
                  </a:schemeClr>
                </a:solidFill>
                <a:latin typeface="Arial" panose="020B0604020202020204" pitchFamily="34" charset="0"/>
                <a:cs typeface="Arial" panose="020B0604020202020204" pitchFamily="34" charset="0"/>
              </a:rPr>
              <a:t> </a:t>
            </a:r>
            <a:r>
              <a:rPr lang="en-GB" dirty="0" err="1">
                <a:solidFill>
                  <a:schemeClr val="bg2">
                    <a:lumMod val="50000"/>
                  </a:schemeClr>
                </a:solidFill>
                <a:latin typeface="Arial" panose="020B0604020202020204" pitchFamily="34" charset="0"/>
                <a:cs typeface="Arial" panose="020B0604020202020204" pitchFamily="34" charset="0"/>
              </a:rPr>
              <a:t>mkdir</a:t>
            </a:r>
            <a:r>
              <a:rPr lang="en-GB" dirty="0">
                <a:solidFill>
                  <a:schemeClr val="bg2">
                    <a:lumMod val="50000"/>
                  </a:schemeClr>
                </a:solidFill>
                <a:latin typeface="Arial" panose="020B0604020202020204" pitchFamily="34" charset="0"/>
                <a:cs typeface="Arial" panose="020B0604020202020204" pitchFamily="34" charset="0"/>
              </a:rPr>
              <a:t> command, then using the </a:t>
            </a:r>
            <a:r>
              <a:rPr lang="en-GB" dirty="0" err="1">
                <a:solidFill>
                  <a:schemeClr val="bg2">
                    <a:lumMod val="50000"/>
                  </a:schemeClr>
                </a:solidFill>
                <a:latin typeface="Arial" panose="020B0604020202020204" pitchFamily="34" charset="0"/>
                <a:cs typeface="Arial" panose="020B0604020202020204" pitchFamily="34" charset="0"/>
              </a:rPr>
              <a:t>wget</a:t>
            </a:r>
            <a:r>
              <a:rPr lang="en-GB" dirty="0">
                <a:solidFill>
                  <a:schemeClr val="bg2">
                    <a:lumMod val="50000"/>
                  </a:schemeClr>
                </a:solidFill>
                <a:latin typeface="Arial" panose="020B0604020202020204" pitchFamily="34" charset="0"/>
                <a:cs typeface="Arial" panose="020B0604020202020204" pitchFamily="34" charset="0"/>
              </a:rPr>
              <a:t> command to download chrM fasta file to that new directory</a:t>
            </a:r>
          </a:p>
        </p:txBody>
      </p:sp>
    </p:spTree>
    <p:extLst>
      <p:ext uri="{BB962C8B-B14F-4D97-AF65-F5344CB8AC3E}">
        <p14:creationId xmlns:p14="http://schemas.microsoft.com/office/powerpoint/2010/main" val="2956397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dirty="0">
                <a:latin typeface="Arial" panose="020B0604020202020204" pitchFamily="34" charset="0"/>
                <a:cs typeface="Arial" panose="020B0604020202020204" pitchFamily="34" charset="0"/>
              </a:rPr>
              <a:t>Part 1 – Preparing reference</a:t>
            </a:r>
          </a:p>
        </p:txBody>
      </p:sp>
      <p:sp>
        <p:nvSpPr>
          <p:cNvPr id="2" name="Content Placeholder 1">
            <a:extLst>
              <a:ext uri="{FF2B5EF4-FFF2-40B4-BE49-F238E27FC236}">
                <a16:creationId xmlns:a16="http://schemas.microsoft.com/office/drawing/2014/main" id="{867A0D73-A6BB-46B5-B7DF-AF37C4B76D49}"/>
              </a:ext>
            </a:extLst>
          </p:cNvPr>
          <p:cNvSpPr>
            <a:spLocks noGrp="1"/>
          </p:cNvSpPr>
          <p:nvPr>
            <p:ph idx="1"/>
          </p:nvPr>
        </p:nvSpPr>
        <p:spPr>
          <a:xfrm>
            <a:off x="208738" y="1690688"/>
            <a:ext cx="11774523" cy="4351338"/>
          </a:xfrm>
        </p:spPr>
        <p:txBody>
          <a:bodyPr/>
          <a:lstStyle/>
          <a:p>
            <a:pPr marL="0" indent="0">
              <a:buNone/>
            </a:pPr>
            <a:r>
              <a:rPr lang="en-GB" dirty="0">
                <a:latin typeface="Arial" panose="020B0604020202020204" pitchFamily="34" charset="0"/>
                <a:cs typeface="Arial" panose="020B0604020202020204" pitchFamily="34" charset="0"/>
              </a:rPr>
              <a:t>Unzipping and viewing the compressed chrM fasta txt file.</a:t>
            </a:r>
          </a:p>
          <a:p>
            <a:pPr>
              <a:buFont typeface="Wingdings" panose="05000000000000000000" pitchFamily="2" charset="2"/>
              <a:buChar char="Ø"/>
            </a:pPr>
            <a:endParaRPr lang="en-GB" dirty="0">
              <a:latin typeface="Garamond" panose="02020404030301010803" pitchFamily="18" charset="0"/>
            </a:endParaRPr>
          </a:p>
          <a:p>
            <a:pPr>
              <a:buFont typeface="Wingdings" panose="05000000000000000000" pitchFamily="2" charset="2"/>
              <a:buChar char="Ø"/>
            </a:pPr>
            <a:r>
              <a:rPr lang="en-GB" dirty="0">
                <a:latin typeface="Arial" panose="020B0604020202020204" pitchFamily="34" charset="0"/>
                <a:cs typeface="Arial" panose="020B0604020202020204" pitchFamily="34" charset="0"/>
              </a:rPr>
              <a:t>At the Linux terminal type:</a:t>
            </a:r>
          </a:p>
          <a:p>
            <a:pPr marL="0" indent="0">
              <a:buNone/>
            </a:pPr>
            <a:endParaRPr lang="en-GB" sz="2400" dirty="0">
              <a:solidFill>
                <a:srgbClr val="0066FF"/>
              </a:solidFill>
              <a:latin typeface="Arial" panose="020B0604020202020204" pitchFamily="34" charset="0"/>
              <a:cs typeface="Arial" panose="020B0604020202020204" pitchFamily="34" charset="0"/>
            </a:endParaRPr>
          </a:p>
          <a:p>
            <a:pPr marL="0" indent="0">
              <a:buNone/>
            </a:pPr>
            <a:r>
              <a:rPr lang="en-GB" sz="2400" dirty="0">
                <a:solidFill>
                  <a:srgbClr val="0066FF"/>
                </a:solidFill>
                <a:latin typeface="Garamond" panose="02020404030301010803" pitchFamily="18" charset="0"/>
              </a:rPr>
              <a:t>	</a:t>
            </a:r>
            <a:r>
              <a:rPr lang="en-GB" sz="1800" dirty="0" err="1">
                <a:solidFill>
                  <a:srgbClr val="0070C0"/>
                </a:solidFill>
                <a:latin typeface="Consolas" panose="020B0609020204030204" pitchFamily="49" charset="0"/>
              </a:rPr>
              <a:t>gunzip</a:t>
            </a:r>
            <a:r>
              <a:rPr lang="en-GB" sz="1800" dirty="0">
                <a:latin typeface="Consolas" panose="020B0609020204030204" pitchFamily="49" charset="0"/>
              </a:rPr>
              <a:t> reference/chrM.fa.gz</a:t>
            </a:r>
          </a:p>
          <a:p>
            <a:pPr marL="0" indent="0">
              <a:buNone/>
            </a:pPr>
            <a:endParaRPr lang="en-GB" sz="1800" dirty="0">
              <a:latin typeface="Consolas" panose="020B0609020204030204" pitchFamily="49" charset="0"/>
            </a:endParaRPr>
          </a:p>
          <a:p>
            <a:pPr marL="0" indent="0">
              <a:buNone/>
            </a:pPr>
            <a:r>
              <a:rPr lang="en-GB" sz="1800" dirty="0">
                <a:solidFill>
                  <a:srgbClr val="0066FF"/>
                </a:solidFill>
                <a:latin typeface="Consolas" panose="020B0609020204030204" pitchFamily="49" charset="0"/>
              </a:rPr>
              <a:t>	</a:t>
            </a:r>
            <a:r>
              <a:rPr lang="en-GB" sz="1800" dirty="0">
                <a:solidFill>
                  <a:srgbClr val="0070C0"/>
                </a:solidFill>
                <a:latin typeface="Consolas" panose="020B0609020204030204" pitchFamily="49" charset="0"/>
              </a:rPr>
              <a:t>head</a:t>
            </a:r>
            <a:r>
              <a:rPr lang="en-GB" sz="1800" dirty="0">
                <a:latin typeface="Consolas" panose="020B0609020204030204" pitchFamily="49" charset="0"/>
              </a:rPr>
              <a:t> reference/</a:t>
            </a:r>
            <a:r>
              <a:rPr lang="en-GB" sz="1800" dirty="0" err="1">
                <a:latin typeface="Consolas" panose="020B0609020204030204" pitchFamily="49" charset="0"/>
              </a:rPr>
              <a:t>chrM.fa</a:t>
            </a:r>
            <a:endParaRPr lang="en-GB" sz="1800" dirty="0">
              <a:latin typeface="Consolas" panose="020B0609020204030204" pitchFamily="49" charset="0"/>
            </a:endParaRPr>
          </a:p>
        </p:txBody>
      </p:sp>
      <p:sp>
        <p:nvSpPr>
          <p:cNvPr id="6" name="TextBox 5">
            <a:extLst>
              <a:ext uri="{FF2B5EF4-FFF2-40B4-BE49-F238E27FC236}">
                <a16:creationId xmlns:a16="http://schemas.microsoft.com/office/drawing/2014/main" id="{835BE325-C669-49C2-9AAE-A18F83667598}"/>
              </a:ext>
            </a:extLst>
          </p:cNvPr>
          <p:cNvSpPr txBox="1"/>
          <p:nvPr/>
        </p:nvSpPr>
        <p:spPr>
          <a:xfrm>
            <a:off x="4522413" y="5356710"/>
            <a:ext cx="7025623" cy="923330"/>
          </a:xfrm>
          <a:prstGeom prst="rect">
            <a:avLst/>
          </a:prstGeom>
          <a:noFill/>
        </p:spPr>
        <p:txBody>
          <a:bodyPr wrap="square" rtlCol="0">
            <a:spAutoFit/>
          </a:bodyPr>
          <a:lstStyle/>
          <a:p>
            <a:r>
              <a:rPr lang="en-GB" dirty="0">
                <a:solidFill>
                  <a:schemeClr val="bg2">
                    <a:lumMod val="50000"/>
                  </a:schemeClr>
                </a:solidFill>
                <a:latin typeface="Garamond" panose="02020404030301010803" pitchFamily="18" charset="0"/>
              </a:rPr>
              <a:t>…the chrM reference fasta file is currently compressed and we are unzipping it to it’s text format. We can view the top 10 lines of the unzipped file with the head command.  </a:t>
            </a:r>
          </a:p>
        </p:txBody>
      </p:sp>
    </p:spTree>
    <p:extLst>
      <p:ext uri="{BB962C8B-B14F-4D97-AF65-F5344CB8AC3E}">
        <p14:creationId xmlns:p14="http://schemas.microsoft.com/office/powerpoint/2010/main" val="152615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dirty="0">
                <a:latin typeface="Arial" panose="020B0604020202020204" pitchFamily="34" charset="0"/>
                <a:cs typeface="Arial" panose="020B0604020202020204" pitchFamily="34" charset="0"/>
              </a:rPr>
              <a:t>Part 1 – Preparing reference</a:t>
            </a:r>
          </a:p>
        </p:txBody>
      </p:sp>
      <p:sp>
        <p:nvSpPr>
          <p:cNvPr id="2" name="Content Placeholder 1">
            <a:extLst>
              <a:ext uri="{FF2B5EF4-FFF2-40B4-BE49-F238E27FC236}">
                <a16:creationId xmlns:a16="http://schemas.microsoft.com/office/drawing/2014/main" id="{867A0D73-A6BB-46B5-B7DF-AF37C4B76D49}"/>
              </a:ext>
            </a:extLst>
          </p:cNvPr>
          <p:cNvSpPr>
            <a:spLocks noGrp="1"/>
          </p:cNvSpPr>
          <p:nvPr>
            <p:ph idx="1"/>
          </p:nvPr>
        </p:nvSpPr>
        <p:spPr>
          <a:xfrm>
            <a:off x="208738" y="1690688"/>
            <a:ext cx="11774523" cy="4351338"/>
          </a:xfrm>
        </p:spPr>
        <p:txBody>
          <a:bodyPr/>
          <a:lstStyle/>
          <a:p>
            <a:pPr marL="0" indent="0">
              <a:buNone/>
            </a:pPr>
            <a:r>
              <a:rPr lang="en-GB" dirty="0">
                <a:latin typeface="Arial" panose="020B0604020202020204" pitchFamily="34" charset="0"/>
                <a:cs typeface="Arial" panose="020B0604020202020204" pitchFamily="34" charset="0"/>
              </a:rPr>
              <a:t>Generate the FM-index from the chrM reference fasta file for use in BWA</a:t>
            </a:r>
          </a:p>
          <a:p>
            <a:pPr>
              <a:buFont typeface="Wingdings" panose="05000000000000000000" pitchFamily="2" charset="2"/>
              <a:buChar char="Ø"/>
            </a:pPr>
            <a:endParaRPr lang="en-GB" dirty="0">
              <a:latin typeface="Arial" panose="020B0604020202020204" pitchFamily="34" charset="0"/>
              <a:cs typeface="Arial" panose="020B0604020202020204" pitchFamily="34" charset="0"/>
            </a:endParaRPr>
          </a:p>
          <a:p>
            <a:pPr>
              <a:buFont typeface="Wingdings" panose="05000000000000000000" pitchFamily="2" charset="2"/>
              <a:buChar char="Ø"/>
            </a:pPr>
            <a:r>
              <a:rPr lang="en-GB" dirty="0">
                <a:latin typeface="Arial" panose="020B0604020202020204" pitchFamily="34" charset="0"/>
                <a:cs typeface="Arial" panose="020B0604020202020204" pitchFamily="34" charset="0"/>
              </a:rPr>
              <a:t>At the Linux terminal type:</a:t>
            </a:r>
          </a:p>
          <a:p>
            <a:pPr marL="0" indent="0">
              <a:buNone/>
            </a:pPr>
            <a:r>
              <a:rPr lang="en-GB" sz="2400" dirty="0">
                <a:solidFill>
                  <a:srgbClr val="0066FF"/>
                </a:solidFill>
                <a:latin typeface="Garamond" panose="02020404030301010803" pitchFamily="18" charset="0"/>
              </a:rPr>
              <a:t>	</a:t>
            </a: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/bwa</a:t>
            </a:r>
            <a:r>
              <a:rPr lang="en-GB" sz="1800" dirty="0">
                <a:latin typeface="Consolas" panose="020B0609020204030204" pitchFamily="49" charset="0"/>
              </a:rPr>
              <a:t> index reference/</a:t>
            </a:r>
            <a:r>
              <a:rPr lang="en-GB" sz="1800" dirty="0" err="1">
                <a:latin typeface="Consolas" panose="020B0609020204030204" pitchFamily="49" charset="0"/>
              </a:rPr>
              <a:t>chrM.fa</a:t>
            </a:r>
            <a:endParaRPr lang="en-GB" sz="1800" dirty="0">
              <a:latin typeface="Consolas" panose="020B0609020204030204" pitchFamily="49" charset="0"/>
            </a:endParaRPr>
          </a:p>
          <a:p>
            <a:pPr marL="0" indent="0">
              <a:buNone/>
            </a:pPr>
            <a:r>
              <a:rPr lang="en-GB" sz="1800" dirty="0">
                <a:solidFill>
                  <a:srgbClr val="0066FF"/>
                </a:solidFill>
                <a:latin typeface="Consolas" panose="020B0609020204030204" pitchFamily="49" charset="0"/>
              </a:rPr>
              <a:t>	</a:t>
            </a:r>
            <a:endParaRPr lang="en-GB" sz="1800" dirty="0">
              <a:latin typeface="Consolas" panose="020B0609020204030204" pitchFamily="49" charset="0"/>
            </a:endParaRPr>
          </a:p>
        </p:txBody>
      </p:sp>
      <p:sp>
        <p:nvSpPr>
          <p:cNvPr id="6" name="TextBox 5">
            <a:extLst>
              <a:ext uri="{FF2B5EF4-FFF2-40B4-BE49-F238E27FC236}">
                <a16:creationId xmlns:a16="http://schemas.microsoft.com/office/drawing/2014/main" id="{30352F6E-E618-4E7D-8B4D-14AFAFE979DE}"/>
              </a:ext>
            </a:extLst>
          </p:cNvPr>
          <p:cNvSpPr txBox="1"/>
          <p:nvPr/>
        </p:nvSpPr>
        <p:spPr>
          <a:xfrm>
            <a:off x="4475117" y="5255467"/>
            <a:ext cx="7025623" cy="646331"/>
          </a:xfrm>
          <a:prstGeom prst="rect">
            <a:avLst/>
          </a:prstGeom>
          <a:noFill/>
        </p:spPr>
        <p:txBody>
          <a:bodyPr wrap="square" rtlCol="0">
            <a:spAutoFit/>
          </a:bodyPr>
          <a:lstStyle/>
          <a:p>
            <a:r>
              <a:rPr lang="en-GB" dirty="0">
                <a:solidFill>
                  <a:schemeClr val="bg2">
                    <a:lumMod val="50000"/>
                  </a:schemeClr>
                </a:solidFill>
                <a:latin typeface="Arial" panose="020B0604020202020204" pitchFamily="34" charset="0"/>
                <a:cs typeface="Arial" panose="020B0604020202020204" pitchFamily="34" charset="0"/>
              </a:rPr>
              <a:t>…we are using the index function of the bwa software to make the FM-index of our reference fasta genome </a:t>
            </a:r>
          </a:p>
        </p:txBody>
      </p:sp>
    </p:spTree>
    <p:extLst>
      <p:ext uri="{BB962C8B-B14F-4D97-AF65-F5344CB8AC3E}">
        <p14:creationId xmlns:p14="http://schemas.microsoft.com/office/powerpoint/2010/main" val="3653962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normAutofit/>
          </a:bodyPr>
          <a:lstStyle/>
          <a:p>
            <a:r>
              <a:rPr lang="en-GB" sz="4000" dirty="0">
                <a:latin typeface="Arial" panose="020B0604020202020204" pitchFamily="34" charset="0"/>
                <a:cs typeface="Arial" panose="020B0604020202020204" pitchFamily="34" charset="0"/>
              </a:rPr>
              <a:t>Part 1 – Preparing Reference</a:t>
            </a:r>
          </a:p>
        </p:txBody>
      </p:sp>
      <p:sp>
        <p:nvSpPr>
          <p:cNvPr id="2" name="Content Placeholder 1">
            <a:extLst>
              <a:ext uri="{FF2B5EF4-FFF2-40B4-BE49-F238E27FC236}">
                <a16:creationId xmlns:a16="http://schemas.microsoft.com/office/drawing/2014/main" id="{867A0D73-A6BB-46B5-B7DF-AF37C4B76D49}"/>
              </a:ext>
            </a:extLst>
          </p:cNvPr>
          <p:cNvSpPr>
            <a:spLocks noGrp="1"/>
          </p:cNvSpPr>
          <p:nvPr>
            <p:ph idx="1"/>
          </p:nvPr>
        </p:nvSpPr>
        <p:spPr>
          <a:xfrm>
            <a:off x="618640" y="1832578"/>
            <a:ext cx="11198987" cy="4351338"/>
          </a:xfrm>
        </p:spPr>
        <p:txBody>
          <a:bodyPr>
            <a:normAutofit fontScale="92500" lnSpcReduction="20000"/>
          </a:bodyPr>
          <a:lstStyle/>
          <a:p>
            <a:pPr marL="0" indent="0">
              <a:buNone/>
            </a:pPr>
            <a:endParaRPr lang="en-GB" sz="2200" dirty="0">
              <a:latin typeface="Arial" panose="020B0604020202020204" pitchFamily="34" charset="0"/>
              <a:cs typeface="Arial" panose="020B0604020202020204" pitchFamily="34" charset="0"/>
            </a:endParaRPr>
          </a:p>
          <a:p>
            <a:pPr marL="0" indent="0">
              <a:buNone/>
            </a:pPr>
            <a:r>
              <a:rPr lang="en-GB" sz="2200" b="1" dirty="0" err="1">
                <a:latin typeface="Arial" panose="020B0604020202020204" pitchFamily="34" charset="0"/>
                <a:cs typeface="Arial" panose="020B0604020202020204" pitchFamily="34" charset="0"/>
              </a:rPr>
              <a:t>Samtools</a:t>
            </a:r>
            <a:r>
              <a:rPr lang="en-GB" sz="2200" dirty="0">
                <a:latin typeface="Arial" panose="020B0604020202020204" pitchFamily="34" charset="0"/>
                <a:cs typeface="Arial" panose="020B0604020202020204" pitchFamily="34" charset="0"/>
              </a:rPr>
              <a:t> is a suite of programs for interacting with high-throughput sequencing data. It includes:</a:t>
            </a:r>
          </a:p>
          <a:p>
            <a:pPr marL="0" indent="0">
              <a:buNone/>
            </a:pPr>
            <a:r>
              <a:rPr lang="en-GB" sz="2200" dirty="0">
                <a:latin typeface="Arial" panose="020B0604020202020204" pitchFamily="34" charset="0"/>
                <a:cs typeface="Arial" panose="020B0604020202020204" pitchFamily="34" charset="0"/>
                <a:hlinkClick r:id="rId2"/>
              </a:rPr>
              <a:t>https://www.htslib.org/</a:t>
            </a:r>
            <a:endParaRPr lang="en-GB" sz="2200" dirty="0">
              <a:latin typeface="Arial" panose="020B0604020202020204" pitchFamily="34" charset="0"/>
              <a:cs typeface="Arial" panose="020B0604020202020204" pitchFamily="34" charset="0"/>
            </a:endParaRPr>
          </a:p>
          <a:p>
            <a:pPr marL="0" indent="0">
              <a:buNone/>
            </a:pPr>
            <a:endParaRPr lang="en-GB" sz="22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GB" sz="2000" dirty="0" err="1">
                <a:latin typeface="Arial" panose="020B0604020202020204" pitchFamily="34" charset="0"/>
                <a:cs typeface="Arial" panose="020B0604020202020204" pitchFamily="34" charset="0"/>
              </a:rPr>
              <a:t>Samtools</a:t>
            </a:r>
            <a:r>
              <a:rPr lang="en-GB" sz="2000" dirty="0">
                <a:latin typeface="Arial" panose="020B0604020202020204" pitchFamily="34" charset="0"/>
                <a:cs typeface="Arial" panose="020B0604020202020204" pitchFamily="34" charset="0"/>
              </a:rPr>
              <a:t> – read/write/edit/index/view SAM/CRAM/BAM format</a:t>
            </a:r>
          </a:p>
          <a:p>
            <a:pPr>
              <a:buFont typeface="Wingdings" panose="05000000000000000000" pitchFamily="2" charset="2"/>
              <a:buChar char="Ø"/>
            </a:pPr>
            <a:r>
              <a:rPr lang="en-GB" sz="2000" dirty="0" err="1">
                <a:latin typeface="Arial" panose="020B0604020202020204" pitchFamily="34" charset="0"/>
                <a:cs typeface="Arial" panose="020B0604020202020204" pitchFamily="34" charset="0"/>
              </a:rPr>
              <a:t>BCFtools</a:t>
            </a:r>
            <a:r>
              <a:rPr lang="en-GB" sz="2000" dirty="0">
                <a:latin typeface="Arial" panose="020B0604020202020204" pitchFamily="34" charset="0"/>
                <a:cs typeface="Arial" panose="020B0604020202020204" pitchFamily="34" charset="0"/>
              </a:rPr>
              <a:t> – read/write/view BCF/VCF files and filtering SNP / short indels</a:t>
            </a:r>
          </a:p>
          <a:p>
            <a:pPr>
              <a:buFont typeface="Wingdings" panose="05000000000000000000" pitchFamily="2" charset="2"/>
              <a:buChar char="Ø"/>
            </a:pPr>
            <a:r>
              <a:rPr lang="en-GB" sz="2000" dirty="0" err="1">
                <a:latin typeface="Arial" panose="020B0604020202020204" pitchFamily="34" charset="0"/>
                <a:cs typeface="Arial" panose="020B0604020202020204" pitchFamily="34" charset="0"/>
              </a:rPr>
              <a:t>HTSlib</a:t>
            </a:r>
            <a:r>
              <a:rPr lang="en-GB" sz="2000" dirty="0">
                <a:latin typeface="Arial" panose="020B0604020202020204" pitchFamily="34" charset="0"/>
                <a:cs typeface="Arial" panose="020B0604020202020204" pitchFamily="34" charset="0"/>
              </a:rPr>
              <a:t> – C library for reading/writing high-throughput sequencing data</a:t>
            </a:r>
          </a:p>
          <a:p>
            <a:pPr>
              <a:buFont typeface="Wingdings" panose="05000000000000000000" pitchFamily="2" charset="2"/>
              <a:buChar char="Ø"/>
            </a:pPr>
            <a:endParaRPr lang="en-GB"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GB" sz="2200" dirty="0">
                <a:latin typeface="Arial" panose="020B0604020202020204" pitchFamily="34" charset="0"/>
                <a:cs typeface="Arial" panose="020B0604020202020204" pitchFamily="34" charset="0"/>
              </a:rPr>
              <a:t>At the Linux terminal type:</a:t>
            </a:r>
          </a:p>
          <a:p>
            <a:pPr>
              <a:buFont typeface="Wingdings" panose="05000000000000000000" pitchFamily="2" charset="2"/>
              <a:buChar char="Ø"/>
            </a:pPr>
            <a:endParaRPr lang="en-GB" dirty="0">
              <a:latin typeface="Arial" panose="020B0604020202020204" pitchFamily="34" charset="0"/>
              <a:cs typeface="Arial" panose="020B0604020202020204" pitchFamily="34" charset="0"/>
            </a:endParaRPr>
          </a:p>
          <a:p>
            <a:pPr marL="0" indent="0">
              <a:buNone/>
            </a:pPr>
            <a:r>
              <a:rPr lang="en-GB" dirty="0">
                <a:solidFill>
                  <a:srgbClr val="0066FF"/>
                </a:solidFill>
                <a:latin typeface="Garamond" panose="02020404030301010803" pitchFamily="18" charset="0"/>
              </a:rPr>
              <a:t>	</a:t>
            </a:r>
            <a:r>
              <a:rPr lang="en-GB" sz="2000" dirty="0" err="1">
                <a:solidFill>
                  <a:srgbClr val="0070C0"/>
                </a:solidFill>
                <a:latin typeface="Consolas" panose="020B0609020204030204" pitchFamily="49" charset="0"/>
              </a:rPr>
              <a:t>software_update</a:t>
            </a:r>
            <a:r>
              <a:rPr lang="en-GB" sz="2000" dirty="0">
                <a:solidFill>
                  <a:srgbClr val="0070C0"/>
                </a:solidFill>
                <a:latin typeface="Consolas" panose="020B0609020204030204" pitchFamily="49" charset="0"/>
              </a:rPr>
              <a:t>/</a:t>
            </a:r>
            <a:r>
              <a:rPr lang="en-GB" sz="2000" dirty="0" err="1">
                <a:solidFill>
                  <a:srgbClr val="0070C0"/>
                </a:solidFill>
                <a:latin typeface="Consolas" panose="020B0609020204030204" pitchFamily="49" charset="0"/>
              </a:rPr>
              <a:t>samtools</a:t>
            </a:r>
            <a:r>
              <a:rPr lang="en-GB" sz="2000" dirty="0">
                <a:solidFill>
                  <a:srgbClr val="0070C0"/>
                </a:solidFill>
                <a:latin typeface="Consolas" panose="020B0609020204030204" pitchFamily="49" charset="0"/>
              </a:rPr>
              <a:t> </a:t>
            </a:r>
            <a:r>
              <a:rPr lang="en-GB" sz="2000" dirty="0" err="1">
                <a:latin typeface="Consolas" panose="020B0609020204030204" pitchFamily="49" charset="0"/>
              </a:rPr>
              <a:t>faidx</a:t>
            </a:r>
            <a:r>
              <a:rPr lang="en-GB" sz="2000" dirty="0">
                <a:latin typeface="Consolas" panose="020B0609020204030204" pitchFamily="49" charset="0"/>
              </a:rPr>
              <a:t> reference/</a:t>
            </a:r>
            <a:r>
              <a:rPr lang="en-GB" sz="2000" dirty="0" err="1">
                <a:latin typeface="Consolas" panose="020B0609020204030204" pitchFamily="49" charset="0"/>
              </a:rPr>
              <a:t>chrM.fa</a:t>
            </a:r>
            <a:endParaRPr lang="en-GB" sz="2000" dirty="0">
              <a:latin typeface="Consolas" panose="020B0609020204030204" pitchFamily="49" charset="0"/>
            </a:endParaRPr>
          </a:p>
          <a:p>
            <a:pPr marL="0" indent="0">
              <a:buNone/>
            </a:pPr>
            <a:r>
              <a:rPr lang="en-GB" sz="1800" dirty="0">
                <a:solidFill>
                  <a:srgbClr val="0066FF"/>
                </a:solidFill>
                <a:latin typeface="Consolas" panose="020B0609020204030204" pitchFamily="49" charset="0"/>
              </a:rPr>
              <a:t>	</a:t>
            </a:r>
            <a:endParaRPr lang="en-GB" sz="1800" dirty="0">
              <a:latin typeface="Consolas" panose="020B0609020204030204" pitchFamily="49" charset="0"/>
            </a:endParaRPr>
          </a:p>
        </p:txBody>
      </p:sp>
      <p:pic>
        <p:nvPicPr>
          <p:cNvPr id="7" name="Picture 6">
            <a:extLst>
              <a:ext uri="{FF2B5EF4-FFF2-40B4-BE49-F238E27FC236}">
                <a16:creationId xmlns:a16="http://schemas.microsoft.com/office/drawing/2014/main" id="{01077AC7-F513-407F-738B-56B33839B1BA}"/>
              </a:ext>
            </a:extLst>
          </p:cNvPr>
          <p:cNvPicPr>
            <a:picLocks noChangeAspect="1"/>
          </p:cNvPicPr>
          <p:nvPr/>
        </p:nvPicPr>
        <p:blipFill>
          <a:blip r:embed="rId3"/>
          <a:stretch>
            <a:fillRect/>
          </a:stretch>
        </p:blipFill>
        <p:spPr>
          <a:xfrm>
            <a:off x="8737302" y="365125"/>
            <a:ext cx="3235772" cy="974629"/>
          </a:xfrm>
          <a:prstGeom prst="rect">
            <a:avLst/>
          </a:prstGeom>
        </p:spPr>
      </p:pic>
    </p:spTree>
    <p:extLst>
      <p:ext uri="{BB962C8B-B14F-4D97-AF65-F5344CB8AC3E}">
        <p14:creationId xmlns:p14="http://schemas.microsoft.com/office/powerpoint/2010/main" val="3159722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8A7B7-9B58-A7C7-5404-3AAFEF5E74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E4F266-E448-B7BD-D0CA-F05332C48933}"/>
              </a:ext>
            </a:extLst>
          </p:cNvPr>
          <p:cNvSpPr>
            <a:spLocks noGrp="1"/>
          </p:cNvSpPr>
          <p:nvPr>
            <p:ph type="title"/>
          </p:nvPr>
        </p:nvSpPr>
        <p:spPr>
          <a:xfrm>
            <a:off x="910039" y="0"/>
            <a:ext cx="10515600" cy="1325563"/>
          </a:xfrm>
        </p:spPr>
        <p:txBody>
          <a:bodyPr/>
          <a:lstStyle/>
          <a:p>
            <a:r>
              <a:rPr lang="en-GB" dirty="0">
                <a:latin typeface="Arial" panose="020B0604020202020204" pitchFamily="34" charset="0"/>
                <a:cs typeface="Arial" panose="020B0604020202020204" pitchFamily="34" charset="0"/>
              </a:rPr>
              <a:t>Part 1 – Preparing Reference</a:t>
            </a:r>
          </a:p>
        </p:txBody>
      </p:sp>
      <p:sp>
        <p:nvSpPr>
          <p:cNvPr id="2" name="Content Placeholder 1">
            <a:extLst>
              <a:ext uri="{FF2B5EF4-FFF2-40B4-BE49-F238E27FC236}">
                <a16:creationId xmlns:a16="http://schemas.microsoft.com/office/drawing/2014/main" id="{942594E0-8E9D-56A2-460E-10D6FBC6D79E}"/>
              </a:ext>
            </a:extLst>
          </p:cNvPr>
          <p:cNvSpPr>
            <a:spLocks noGrp="1"/>
          </p:cNvSpPr>
          <p:nvPr>
            <p:ph idx="1"/>
          </p:nvPr>
        </p:nvSpPr>
        <p:spPr>
          <a:xfrm>
            <a:off x="568345" y="5014690"/>
            <a:ext cx="11198987" cy="4351338"/>
          </a:xfrm>
        </p:spPr>
        <p:txBody>
          <a:bodyPr>
            <a:normAutofit/>
          </a:bodyPr>
          <a:lstStyle/>
          <a:p>
            <a:pPr marL="0" indent="0">
              <a:buNone/>
            </a:pPr>
            <a:endParaRPr lang="en-GB" sz="22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At the Linux terminal type:</a:t>
            </a:r>
            <a:endParaRPr lang="en-GB" sz="2000" dirty="0">
              <a:latin typeface="Consolas" panose="020B0609020204030204" pitchFamily="49" charset="0"/>
            </a:endParaRPr>
          </a:p>
          <a:p>
            <a:pPr marL="0" indent="0">
              <a:buNone/>
            </a:pPr>
            <a:r>
              <a:rPr lang="en-GB" sz="2000" dirty="0">
                <a:latin typeface="Consolas" panose="020B0609020204030204" pitchFamily="49" charset="0"/>
              </a:rPr>
              <a:t>	</a:t>
            </a:r>
            <a:r>
              <a:rPr lang="en-GB" sz="2000" dirty="0">
                <a:solidFill>
                  <a:srgbClr val="0070C0"/>
                </a:solidFill>
                <a:latin typeface="Consolas" panose="020B0609020204030204" pitchFamily="49" charset="0"/>
              </a:rPr>
              <a:t>java </a:t>
            </a:r>
            <a:r>
              <a:rPr lang="en-GB" sz="2000" dirty="0">
                <a:latin typeface="Consolas" panose="020B0609020204030204" pitchFamily="49" charset="0"/>
              </a:rPr>
              <a:t>-jar</a:t>
            </a:r>
            <a:r>
              <a:rPr lang="en-GB" sz="2000" dirty="0">
                <a:solidFill>
                  <a:srgbClr val="0070C0"/>
                </a:solidFill>
                <a:latin typeface="Consolas" panose="020B0609020204030204" pitchFamily="49" charset="0"/>
              </a:rPr>
              <a:t> </a:t>
            </a:r>
            <a:r>
              <a:rPr lang="en-GB" sz="2000" dirty="0" err="1">
                <a:solidFill>
                  <a:srgbClr val="0070C0"/>
                </a:solidFill>
                <a:latin typeface="Consolas" panose="020B0609020204030204" pitchFamily="49" charset="0"/>
              </a:rPr>
              <a:t>software_update</a:t>
            </a:r>
            <a:r>
              <a:rPr lang="en-GB" sz="2000" dirty="0">
                <a:solidFill>
                  <a:srgbClr val="0070C0"/>
                </a:solidFill>
                <a:latin typeface="Consolas" panose="020B0609020204030204" pitchFamily="49" charset="0"/>
              </a:rPr>
              <a:t>/gatk-package-4.0.4.0-local.jar </a:t>
            </a:r>
            <a:r>
              <a:rPr lang="en-GB" sz="2000" dirty="0" err="1">
                <a:latin typeface="Consolas" panose="020B0609020204030204" pitchFamily="49" charset="0"/>
              </a:rPr>
              <a:t>CreateSequenceDictionary</a:t>
            </a:r>
            <a:r>
              <a:rPr lang="en-GB" sz="2000" dirty="0">
                <a:latin typeface="Consolas" panose="020B0609020204030204" pitchFamily="49" charset="0"/>
              </a:rPr>
              <a:t> -R 	reference/</a:t>
            </a:r>
            <a:r>
              <a:rPr lang="en-GB" sz="2000" dirty="0" err="1">
                <a:latin typeface="Consolas" panose="020B0609020204030204" pitchFamily="49" charset="0"/>
              </a:rPr>
              <a:t>chrM.fa</a:t>
            </a:r>
            <a:r>
              <a:rPr lang="en-GB" sz="2000" dirty="0">
                <a:latin typeface="Consolas" panose="020B0609020204030204" pitchFamily="49" charset="0"/>
              </a:rPr>
              <a:t> -O reference/</a:t>
            </a:r>
            <a:r>
              <a:rPr lang="en-GB" sz="2000" dirty="0" err="1">
                <a:latin typeface="Consolas" panose="020B0609020204030204" pitchFamily="49" charset="0"/>
              </a:rPr>
              <a:t>chrM.dict</a:t>
            </a:r>
            <a:endParaRPr lang="en-GB" sz="2000" dirty="0">
              <a:latin typeface="Consolas" panose="020B0609020204030204" pitchFamily="49" charset="0"/>
            </a:endParaRPr>
          </a:p>
          <a:p>
            <a:pPr marL="0" indent="0">
              <a:buNone/>
            </a:pPr>
            <a:endParaRPr lang="en-GB" sz="1800" dirty="0">
              <a:latin typeface="Consolas" panose="020B0609020204030204" pitchFamily="49" charset="0"/>
            </a:endParaRPr>
          </a:p>
          <a:p>
            <a:pPr marL="0" indent="0">
              <a:buNone/>
            </a:pPr>
            <a:r>
              <a:rPr lang="en-GB" sz="1800" dirty="0">
                <a:solidFill>
                  <a:srgbClr val="0066FF"/>
                </a:solidFill>
                <a:latin typeface="Consolas" panose="020B0609020204030204" pitchFamily="49" charset="0"/>
              </a:rPr>
              <a:t>	</a:t>
            </a:r>
            <a:endParaRPr lang="en-GB" sz="1800" dirty="0">
              <a:latin typeface="Consolas" panose="020B0609020204030204" pitchFamily="49" charset="0"/>
            </a:endParaRPr>
          </a:p>
        </p:txBody>
      </p:sp>
      <p:pic>
        <p:nvPicPr>
          <p:cNvPr id="8" name="Picture 7">
            <a:extLst>
              <a:ext uri="{FF2B5EF4-FFF2-40B4-BE49-F238E27FC236}">
                <a16:creationId xmlns:a16="http://schemas.microsoft.com/office/drawing/2014/main" id="{FDBC8498-4175-1A22-BF50-FECF9F0740C6}"/>
              </a:ext>
            </a:extLst>
          </p:cNvPr>
          <p:cNvPicPr>
            <a:picLocks noChangeAspect="1"/>
          </p:cNvPicPr>
          <p:nvPr/>
        </p:nvPicPr>
        <p:blipFill>
          <a:blip r:embed="rId2"/>
          <a:stretch>
            <a:fillRect/>
          </a:stretch>
        </p:blipFill>
        <p:spPr>
          <a:xfrm>
            <a:off x="1976839" y="1538648"/>
            <a:ext cx="8088696" cy="2167445"/>
          </a:xfrm>
          <a:prstGeom prst="rect">
            <a:avLst/>
          </a:prstGeom>
        </p:spPr>
      </p:pic>
      <p:sp>
        <p:nvSpPr>
          <p:cNvPr id="9" name="TextBox 8">
            <a:extLst>
              <a:ext uri="{FF2B5EF4-FFF2-40B4-BE49-F238E27FC236}">
                <a16:creationId xmlns:a16="http://schemas.microsoft.com/office/drawing/2014/main" id="{2BC7467F-ACF7-528C-6673-5EDBE9A5E7B8}"/>
              </a:ext>
            </a:extLst>
          </p:cNvPr>
          <p:cNvSpPr txBox="1"/>
          <p:nvPr/>
        </p:nvSpPr>
        <p:spPr>
          <a:xfrm>
            <a:off x="699727" y="4191288"/>
            <a:ext cx="8951938" cy="1015663"/>
          </a:xfrm>
          <a:prstGeom prst="rect">
            <a:avLst/>
          </a:prstGeom>
          <a:noFill/>
        </p:spPr>
        <p:txBody>
          <a:bodyPr wrap="none" rtlCol="0">
            <a:spAutoFit/>
          </a:bodyPr>
          <a:lstStyle/>
          <a:p>
            <a:pPr marL="285750" indent="-285750">
              <a:buFont typeface="Wingdings" panose="05000000000000000000" pitchFamily="2" charset="2"/>
              <a:buChar char="Ø"/>
            </a:pPr>
            <a:r>
              <a:rPr lang="en-GB" sz="2000" dirty="0">
                <a:latin typeface="Arial" panose="020B0604020202020204" pitchFamily="34" charset="0"/>
                <a:cs typeface="Arial" panose="020B0604020202020204" pitchFamily="34" charset="0"/>
              </a:rPr>
              <a:t>https://gatk.broadinstitute.org/</a:t>
            </a:r>
          </a:p>
          <a:p>
            <a:pPr marL="285750" indent="-285750">
              <a:buFont typeface="Wingdings" panose="05000000000000000000" pitchFamily="2" charset="2"/>
              <a:buChar char="Ø"/>
            </a:pPr>
            <a:r>
              <a:rPr lang="en-GB" sz="2000" dirty="0">
                <a:latin typeface="Arial" panose="020B0604020202020204" pitchFamily="34" charset="0"/>
                <a:cs typeface="Arial" panose="020B0604020202020204" pitchFamily="34" charset="0"/>
              </a:rPr>
              <a:t>Developed at Broad Institute</a:t>
            </a:r>
          </a:p>
          <a:p>
            <a:pPr marL="285750" indent="-285750">
              <a:buFont typeface="Wingdings" panose="05000000000000000000" pitchFamily="2" charset="2"/>
              <a:buChar char="Ø"/>
            </a:pPr>
            <a:r>
              <a:rPr lang="en-GB" sz="2000" dirty="0">
                <a:latin typeface="Arial" panose="020B0604020202020204" pitchFamily="34" charset="0"/>
                <a:cs typeface="Arial" panose="020B0604020202020204" pitchFamily="34" charset="0"/>
              </a:rPr>
              <a:t>Go-to pipeline for identifying SNP and indels in germline DNA and </a:t>
            </a:r>
            <a:r>
              <a:rPr lang="en-GB" sz="2000" dirty="0" err="1">
                <a:latin typeface="Arial" panose="020B0604020202020204" pitchFamily="34" charset="0"/>
                <a:cs typeface="Arial" panose="020B0604020202020204" pitchFamily="34" charset="0"/>
              </a:rPr>
              <a:t>RNAseq</a:t>
            </a:r>
            <a:endParaRPr lang="en-GB" sz="2000" dirty="0">
              <a:latin typeface="Arial" panose="020B0604020202020204" pitchFamily="34" charset="0"/>
              <a:cs typeface="Arial" panose="020B0604020202020204" pitchFamily="34" charset="0"/>
            </a:endParaRPr>
          </a:p>
        </p:txBody>
      </p:sp>
      <p:pic>
        <p:nvPicPr>
          <p:cNvPr id="1028" name="Picture 4" descr="Logo">
            <a:extLst>
              <a:ext uri="{FF2B5EF4-FFF2-40B4-BE49-F238E27FC236}">
                <a16:creationId xmlns:a16="http://schemas.microsoft.com/office/drawing/2014/main" id="{1748AF17-3AEF-ACEE-0715-668FE6372C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7398" y="184663"/>
            <a:ext cx="2475948" cy="819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6196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7A0D73-A6BB-46B5-B7DF-AF37C4B76D49}"/>
              </a:ext>
            </a:extLst>
          </p:cNvPr>
          <p:cNvSpPr>
            <a:spLocks noGrp="1"/>
          </p:cNvSpPr>
          <p:nvPr>
            <p:ph idx="1"/>
          </p:nvPr>
        </p:nvSpPr>
        <p:spPr>
          <a:xfrm>
            <a:off x="190831" y="1825625"/>
            <a:ext cx="11774523" cy="1325563"/>
          </a:xfrm>
        </p:spPr>
        <p:txBody>
          <a:bodyPr>
            <a:normAutofit lnSpcReduction="10000"/>
          </a:bodyPr>
          <a:lstStyle/>
          <a:p>
            <a:pPr>
              <a:buFont typeface="Wingdings" panose="05000000000000000000" pitchFamily="2" charset="2"/>
              <a:buChar char="Ø"/>
            </a:pPr>
            <a:r>
              <a:rPr lang="en-GB" sz="2400" dirty="0">
                <a:latin typeface="Arial" panose="020B0604020202020204" pitchFamily="34" charset="0"/>
                <a:cs typeface="Arial" panose="020B0604020202020204" pitchFamily="34" charset="0"/>
              </a:rPr>
              <a:t>At the Linux terminal type:</a:t>
            </a:r>
          </a:p>
          <a:p>
            <a:pPr marL="0" indent="0">
              <a:buNone/>
            </a:pPr>
            <a:r>
              <a:rPr lang="en-GB" sz="2400" dirty="0">
                <a:solidFill>
                  <a:srgbClr val="0066FF"/>
                </a:solidFill>
                <a:latin typeface="Garamond" panose="02020404030301010803" pitchFamily="18" charset="0"/>
              </a:rPr>
              <a:t>	</a:t>
            </a:r>
          </a:p>
          <a:p>
            <a:pPr marL="0" indent="0">
              <a:buNone/>
            </a:pPr>
            <a:r>
              <a:rPr lang="en-GB" sz="2400" dirty="0">
                <a:solidFill>
                  <a:srgbClr val="0066FF"/>
                </a:solidFill>
                <a:latin typeface="Garamond" panose="02020404030301010803" pitchFamily="18" charset="0"/>
              </a:rPr>
              <a:t>	</a:t>
            </a:r>
            <a:r>
              <a:rPr lang="en-GB" sz="1800" dirty="0">
                <a:solidFill>
                  <a:srgbClr val="0070C0"/>
                </a:solidFill>
                <a:latin typeface="Consolas" panose="020B0609020204030204" pitchFamily="49" charset="0"/>
              </a:rPr>
              <a:t>head </a:t>
            </a:r>
            <a:r>
              <a:rPr lang="en-GB" sz="1800" dirty="0">
                <a:latin typeface="Consolas" panose="020B0609020204030204" pitchFamily="49" charset="0"/>
              </a:rPr>
              <a:t>–n 12 sample1_r1.fastq</a:t>
            </a:r>
          </a:p>
        </p:txBody>
      </p:sp>
      <p:grpSp>
        <p:nvGrpSpPr>
          <p:cNvPr id="6" name="Group 5">
            <a:extLst>
              <a:ext uri="{FF2B5EF4-FFF2-40B4-BE49-F238E27FC236}">
                <a16:creationId xmlns:a16="http://schemas.microsoft.com/office/drawing/2014/main" id="{7C90C901-D0D5-4FB1-A18B-BB4D67FA064D}"/>
              </a:ext>
            </a:extLst>
          </p:cNvPr>
          <p:cNvGrpSpPr/>
          <p:nvPr/>
        </p:nvGrpSpPr>
        <p:grpSpPr>
          <a:xfrm>
            <a:off x="5480684" y="2602884"/>
            <a:ext cx="4724399" cy="523573"/>
            <a:chOff x="2963543" y="2478872"/>
            <a:chExt cx="4724399" cy="523573"/>
          </a:xfrm>
        </p:grpSpPr>
        <p:sp>
          <p:nvSpPr>
            <p:cNvPr id="7" name="Rounded Rectangle 24">
              <a:extLst>
                <a:ext uri="{FF2B5EF4-FFF2-40B4-BE49-F238E27FC236}">
                  <a16:creationId xmlns:a16="http://schemas.microsoft.com/office/drawing/2014/main" id="{A1A83F28-F3DF-47CA-AFAD-C31F5CF08987}"/>
                </a:ext>
              </a:extLst>
            </p:cNvPr>
            <p:cNvSpPr/>
            <p:nvPr/>
          </p:nvSpPr>
          <p:spPr>
            <a:xfrm>
              <a:off x="2963543" y="2478872"/>
              <a:ext cx="2432237" cy="50506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400" b="1" dirty="0">
                  <a:solidFill>
                    <a:schemeClr val="tx1"/>
                  </a:solidFill>
                </a:rPr>
                <a:t>Enormous pile of short reads</a:t>
              </a:r>
            </a:p>
          </p:txBody>
        </p:sp>
        <p:pic>
          <p:nvPicPr>
            <p:cNvPr id="8" name="Picture 7" descr="Screen Shot 2015-10-14 at 9.20.05 PM.png">
              <a:extLst>
                <a:ext uri="{FF2B5EF4-FFF2-40B4-BE49-F238E27FC236}">
                  <a16:creationId xmlns:a16="http://schemas.microsoft.com/office/drawing/2014/main" id="{91757431-05FF-4AAC-B78D-525295091930}"/>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5447553" y="2485838"/>
              <a:ext cx="444951" cy="516607"/>
            </a:xfrm>
            <a:prstGeom prst="rect">
              <a:avLst/>
            </a:prstGeom>
          </p:spPr>
        </p:pic>
        <p:sp>
          <p:nvSpPr>
            <p:cNvPr id="11" name="Rounded Rectangle 24">
              <a:extLst>
                <a:ext uri="{FF2B5EF4-FFF2-40B4-BE49-F238E27FC236}">
                  <a16:creationId xmlns:a16="http://schemas.microsoft.com/office/drawing/2014/main" id="{80631313-47D5-44B3-8F6E-A7EA394B15B5}"/>
                </a:ext>
              </a:extLst>
            </p:cNvPr>
            <p:cNvSpPr/>
            <p:nvPr/>
          </p:nvSpPr>
          <p:spPr>
            <a:xfrm>
              <a:off x="6224078" y="2805250"/>
              <a:ext cx="1463864" cy="17868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200" dirty="0"/>
                <a:t>sample1_r2.fastq</a:t>
              </a:r>
            </a:p>
          </p:txBody>
        </p:sp>
        <p:sp>
          <p:nvSpPr>
            <p:cNvPr id="12" name="Rounded Rectangle 24">
              <a:extLst>
                <a:ext uri="{FF2B5EF4-FFF2-40B4-BE49-F238E27FC236}">
                  <a16:creationId xmlns:a16="http://schemas.microsoft.com/office/drawing/2014/main" id="{E6311B3F-4A1E-4B76-A813-60A15BC30445}"/>
                </a:ext>
              </a:extLst>
            </p:cNvPr>
            <p:cNvSpPr/>
            <p:nvPr/>
          </p:nvSpPr>
          <p:spPr>
            <a:xfrm>
              <a:off x="6224078" y="2485838"/>
              <a:ext cx="1463864" cy="17868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200" dirty="0"/>
                <a:t>sample1_r1.fastq</a:t>
              </a:r>
            </a:p>
          </p:txBody>
        </p:sp>
        <p:sp>
          <p:nvSpPr>
            <p:cNvPr id="13" name="Right Arrow 25">
              <a:extLst>
                <a:ext uri="{FF2B5EF4-FFF2-40B4-BE49-F238E27FC236}">
                  <a16:creationId xmlns:a16="http://schemas.microsoft.com/office/drawing/2014/main" id="{E6E8900B-42AA-4CAB-AD4D-BD6E3C8D5993}"/>
                </a:ext>
              </a:extLst>
            </p:cNvPr>
            <p:cNvSpPr/>
            <p:nvPr/>
          </p:nvSpPr>
          <p:spPr>
            <a:xfrm>
              <a:off x="5960311" y="2609406"/>
              <a:ext cx="208105" cy="269469"/>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pic>
        <p:nvPicPr>
          <p:cNvPr id="14" name="Picture 13">
            <a:extLst>
              <a:ext uri="{FF2B5EF4-FFF2-40B4-BE49-F238E27FC236}">
                <a16:creationId xmlns:a16="http://schemas.microsoft.com/office/drawing/2014/main" id="{71498BEF-CDD2-465E-A431-1A7FDDE5E5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6644" y="4032568"/>
            <a:ext cx="6876506" cy="1537499"/>
          </a:xfrm>
          <a:prstGeom prst="rect">
            <a:avLst/>
          </a:prstGeom>
        </p:spPr>
      </p:pic>
      <p:sp>
        <p:nvSpPr>
          <p:cNvPr id="16" name="TextBox 15">
            <a:extLst>
              <a:ext uri="{FF2B5EF4-FFF2-40B4-BE49-F238E27FC236}">
                <a16:creationId xmlns:a16="http://schemas.microsoft.com/office/drawing/2014/main" id="{1EE91D47-C850-408A-9E72-49FA811A2F91}"/>
              </a:ext>
            </a:extLst>
          </p:cNvPr>
          <p:cNvSpPr txBox="1"/>
          <p:nvPr/>
        </p:nvSpPr>
        <p:spPr>
          <a:xfrm>
            <a:off x="669665" y="3901681"/>
            <a:ext cx="3259226" cy="1799275"/>
          </a:xfrm>
          <a:prstGeom prst="rect">
            <a:avLst/>
          </a:prstGeom>
          <a:noFill/>
        </p:spPr>
        <p:txBody>
          <a:bodyPr wrap="none" rtlCol="0">
            <a:spAutoFit/>
          </a:bodyPr>
          <a:lstStyle/>
          <a:p>
            <a:pPr>
              <a:spcAft>
                <a:spcPts val="1200"/>
              </a:spcAft>
            </a:pPr>
            <a:r>
              <a:rPr lang="en-GB" sz="1100" dirty="0"/>
              <a:t>Every new entry (read) is starting with an “@”.</a:t>
            </a:r>
          </a:p>
          <a:p>
            <a:r>
              <a:rPr lang="en-GB" sz="1100" dirty="0"/>
              <a:t>Each entry (read) in a FASTQ file consists of four lines:</a:t>
            </a:r>
          </a:p>
          <a:p>
            <a:pPr>
              <a:spcBef>
                <a:spcPts val="300"/>
              </a:spcBef>
            </a:pPr>
            <a:r>
              <a:rPr lang="en-GB" sz="1100" dirty="0"/>
              <a:t>1</a:t>
            </a:r>
            <a:r>
              <a:rPr lang="en-GB" sz="1100" baseline="30000" dirty="0"/>
              <a:t>st</a:t>
            </a:r>
            <a:r>
              <a:rPr lang="en-GB" sz="1100" dirty="0"/>
              <a:t>: Read </a:t>
            </a:r>
            <a:r>
              <a:rPr lang="en-GB" sz="1100" b="1" dirty="0"/>
              <a:t>identifier</a:t>
            </a:r>
          </a:p>
          <a:p>
            <a:pPr>
              <a:lnSpc>
                <a:spcPct val="200000"/>
              </a:lnSpc>
            </a:pPr>
            <a:r>
              <a:rPr lang="en-GB" sz="1100" dirty="0"/>
              <a:t>2</a:t>
            </a:r>
            <a:r>
              <a:rPr lang="en-GB" sz="1100" baseline="30000" dirty="0"/>
              <a:t>nd</a:t>
            </a:r>
            <a:r>
              <a:rPr lang="en-GB" sz="1100" dirty="0"/>
              <a:t>: Nucleotide </a:t>
            </a:r>
            <a:r>
              <a:rPr lang="en-GB" sz="1100" b="1" dirty="0"/>
              <a:t>sequence</a:t>
            </a:r>
          </a:p>
          <a:p>
            <a:pPr>
              <a:lnSpc>
                <a:spcPct val="200000"/>
              </a:lnSpc>
            </a:pPr>
            <a:r>
              <a:rPr lang="en-GB" sz="1100" dirty="0"/>
              <a:t>3</a:t>
            </a:r>
            <a:r>
              <a:rPr lang="en-GB" sz="1100" baseline="30000" dirty="0"/>
              <a:t>rd</a:t>
            </a:r>
            <a:r>
              <a:rPr lang="en-GB" sz="1100" dirty="0"/>
              <a:t>: Quality score identifier (is always a “+”)</a:t>
            </a:r>
          </a:p>
          <a:p>
            <a:pPr>
              <a:lnSpc>
                <a:spcPct val="200000"/>
              </a:lnSpc>
            </a:pPr>
            <a:r>
              <a:rPr lang="en-GB" sz="1100" dirty="0"/>
              <a:t>4</a:t>
            </a:r>
            <a:r>
              <a:rPr lang="en-GB" sz="1100" baseline="30000" dirty="0"/>
              <a:t>rd</a:t>
            </a:r>
            <a:r>
              <a:rPr lang="en-GB" sz="1100" dirty="0"/>
              <a:t>: Per base </a:t>
            </a:r>
            <a:r>
              <a:rPr lang="en-GB" sz="1100" b="1" dirty="0"/>
              <a:t>quality score</a:t>
            </a:r>
          </a:p>
        </p:txBody>
      </p:sp>
      <p:cxnSp>
        <p:nvCxnSpPr>
          <p:cNvPr id="17" name="Straight Connector 16">
            <a:extLst>
              <a:ext uri="{FF2B5EF4-FFF2-40B4-BE49-F238E27FC236}">
                <a16:creationId xmlns:a16="http://schemas.microsoft.com/office/drawing/2014/main" id="{7CC5BAC1-3CE9-46DF-953B-337723943775}"/>
              </a:ext>
            </a:extLst>
          </p:cNvPr>
          <p:cNvCxnSpPr>
            <a:cxnSpLocks/>
          </p:cNvCxnSpPr>
          <p:nvPr/>
        </p:nvCxnSpPr>
        <p:spPr>
          <a:xfrm>
            <a:off x="3411540" y="4032568"/>
            <a:ext cx="905104" cy="574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FB6C745-7943-40AF-9267-9042A3DA3AC8}"/>
              </a:ext>
            </a:extLst>
          </p:cNvPr>
          <p:cNvCxnSpPr>
            <a:cxnSpLocks/>
          </p:cNvCxnSpPr>
          <p:nvPr/>
        </p:nvCxnSpPr>
        <p:spPr>
          <a:xfrm>
            <a:off x="1848902" y="4568758"/>
            <a:ext cx="2467742" cy="33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A0666D4-05CB-42CC-8CCC-D5B301DEADAE}"/>
              </a:ext>
            </a:extLst>
          </p:cNvPr>
          <p:cNvCxnSpPr>
            <a:cxnSpLocks/>
          </p:cNvCxnSpPr>
          <p:nvPr/>
        </p:nvCxnSpPr>
        <p:spPr>
          <a:xfrm flipV="1">
            <a:off x="2229902" y="4725110"/>
            <a:ext cx="2086742" cy="1248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C0E3F7B-45A9-4F85-9A75-70F5AA11D367}"/>
              </a:ext>
            </a:extLst>
          </p:cNvPr>
          <p:cNvCxnSpPr>
            <a:cxnSpLocks/>
          </p:cNvCxnSpPr>
          <p:nvPr/>
        </p:nvCxnSpPr>
        <p:spPr>
          <a:xfrm flipV="1">
            <a:off x="3206214" y="4858472"/>
            <a:ext cx="1110430" cy="320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C666EA0-5B2C-4BF3-B265-3E21C80D1205}"/>
              </a:ext>
            </a:extLst>
          </p:cNvPr>
          <p:cNvCxnSpPr/>
          <p:nvPr/>
        </p:nvCxnSpPr>
        <p:spPr>
          <a:xfrm flipV="1">
            <a:off x="2268002" y="5002313"/>
            <a:ext cx="2048642" cy="519113"/>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AC02166-2D7D-45A4-B751-C7FE4DD525D3}"/>
              </a:ext>
            </a:extLst>
          </p:cNvPr>
          <p:cNvSpPr/>
          <p:nvPr/>
        </p:nvSpPr>
        <p:spPr>
          <a:xfrm>
            <a:off x="4316644" y="4026595"/>
            <a:ext cx="6876506" cy="501607"/>
          </a:xfrm>
          <a:prstGeom prst="rect">
            <a:avLst/>
          </a:prstGeom>
          <a:solidFill>
            <a:schemeClr val="bg1">
              <a:lumMod val="8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B7A1454F-D2F2-4CBB-9B80-C2135845C716}"/>
              </a:ext>
            </a:extLst>
          </p:cNvPr>
          <p:cNvSpPr/>
          <p:nvPr/>
        </p:nvSpPr>
        <p:spPr>
          <a:xfrm>
            <a:off x="4316644" y="5071563"/>
            <a:ext cx="6876506" cy="501607"/>
          </a:xfrm>
          <a:prstGeom prst="rect">
            <a:avLst/>
          </a:prstGeom>
          <a:solidFill>
            <a:schemeClr val="bg1">
              <a:lumMod val="8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612EE40-0031-407F-9B66-8416A639F63E}"/>
              </a:ext>
            </a:extLst>
          </p:cNvPr>
          <p:cNvSpPr txBox="1"/>
          <p:nvPr/>
        </p:nvSpPr>
        <p:spPr>
          <a:xfrm>
            <a:off x="7247161" y="3696325"/>
            <a:ext cx="1015471" cy="338554"/>
          </a:xfrm>
          <a:prstGeom prst="rect">
            <a:avLst/>
          </a:prstGeom>
          <a:noFill/>
        </p:spPr>
        <p:txBody>
          <a:bodyPr wrap="none" rtlCol="0">
            <a:spAutoFit/>
          </a:bodyPr>
          <a:lstStyle/>
          <a:p>
            <a:r>
              <a:rPr lang="en-GB" sz="1600" dirty="0"/>
              <a:t>FASTQ file</a:t>
            </a:r>
          </a:p>
        </p:txBody>
      </p:sp>
      <p:sp>
        <p:nvSpPr>
          <p:cNvPr id="25" name="Rectangle 24">
            <a:extLst>
              <a:ext uri="{FF2B5EF4-FFF2-40B4-BE49-F238E27FC236}">
                <a16:creationId xmlns:a16="http://schemas.microsoft.com/office/drawing/2014/main" id="{F79DEDC2-BECC-4B7F-9088-99316CE69E51}"/>
              </a:ext>
            </a:extLst>
          </p:cNvPr>
          <p:cNvSpPr/>
          <p:nvPr/>
        </p:nvSpPr>
        <p:spPr>
          <a:xfrm>
            <a:off x="3353029" y="421834"/>
            <a:ext cx="5656292" cy="707886"/>
          </a:xfrm>
          <a:prstGeom prst="rect">
            <a:avLst/>
          </a:prstGeom>
        </p:spPr>
        <p:txBody>
          <a:bodyPr wrap="none">
            <a:spAutoFit/>
          </a:bodyPr>
          <a:lstStyle/>
          <a:p>
            <a:pPr algn="ctr"/>
            <a:r>
              <a:rPr lang="en-GB" sz="4000" dirty="0">
                <a:latin typeface="Arial" panose="020B0604020202020204" pitchFamily="34" charset="0"/>
                <a:cs typeface="Arial" panose="020B0604020202020204" pitchFamily="34" charset="0"/>
              </a:rPr>
              <a:t>Part 2 - FASTQ files QC</a:t>
            </a:r>
          </a:p>
        </p:txBody>
      </p:sp>
    </p:spTree>
    <p:extLst>
      <p:ext uri="{BB962C8B-B14F-4D97-AF65-F5344CB8AC3E}">
        <p14:creationId xmlns:p14="http://schemas.microsoft.com/office/powerpoint/2010/main" val="87263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xEl>
                                              <p:pRg st="5" end="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a:xfrm>
            <a:off x="842142" y="-12319"/>
            <a:ext cx="10515600" cy="1325563"/>
          </a:xfrm>
        </p:spPr>
        <p:txBody>
          <a:bodyPr/>
          <a:lstStyle/>
          <a:p>
            <a:pPr algn="ctr"/>
            <a:r>
              <a:rPr lang="en-GB" dirty="0">
                <a:latin typeface="Arial" panose="020B0604020202020204" pitchFamily="34" charset="0"/>
                <a:cs typeface="Arial" panose="020B0604020202020204" pitchFamily="34" charset="0"/>
              </a:rPr>
              <a:t>Part 2 – FASTQ files QC</a:t>
            </a:r>
          </a:p>
        </p:txBody>
      </p:sp>
      <p:sp>
        <p:nvSpPr>
          <p:cNvPr id="2" name="Content Placeholder 1">
            <a:extLst>
              <a:ext uri="{FF2B5EF4-FFF2-40B4-BE49-F238E27FC236}">
                <a16:creationId xmlns:a16="http://schemas.microsoft.com/office/drawing/2014/main" id="{867A0D73-A6BB-46B5-B7DF-AF37C4B76D49}"/>
              </a:ext>
            </a:extLst>
          </p:cNvPr>
          <p:cNvSpPr>
            <a:spLocks noGrp="1"/>
          </p:cNvSpPr>
          <p:nvPr>
            <p:ph idx="1"/>
          </p:nvPr>
        </p:nvSpPr>
        <p:spPr>
          <a:xfrm>
            <a:off x="190831" y="1825625"/>
            <a:ext cx="11774523" cy="1430163"/>
          </a:xfrm>
        </p:spPr>
        <p:txBody>
          <a:bodyPr>
            <a:normAutofit/>
          </a:bodyPr>
          <a:lstStyle/>
          <a:p>
            <a:pPr>
              <a:buFont typeface="Wingdings" panose="05000000000000000000" pitchFamily="2" charset="2"/>
              <a:buChar char="Ø"/>
            </a:pPr>
            <a:r>
              <a:rPr lang="en-GB" sz="2400" dirty="0">
                <a:latin typeface="Arial" panose="020B0604020202020204" pitchFamily="34" charset="0"/>
                <a:cs typeface="Arial" panose="020B0604020202020204" pitchFamily="34" charset="0"/>
              </a:rPr>
              <a:t>At the Linux terminal type:</a:t>
            </a:r>
            <a:endParaRPr lang="en-GB" sz="2400" dirty="0">
              <a:solidFill>
                <a:srgbClr val="0066FF"/>
              </a:solidFill>
              <a:latin typeface="Arial" panose="020B0604020202020204" pitchFamily="34" charset="0"/>
              <a:cs typeface="Arial" panose="020B0604020202020204" pitchFamily="34" charset="0"/>
            </a:endParaRPr>
          </a:p>
          <a:p>
            <a:pPr marL="0" indent="0">
              <a:spcBef>
                <a:spcPts val="0"/>
              </a:spcBef>
              <a:buNone/>
            </a:pPr>
            <a:r>
              <a:rPr lang="en-GB" sz="2400" dirty="0">
                <a:solidFill>
                  <a:srgbClr val="0066FF"/>
                </a:solidFill>
                <a:latin typeface="Garamond" panose="02020404030301010803" pitchFamily="18" charset="0"/>
              </a:rPr>
              <a:t>	</a:t>
            </a:r>
            <a:r>
              <a:rPr lang="en-GB" sz="2400" dirty="0" err="1">
                <a:solidFill>
                  <a:srgbClr val="0066FF"/>
                </a:solidFill>
                <a:latin typeface="Garamond" panose="02020404030301010803" pitchFamily="18" charset="0"/>
              </a:rPr>
              <a:t>software_update</a:t>
            </a:r>
            <a:r>
              <a:rPr lang="en-GB" sz="2400" dirty="0">
                <a:solidFill>
                  <a:srgbClr val="0066FF"/>
                </a:solidFill>
                <a:latin typeface="Garamond" panose="02020404030301010803" pitchFamily="18" charset="0"/>
              </a:rPr>
              <a:t>/</a:t>
            </a:r>
            <a:r>
              <a:rPr lang="en-GB" sz="1800" dirty="0" err="1">
                <a:solidFill>
                  <a:srgbClr val="0070C0"/>
                </a:solidFill>
                <a:latin typeface="Consolas" panose="020B0609020204030204" pitchFamily="49" charset="0"/>
              </a:rPr>
              <a:t>fastp</a:t>
            </a:r>
            <a:r>
              <a:rPr lang="en-GB" sz="1800" dirty="0">
                <a:solidFill>
                  <a:srgbClr val="0070C0"/>
                </a:solidFill>
                <a:latin typeface="Consolas" panose="020B0609020204030204" pitchFamily="49" charset="0"/>
              </a:rPr>
              <a:t> </a:t>
            </a:r>
            <a:r>
              <a:rPr lang="en-GB" sz="1800" dirty="0">
                <a:latin typeface="Consolas" panose="020B0609020204030204" pitchFamily="49" charset="0"/>
              </a:rPr>
              <a:t>-</a:t>
            </a:r>
            <a:r>
              <a:rPr lang="en-GB" sz="1800" dirty="0" err="1">
                <a:latin typeface="Consolas" panose="020B0609020204030204" pitchFamily="49" charset="0"/>
              </a:rPr>
              <a:t>i</a:t>
            </a:r>
            <a:r>
              <a:rPr lang="en-GB" sz="1800" dirty="0">
                <a:latin typeface="Consolas" panose="020B0609020204030204" pitchFamily="49" charset="0"/>
              </a:rPr>
              <a:t> sample1_r1.fastq -I sample1_r2.fastq –o 	sample1_out.R1.fq.gz -O sample1_out.R2.fq.gz --html sample1_results.html </a:t>
            </a:r>
          </a:p>
          <a:p>
            <a:pPr marL="0" indent="0">
              <a:spcBef>
                <a:spcPts val="0"/>
              </a:spcBef>
              <a:buNone/>
            </a:pPr>
            <a:r>
              <a:rPr lang="en-GB" sz="1800" dirty="0">
                <a:latin typeface="Consolas" panose="020B0609020204030204" pitchFamily="49" charset="0"/>
              </a:rPr>
              <a:t>	--json sample1_results.json --</a:t>
            </a:r>
            <a:r>
              <a:rPr lang="en-GB" sz="1800" dirty="0" err="1">
                <a:latin typeface="Consolas" panose="020B0609020204030204" pitchFamily="49" charset="0"/>
              </a:rPr>
              <a:t>report_title</a:t>
            </a:r>
            <a:r>
              <a:rPr lang="en-GB" sz="1800" dirty="0">
                <a:latin typeface="Consolas" panose="020B0609020204030204" pitchFamily="49" charset="0"/>
              </a:rPr>
              <a:t> sample1_results</a:t>
            </a:r>
          </a:p>
        </p:txBody>
      </p:sp>
      <p:sp>
        <p:nvSpPr>
          <p:cNvPr id="25" name="Rectangle 24">
            <a:extLst>
              <a:ext uri="{FF2B5EF4-FFF2-40B4-BE49-F238E27FC236}">
                <a16:creationId xmlns:a16="http://schemas.microsoft.com/office/drawing/2014/main" id="{F79DEDC2-BECC-4B7F-9088-99316CE69E51}"/>
              </a:ext>
            </a:extLst>
          </p:cNvPr>
          <p:cNvSpPr/>
          <p:nvPr/>
        </p:nvSpPr>
        <p:spPr>
          <a:xfrm>
            <a:off x="640532" y="1092190"/>
            <a:ext cx="8701421" cy="400110"/>
          </a:xfrm>
          <a:prstGeom prst="rect">
            <a:avLst/>
          </a:prstGeom>
        </p:spPr>
        <p:txBody>
          <a:bodyPr wrap="none">
            <a:spAutoFit/>
          </a:bodyPr>
          <a:lstStyle/>
          <a:p>
            <a:r>
              <a:rPr lang="en-GB" sz="2000" dirty="0">
                <a:latin typeface="Arial" panose="020B0604020202020204" pitchFamily="34" charset="0"/>
                <a:cs typeface="Arial" panose="020B0604020202020204" pitchFamily="34" charset="0"/>
              </a:rPr>
              <a:t>Quality control of our mitochondrial NGS sequence data prior to alignments</a:t>
            </a:r>
          </a:p>
        </p:txBody>
      </p:sp>
      <p:sp>
        <p:nvSpPr>
          <p:cNvPr id="9" name="TextBox 8">
            <a:extLst>
              <a:ext uri="{FF2B5EF4-FFF2-40B4-BE49-F238E27FC236}">
                <a16:creationId xmlns:a16="http://schemas.microsoft.com/office/drawing/2014/main" id="{935034CB-DAC4-41D8-B056-6A86C6B28691}"/>
              </a:ext>
            </a:extLst>
          </p:cNvPr>
          <p:cNvSpPr txBox="1"/>
          <p:nvPr/>
        </p:nvSpPr>
        <p:spPr>
          <a:xfrm>
            <a:off x="4520058" y="3202103"/>
            <a:ext cx="3833101" cy="400110"/>
          </a:xfrm>
          <a:prstGeom prst="rect">
            <a:avLst/>
          </a:prstGeom>
          <a:noFill/>
        </p:spPr>
        <p:txBody>
          <a:bodyPr wrap="none" rtlCol="0">
            <a:spAutoFit/>
          </a:bodyPr>
          <a:lstStyle/>
          <a:p>
            <a:r>
              <a:rPr lang="en-GB" sz="2000" dirty="0">
                <a:latin typeface="Arial" panose="020B0604020202020204" pitchFamily="34" charset="0"/>
                <a:cs typeface="Arial" panose="020B0604020202020204" pitchFamily="34" charset="0"/>
              </a:rPr>
              <a:t>This step achieves 2 main goals</a:t>
            </a:r>
          </a:p>
        </p:txBody>
      </p:sp>
      <p:sp>
        <p:nvSpPr>
          <p:cNvPr id="10" name="TextBox 9">
            <a:extLst>
              <a:ext uri="{FF2B5EF4-FFF2-40B4-BE49-F238E27FC236}">
                <a16:creationId xmlns:a16="http://schemas.microsoft.com/office/drawing/2014/main" id="{CF62AC4F-5638-4B05-AD9F-9F915684ED50}"/>
              </a:ext>
            </a:extLst>
          </p:cNvPr>
          <p:cNvSpPr txBox="1"/>
          <p:nvPr/>
        </p:nvSpPr>
        <p:spPr>
          <a:xfrm>
            <a:off x="6556969" y="3796441"/>
            <a:ext cx="4609706" cy="646331"/>
          </a:xfrm>
          <a:prstGeom prst="rect">
            <a:avLst/>
          </a:prstGeom>
          <a:noFill/>
        </p:spPr>
        <p:txBody>
          <a:bodyPr wrap="square" rtlCol="0">
            <a:spAutoFit/>
          </a:bodyPr>
          <a:lstStyle/>
          <a:p>
            <a:pPr algn="ctr"/>
            <a:r>
              <a:rPr lang="en-GB" b="1" dirty="0">
                <a:latin typeface="Arial" panose="020B0604020202020204" pitchFamily="34" charset="0"/>
                <a:cs typeface="Arial" panose="020B0604020202020204" pitchFamily="34" charset="0"/>
              </a:rPr>
              <a:t>Report the reads quality in a human-readable format</a:t>
            </a:r>
          </a:p>
        </p:txBody>
      </p:sp>
      <p:sp>
        <p:nvSpPr>
          <p:cNvPr id="26" name="TextBox 25">
            <a:extLst>
              <a:ext uri="{FF2B5EF4-FFF2-40B4-BE49-F238E27FC236}">
                <a16:creationId xmlns:a16="http://schemas.microsoft.com/office/drawing/2014/main" id="{DDE7211E-92CD-4089-B362-1EDBEFE8A073}"/>
              </a:ext>
            </a:extLst>
          </p:cNvPr>
          <p:cNvSpPr txBox="1"/>
          <p:nvPr/>
        </p:nvSpPr>
        <p:spPr>
          <a:xfrm>
            <a:off x="1271271" y="3773181"/>
            <a:ext cx="4947520" cy="1515800"/>
          </a:xfrm>
          <a:prstGeom prst="rect">
            <a:avLst/>
          </a:prstGeom>
          <a:noFill/>
        </p:spPr>
        <p:txBody>
          <a:bodyPr wrap="square" rtlCol="0">
            <a:spAutoFit/>
          </a:bodyPr>
          <a:lstStyle/>
          <a:p>
            <a:r>
              <a:rPr lang="en-GB" sz="1600" b="1" dirty="0">
                <a:latin typeface="Arial" panose="020B0604020202020204" pitchFamily="34" charset="0"/>
                <a:cs typeface="Arial" panose="020B0604020202020204" pitchFamily="34" charset="0"/>
              </a:rPr>
              <a:t>Process the reads prior to the alignment step:</a:t>
            </a:r>
          </a:p>
          <a:p>
            <a:pPr marL="285750" indent="-285750">
              <a:spcBef>
                <a:spcPts val="300"/>
              </a:spcBef>
              <a:spcAft>
                <a:spcPts val="1200"/>
              </a:spcAft>
              <a:buFont typeface="Arial" panose="020B0604020202020204" pitchFamily="34" charset="0"/>
              <a:buChar char="•"/>
            </a:pPr>
            <a:r>
              <a:rPr lang="en-GB" sz="1600" dirty="0">
                <a:latin typeface="Arial" panose="020B0604020202020204" pitchFamily="34" charset="0"/>
                <a:cs typeface="Arial" panose="020B0604020202020204" pitchFamily="34" charset="0"/>
              </a:rPr>
              <a:t>Trim read bases that might be of low quality (usually on the tail end of the reads).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Remove any adapter sequences (have been artificially inserted during library preparation).</a:t>
            </a:r>
          </a:p>
        </p:txBody>
      </p:sp>
      <p:cxnSp>
        <p:nvCxnSpPr>
          <p:cNvPr id="27" name="Straight Arrow Connector 26">
            <a:extLst>
              <a:ext uri="{FF2B5EF4-FFF2-40B4-BE49-F238E27FC236}">
                <a16:creationId xmlns:a16="http://schemas.microsoft.com/office/drawing/2014/main" id="{261AFF00-2E7C-4A8E-842E-3139BAEE8106}"/>
              </a:ext>
            </a:extLst>
          </p:cNvPr>
          <p:cNvCxnSpPr>
            <a:cxnSpLocks/>
            <a:stCxn id="9" idx="2"/>
          </p:cNvCxnSpPr>
          <p:nvPr/>
        </p:nvCxnSpPr>
        <p:spPr>
          <a:xfrm flipH="1">
            <a:off x="5769621" y="3602213"/>
            <a:ext cx="666988" cy="170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ontent Placeholder 1">
            <a:extLst>
              <a:ext uri="{FF2B5EF4-FFF2-40B4-BE49-F238E27FC236}">
                <a16:creationId xmlns:a16="http://schemas.microsoft.com/office/drawing/2014/main" id="{B5E73313-919F-44B3-BC37-F3E9FDCB269B}"/>
              </a:ext>
            </a:extLst>
          </p:cNvPr>
          <p:cNvSpPr txBox="1">
            <a:spLocks/>
          </p:cNvSpPr>
          <p:nvPr/>
        </p:nvSpPr>
        <p:spPr>
          <a:xfrm>
            <a:off x="190830" y="5877485"/>
            <a:ext cx="11774523" cy="14301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GB" sz="2400" dirty="0">
                <a:latin typeface="Arial" panose="020B0604020202020204" pitchFamily="34" charset="0"/>
                <a:cs typeface="Arial" panose="020B0604020202020204" pitchFamily="34" charset="0"/>
              </a:rPr>
              <a:t>Open sample1_results.html in web browser</a:t>
            </a:r>
            <a:endParaRPr lang="en-GB" sz="2400" dirty="0">
              <a:solidFill>
                <a:srgbClr val="0066FF"/>
              </a:solidFill>
              <a:latin typeface="Arial" panose="020B0604020202020204" pitchFamily="34" charset="0"/>
              <a:cs typeface="Arial" panose="020B0604020202020204" pitchFamily="34" charset="0"/>
            </a:endParaRPr>
          </a:p>
        </p:txBody>
      </p:sp>
      <p:cxnSp>
        <p:nvCxnSpPr>
          <p:cNvPr id="16" name="Straight Arrow Connector 15">
            <a:extLst>
              <a:ext uri="{FF2B5EF4-FFF2-40B4-BE49-F238E27FC236}">
                <a16:creationId xmlns:a16="http://schemas.microsoft.com/office/drawing/2014/main" id="{B9CB6278-686C-4155-A388-E19715B1E4BF}"/>
              </a:ext>
            </a:extLst>
          </p:cNvPr>
          <p:cNvCxnSpPr>
            <a:cxnSpLocks/>
          </p:cNvCxnSpPr>
          <p:nvPr/>
        </p:nvCxnSpPr>
        <p:spPr>
          <a:xfrm>
            <a:off x="6666983" y="3640593"/>
            <a:ext cx="449172" cy="170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19DB5382-0F7C-4B8B-AE4D-6AE57B6D9E8D}"/>
              </a:ext>
            </a:extLst>
          </p:cNvPr>
          <p:cNvPicPr>
            <a:picLocks noChangeAspect="1"/>
          </p:cNvPicPr>
          <p:nvPr/>
        </p:nvPicPr>
        <p:blipFill rotWithShape="1">
          <a:blip r:embed="rId2">
            <a:extLst>
              <a:ext uri="{28A0092B-C50C-407E-A947-70E740481C1C}">
                <a14:useLocalDpi xmlns:a14="http://schemas.microsoft.com/office/drawing/2010/main" val="0"/>
              </a:ext>
            </a:extLst>
          </a:blip>
          <a:srcRect b="66379"/>
          <a:stretch/>
        </p:blipFill>
        <p:spPr>
          <a:xfrm>
            <a:off x="6096000" y="4690501"/>
            <a:ext cx="5605235" cy="421363"/>
          </a:xfrm>
          <a:prstGeom prst="rect">
            <a:avLst/>
          </a:prstGeom>
        </p:spPr>
      </p:pic>
    </p:spTree>
    <p:extLst>
      <p:ext uri="{BB962C8B-B14F-4D97-AF65-F5344CB8AC3E}">
        <p14:creationId xmlns:p14="http://schemas.microsoft.com/office/powerpoint/2010/main" val="1109185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a:xfrm>
            <a:off x="842142" y="-12319"/>
            <a:ext cx="10515600" cy="1325563"/>
          </a:xfrm>
        </p:spPr>
        <p:txBody>
          <a:bodyPr/>
          <a:lstStyle/>
          <a:p>
            <a:pPr algn="ctr"/>
            <a:r>
              <a:rPr lang="en-GB" dirty="0">
                <a:latin typeface="Arial" panose="020B0604020202020204" pitchFamily="34" charset="0"/>
                <a:cs typeface="Arial" panose="020B0604020202020204" pitchFamily="34" charset="0"/>
              </a:rPr>
              <a:t>Part 2 – </a:t>
            </a:r>
            <a:r>
              <a:rPr lang="en-GB" dirty="0" err="1">
                <a:latin typeface="Arial" panose="020B0604020202020204" pitchFamily="34" charset="0"/>
                <a:cs typeface="Arial" panose="020B0604020202020204" pitchFamily="34" charset="0"/>
              </a:rPr>
              <a:t>Fastq</a:t>
            </a:r>
            <a:r>
              <a:rPr lang="en-GB" dirty="0">
                <a:latin typeface="Arial" panose="020B0604020202020204" pitchFamily="34" charset="0"/>
                <a:cs typeface="Arial" panose="020B0604020202020204" pitchFamily="34" charset="0"/>
              </a:rPr>
              <a:t> files QC</a:t>
            </a:r>
          </a:p>
        </p:txBody>
      </p:sp>
      <p:sp>
        <p:nvSpPr>
          <p:cNvPr id="2" name="Content Placeholder 1">
            <a:extLst>
              <a:ext uri="{FF2B5EF4-FFF2-40B4-BE49-F238E27FC236}">
                <a16:creationId xmlns:a16="http://schemas.microsoft.com/office/drawing/2014/main" id="{867A0D73-A6BB-46B5-B7DF-AF37C4B76D49}"/>
              </a:ext>
            </a:extLst>
          </p:cNvPr>
          <p:cNvSpPr>
            <a:spLocks noGrp="1"/>
          </p:cNvSpPr>
          <p:nvPr>
            <p:ph idx="1"/>
          </p:nvPr>
        </p:nvSpPr>
        <p:spPr>
          <a:xfrm>
            <a:off x="190831" y="1825625"/>
            <a:ext cx="11774523" cy="1430163"/>
          </a:xfrm>
        </p:spPr>
        <p:txBody>
          <a:bodyPr>
            <a:normAutofit/>
          </a:bodyPr>
          <a:lstStyle/>
          <a:p>
            <a:pPr>
              <a:buFont typeface="Wingdings" panose="05000000000000000000" pitchFamily="2" charset="2"/>
              <a:buChar char="Ø"/>
            </a:pPr>
            <a:r>
              <a:rPr lang="en-GB" sz="2400" dirty="0">
                <a:latin typeface="Arial" panose="020B0604020202020204" pitchFamily="34" charset="0"/>
                <a:cs typeface="Arial" panose="020B0604020202020204" pitchFamily="34" charset="0"/>
              </a:rPr>
              <a:t>At the Linux terminal type:</a:t>
            </a:r>
          </a:p>
          <a:p>
            <a:pPr marL="0" indent="0">
              <a:spcBef>
                <a:spcPts val="1800"/>
              </a:spcBef>
              <a:buNone/>
            </a:pPr>
            <a:r>
              <a:rPr lang="en-GB" sz="2400" dirty="0">
                <a:solidFill>
                  <a:srgbClr val="0066FF"/>
                </a:solidFill>
                <a:latin typeface="Garamond" panose="02020404030301010803" pitchFamily="18" charset="0"/>
              </a:rPr>
              <a:t>	</a:t>
            </a: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a:t>
            </a:r>
            <a:r>
              <a:rPr lang="en-GB" sz="1800" dirty="0" err="1">
                <a:solidFill>
                  <a:srgbClr val="0070C0"/>
                </a:solidFill>
                <a:latin typeface="Consolas" panose="020B0609020204030204" pitchFamily="49" charset="0"/>
              </a:rPr>
              <a:t>fastqc</a:t>
            </a:r>
            <a:r>
              <a:rPr lang="en-GB" sz="1800" dirty="0">
                <a:solidFill>
                  <a:srgbClr val="0070C0"/>
                </a:solidFill>
                <a:latin typeface="Consolas" panose="020B0609020204030204" pitchFamily="49" charset="0"/>
              </a:rPr>
              <a:t> </a:t>
            </a:r>
            <a:r>
              <a:rPr lang="en-GB" sz="1800" dirty="0">
                <a:latin typeface="Consolas" panose="020B0609020204030204" pitchFamily="49" charset="0"/>
              </a:rPr>
              <a:t>sample1_r1.fastq sample1_r2.fastq sample1_out.R1.fq.gz \ 	sample1_out.R2.fq.gz</a:t>
            </a:r>
            <a:endParaRPr lang="en-GB" sz="2400" dirty="0">
              <a:latin typeface="Garamond" panose="02020404030301010803" pitchFamily="18" charset="0"/>
            </a:endParaRPr>
          </a:p>
        </p:txBody>
      </p:sp>
      <p:sp>
        <p:nvSpPr>
          <p:cNvPr id="25" name="Rectangle 24">
            <a:extLst>
              <a:ext uri="{FF2B5EF4-FFF2-40B4-BE49-F238E27FC236}">
                <a16:creationId xmlns:a16="http://schemas.microsoft.com/office/drawing/2014/main" id="{F79DEDC2-BECC-4B7F-9088-99316CE69E51}"/>
              </a:ext>
            </a:extLst>
          </p:cNvPr>
          <p:cNvSpPr/>
          <p:nvPr/>
        </p:nvSpPr>
        <p:spPr>
          <a:xfrm>
            <a:off x="701895" y="1092190"/>
            <a:ext cx="8771953" cy="400110"/>
          </a:xfrm>
          <a:prstGeom prst="rect">
            <a:avLst/>
          </a:prstGeom>
        </p:spPr>
        <p:txBody>
          <a:bodyPr wrap="none">
            <a:spAutoFit/>
          </a:bodyPr>
          <a:lstStyle/>
          <a:p>
            <a:r>
              <a:rPr lang="en-GB" sz="2000" dirty="0">
                <a:latin typeface="Arial" panose="020B0604020202020204" pitchFamily="34" charset="0"/>
                <a:cs typeface="Arial" panose="020B0604020202020204" pitchFamily="34" charset="0"/>
              </a:rPr>
              <a:t>An alternative way of visualising the reads quality before and after trimming.</a:t>
            </a:r>
          </a:p>
        </p:txBody>
      </p:sp>
      <p:sp>
        <p:nvSpPr>
          <p:cNvPr id="3" name="TextBox 2">
            <a:extLst>
              <a:ext uri="{FF2B5EF4-FFF2-40B4-BE49-F238E27FC236}">
                <a16:creationId xmlns:a16="http://schemas.microsoft.com/office/drawing/2014/main" id="{D69BD2C7-7E90-4773-8B87-964BE60C1FEC}"/>
              </a:ext>
            </a:extLst>
          </p:cNvPr>
          <p:cNvSpPr txBox="1"/>
          <p:nvPr/>
        </p:nvSpPr>
        <p:spPr>
          <a:xfrm>
            <a:off x="5486399" y="4008014"/>
            <a:ext cx="6574972" cy="553998"/>
          </a:xfrm>
          <a:prstGeom prst="rect">
            <a:avLst/>
          </a:prstGeom>
          <a:noFill/>
        </p:spPr>
        <p:txBody>
          <a:bodyPr wrap="square" rtlCol="0">
            <a:spAutoFit/>
          </a:bodyPr>
          <a:lstStyle/>
          <a:p>
            <a:r>
              <a:rPr lang="en-GB" dirty="0"/>
              <a:t>Read more about how to interpret the FASTQC reports: </a:t>
            </a:r>
            <a:r>
              <a:rPr lang="en-GB" sz="1200" dirty="0">
                <a:hlinkClick r:id="rId2"/>
              </a:rPr>
              <a:t>http://www.bioinformatics.babraham.ac.uk/projects/fastqc/Help/3%20Analysis%20Modules/</a:t>
            </a:r>
            <a:endParaRPr lang="en-GB" dirty="0"/>
          </a:p>
        </p:txBody>
      </p:sp>
      <p:pic>
        <p:nvPicPr>
          <p:cNvPr id="1026" name="Picture 2" descr="http://www.bioinformatics.babraham.ac.uk/projects/fastqc/fastqc.png">
            <a:extLst>
              <a:ext uri="{FF2B5EF4-FFF2-40B4-BE49-F238E27FC236}">
                <a16:creationId xmlns:a16="http://schemas.microsoft.com/office/drawing/2014/main" id="{CD824972-55B5-4518-B730-691D6D667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003" y="3255788"/>
            <a:ext cx="4075339" cy="2797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106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dirty="0">
                <a:latin typeface="Arial" panose="020B0604020202020204" pitchFamily="34" charset="0"/>
                <a:cs typeface="Arial" panose="020B0604020202020204" pitchFamily="34" charset="0"/>
              </a:rPr>
              <a:t>Part 3 - Alignment</a:t>
            </a:r>
          </a:p>
        </p:txBody>
      </p:sp>
      <p:sp>
        <p:nvSpPr>
          <p:cNvPr id="6" name="Content Placeholder 1">
            <a:extLst>
              <a:ext uri="{FF2B5EF4-FFF2-40B4-BE49-F238E27FC236}">
                <a16:creationId xmlns:a16="http://schemas.microsoft.com/office/drawing/2014/main" id="{4C7A92B5-91B4-41A5-8BED-E1C053D3BE88}"/>
              </a:ext>
            </a:extLst>
          </p:cNvPr>
          <p:cNvSpPr>
            <a:spLocks noGrp="1"/>
          </p:cNvSpPr>
          <p:nvPr>
            <p:ph idx="1"/>
          </p:nvPr>
        </p:nvSpPr>
        <p:spPr>
          <a:xfrm>
            <a:off x="712425" y="1770055"/>
            <a:ext cx="10838713" cy="4351338"/>
          </a:xfrm>
        </p:spPr>
        <p:txBody>
          <a:bodyPr>
            <a:normAutofit/>
          </a:bodyPr>
          <a:lstStyle/>
          <a:p>
            <a:pPr marL="0" indent="0">
              <a:buNone/>
            </a:pPr>
            <a:r>
              <a:rPr lang="en-GB" sz="2000" dirty="0">
                <a:latin typeface="Arial" panose="020B0604020202020204" pitchFamily="34" charset="0"/>
                <a:cs typeface="Arial" panose="020B0604020202020204" pitchFamily="34" charset="0"/>
              </a:rPr>
              <a:t>Alignment of the mitochondrial </a:t>
            </a:r>
            <a:r>
              <a:rPr lang="en-GB" sz="2000" dirty="0" err="1">
                <a:latin typeface="Arial" panose="020B0604020202020204" pitchFamily="34" charset="0"/>
                <a:cs typeface="Arial" panose="020B0604020202020204" pitchFamily="34" charset="0"/>
              </a:rPr>
              <a:t>fastq</a:t>
            </a:r>
            <a:r>
              <a:rPr lang="en-GB" sz="2000" dirty="0">
                <a:latin typeface="Arial" panose="020B0604020202020204" pitchFamily="34" charset="0"/>
                <a:cs typeface="Arial" panose="020B0604020202020204" pitchFamily="34" charset="0"/>
              </a:rPr>
              <a:t> sequence data to the chrM using BWA</a:t>
            </a:r>
          </a:p>
          <a:p>
            <a:pPr marL="0" indent="0">
              <a:buNone/>
            </a:pPr>
            <a:endParaRPr lang="en-GB" dirty="0">
              <a:latin typeface="Garamond" panose="02020404030301010803" pitchFamily="18" charset="0"/>
            </a:endParaRPr>
          </a:p>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At the Linux terminal type:</a:t>
            </a:r>
          </a:p>
          <a:p>
            <a:pPr marL="0" indent="0">
              <a:buNone/>
            </a:pP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/bwa </a:t>
            </a:r>
            <a:r>
              <a:rPr lang="en-GB" sz="1800" dirty="0">
                <a:latin typeface="Consolas" panose="020B0609020204030204" pitchFamily="49" charset="0"/>
              </a:rPr>
              <a:t>mem reference/</a:t>
            </a:r>
            <a:r>
              <a:rPr lang="en-GB" sz="1800" dirty="0" err="1">
                <a:latin typeface="Consolas" panose="020B0609020204030204" pitchFamily="49" charset="0"/>
              </a:rPr>
              <a:t>chrM.fa</a:t>
            </a:r>
            <a:r>
              <a:rPr lang="en-GB" sz="1800" dirty="0">
                <a:latin typeface="Consolas" panose="020B0609020204030204" pitchFamily="49" charset="0"/>
              </a:rPr>
              <a:t> sample1_out.R1.fq.gz sample1_out.R2.fq.gz -R '@RG\tID:sample1\tSM:sample1\tLB:sample1\</a:t>
            </a:r>
            <a:r>
              <a:rPr lang="en-GB" sz="1800" dirty="0" err="1">
                <a:latin typeface="Consolas" panose="020B0609020204030204" pitchFamily="49" charset="0"/>
              </a:rPr>
              <a:t>tPL:ILLUMINA</a:t>
            </a:r>
            <a:r>
              <a:rPr lang="en-GB" sz="1800" dirty="0">
                <a:latin typeface="Consolas" panose="020B0609020204030204" pitchFamily="49" charset="0"/>
              </a:rPr>
              <a:t>' -o sample1.sam</a:t>
            </a:r>
          </a:p>
          <a:p>
            <a:pPr marL="0" indent="0">
              <a:buNone/>
            </a:pPr>
            <a:r>
              <a:rPr lang="en-GB" sz="1800" dirty="0">
                <a:solidFill>
                  <a:srgbClr val="0066FF"/>
                </a:solidFill>
                <a:latin typeface="Consolas" panose="020B0609020204030204" pitchFamily="49" charset="0"/>
              </a:rPr>
              <a:t>	</a:t>
            </a:r>
            <a:endParaRPr lang="en-GB" sz="1800" dirty="0">
              <a:latin typeface="Consolas" panose="020B0609020204030204" pitchFamily="49" charset="0"/>
            </a:endParaRPr>
          </a:p>
        </p:txBody>
      </p:sp>
      <p:sp>
        <p:nvSpPr>
          <p:cNvPr id="7" name="TextBox 6">
            <a:extLst>
              <a:ext uri="{FF2B5EF4-FFF2-40B4-BE49-F238E27FC236}">
                <a16:creationId xmlns:a16="http://schemas.microsoft.com/office/drawing/2014/main" id="{CCECBC99-BEEA-445F-B647-3641C69E734F}"/>
              </a:ext>
            </a:extLst>
          </p:cNvPr>
          <p:cNvSpPr txBox="1"/>
          <p:nvPr/>
        </p:nvSpPr>
        <p:spPr>
          <a:xfrm>
            <a:off x="4677341" y="4561242"/>
            <a:ext cx="7025623" cy="2031325"/>
          </a:xfrm>
          <a:prstGeom prst="rect">
            <a:avLst/>
          </a:prstGeom>
          <a:noFill/>
        </p:spPr>
        <p:txBody>
          <a:bodyPr wrap="square" rtlCol="0">
            <a:spAutoFit/>
          </a:bodyPr>
          <a:lstStyle/>
          <a:p>
            <a:r>
              <a:rPr lang="en-GB" dirty="0">
                <a:solidFill>
                  <a:schemeClr val="bg2">
                    <a:lumMod val="50000"/>
                  </a:schemeClr>
                </a:solidFill>
                <a:latin typeface="Arial" panose="020B0604020202020204" pitchFamily="34" charset="0"/>
                <a:cs typeface="Arial" panose="020B0604020202020204" pitchFamily="34" charset="0"/>
              </a:rPr>
              <a:t>….. we are using the bwa alignment algorithm ‘mem’ to align our sample </a:t>
            </a:r>
            <a:r>
              <a:rPr lang="en-GB" dirty="0" err="1">
                <a:solidFill>
                  <a:schemeClr val="bg2">
                    <a:lumMod val="50000"/>
                  </a:schemeClr>
                </a:solidFill>
                <a:latin typeface="Arial" panose="020B0604020202020204" pitchFamily="34" charset="0"/>
                <a:cs typeface="Arial" panose="020B0604020202020204" pitchFamily="34" charset="0"/>
              </a:rPr>
              <a:t>fastq</a:t>
            </a:r>
            <a:r>
              <a:rPr lang="en-GB" dirty="0">
                <a:solidFill>
                  <a:schemeClr val="bg2">
                    <a:lumMod val="50000"/>
                  </a:schemeClr>
                </a:solidFill>
                <a:latin typeface="Arial" panose="020B0604020202020204" pitchFamily="34" charset="0"/>
                <a:cs typeface="Arial" panose="020B0604020202020204" pitchFamily="34" charset="0"/>
              </a:rPr>
              <a:t> data against the reference chrM fasta file</a:t>
            </a:r>
          </a:p>
          <a:p>
            <a:endParaRPr lang="en-GB" dirty="0">
              <a:solidFill>
                <a:schemeClr val="bg2">
                  <a:lumMod val="50000"/>
                </a:schemeClr>
              </a:solidFill>
              <a:latin typeface="Arial" panose="020B0604020202020204" pitchFamily="34" charset="0"/>
              <a:cs typeface="Arial" panose="020B0604020202020204" pitchFamily="34" charset="0"/>
            </a:endParaRPr>
          </a:p>
          <a:p>
            <a:r>
              <a:rPr lang="en-GB" dirty="0">
                <a:solidFill>
                  <a:schemeClr val="bg2">
                    <a:lumMod val="50000"/>
                  </a:schemeClr>
                </a:solidFill>
                <a:latin typeface="Arial" panose="020B0604020202020204" pitchFamily="34" charset="0"/>
                <a:cs typeface="Arial" panose="020B0604020202020204" pitchFamily="34" charset="0"/>
              </a:rPr>
              <a:t>-o generating an output .</a:t>
            </a:r>
            <a:r>
              <a:rPr lang="en-GB" dirty="0" err="1">
                <a:solidFill>
                  <a:schemeClr val="bg2">
                    <a:lumMod val="50000"/>
                  </a:schemeClr>
                </a:solidFill>
                <a:latin typeface="Arial" panose="020B0604020202020204" pitchFamily="34" charset="0"/>
                <a:cs typeface="Arial" panose="020B0604020202020204" pitchFamily="34" charset="0"/>
              </a:rPr>
              <a:t>sam</a:t>
            </a:r>
            <a:r>
              <a:rPr lang="en-GB" dirty="0">
                <a:solidFill>
                  <a:schemeClr val="bg2">
                    <a:lumMod val="50000"/>
                  </a:schemeClr>
                </a:solidFill>
                <a:latin typeface="Arial" panose="020B0604020202020204" pitchFamily="34" charset="0"/>
                <a:cs typeface="Arial" panose="020B0604020202020204" pitchFamily="34" charset="0"/>
              </a:rPr>
              <a:t> (sequence alignment format) file</a:t>
            </a:r>
          </a:p>
          <a:p>
            <a:endParaRPr lang="en-GB" dirty="0">
              <a:solidFill>
                <a:schemeClr val="bg2">
                  <a:lumMod val="50000"/>
                </a:schemeClr>
              </a:solidFill>
              <a:latin typeface="Arial" panose="020B0604020202020204" pitchFamily="34" charset="0"/>
              <a:cs typeface="Arial" panose="020B0604020202020204" pitchFamily="34" charset="0"/>
            </a:endParaRPr>
          </a:p>
          <a:p>
            <a:r>
              <a:rPr lang="en-GB" dirty="0">
                <a:solidFill>
                  <a:schemeClr val="bg2">
                    <a:lumMod val="50000"/>
                  </a:schemeClr>
                </a:solidFill>
                <a:latin typeface="Arial" panose="020B0604020202020204" pitchFamily="34" charset="0"/>
                <a:cs typeface="Arial" panose="020B0604020202020204" pitchFamily="34" charset="0"/>
              </a:rPr>
              <a:t>-R embedding the sample/sequence information in file</a:t>
            </a:r>
          </a:p>
          <a:p>
            <a:r>
              <a:rPr lang="en-GB" dirty="0">
                <a:solidFill>
                  <a:schemeClr val="bg2">
                    <a:lumMod val="50000"/>
                  </a:schemeClr>
                </a:solidFill>
                <a:latin typeface="Garamond" panose="02020404030301010803" pitchFamily="18" charset="0"/>
              </a:rPr>
              <a:t>  </a:t>
            </a:r>
          </a:p>
        </p:txBody>
      </p:sp>
    </p:spTree>
    <p:extLst>
      <p:ext uri="{BB962C8B-B14F-4D97-AF65-F5344CB8AC3E}">
        <p14:creationId xmlns:p14="http://schemas.microsoft.com/office/powerpoint/2010/main" val="4218576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dirty="0">
                <a:latin typeface="Arial" panose="020B0604020202020204" pitchFamily="34" charset="0"/>
                <a:cs typeface="Arial" panose="020B0604020202020204" pitchFamily="34" charset="0"/>
              </a:rPr>
              <a:t>Part 3 - Alignment</a:t>
            </a:r>
          </a:p>
        </p:txBody>
      </p:sp>
      <p:sp>
        <p:nvSpPr>
          <p:cNvPr id="6" name="Content Placeholder 1">
            <a:extLst>
              <a:ext uri="{FF2B5EF4-FFF2-40B4-BE49-F238E27FC236}">
                <a16:creationId xmlns:a16="http://schemas.microsoft.com/office/drawing/2014/main" id="{4C7A92B5-91B4-41A5-8BED-E1C053D3BE88}"/>
              </a:ext>
            </a:extLst>
          </p:cNvPr>
          <p:cNvSpPr>
            <a:spLocks noGrp="1"/>
          </p:cNvSpPr>
          <p:nvPr>
            <p:ph idx="1"/>
          </p:nvPr>
        </p:nvSpPr>
        <p:spPr>
          <a:xfrm>
            <a:off x="712425" y="1770055"/>
            <a:ext cx="10838713" cy="4351338"/>
          </a:xfrm>
        </p:spPr>
        <p:txBody>
          <a:bodyPr>
            <a:normAutofit/>
          </a:bodyPr>
          <a:lstStyle/>
          <a:p>
            <a:pPr marL="0" indent="0">
              <a:buNone/>
            </a:pPr>
            <a:r>
              <a:rPr lang="en-GB" sz="2000" dirty="0">
                <a:latin typeface="Arial" panose="020B0604020202020204" pitchFamily="34" charset="0"/>
                <a:cs typeface="Arial" panose="020B0604020202020204" pitchFamily="34" charset="0"/>
              </a:rPr>
              <a:t>Converting the </a:t>
            </a:r>
            <a:r>
              <a:rPr lang="en-GB" sz="2000" dirty="0" err="1">
                <a:latin typeface="Arial" panose="020B0604020202020204" pitchFamily="34" charset="0"/>
                <a:cs typeface="Arial" panose="020B0604020202020204" pitchFamily="34" charset="0"/>
              </a:rPr>
              <a:t>sam</a:t>
            </a:r>
            <a:r>
              <a:rPr lang="en-GB" sz="2000" dirty="0">
                <a:latin typeface="Arial" panose="020B0604020202020204" pitchFamily="34" charset="0"/>
                <a:cs typeface="Arial" panose="020B0604020202020204" pitchFamily="34" charset="0"/>
              </a:rPr>
              <a:t> output to a common binary alignment format (.bam) </a:t>
            </a:r>
          </a:p>
          <a:p>
            <a:pPr marL="0" indent="0">
              <a:buNone/>
            </a:pPr>
            <a:endParaRPr lang="en-GB" dirty="0">
              <a:latin typeface="Garamond" panose="02020404030301010803" pitchFamily="18" charset="0"/>
            </a:endParaRPr>
          </a:p>
          <a:p>
            <a:pPr>
              <a:buFont typeface="Wingdings" panose="05000000000000000000" pitchFamily="2" charset="2"/>
              <a:buChar char="Ø"/>
            </a:pPr>
            <a:r>
              <a:rPr lang="en-GB" dirty="0">
                <a:latin typeface="Arial" panose="020B0604020202020204" pitchFamily="34" charset="0"/>
                <a:cs typeface="Arial" panose="020B0604020202020204" pitchFamily="34" charset="0"/>
              </a:rPr>
              <a:t>At the Linux terminal type:</a:t>
            </a:r>
          </a:p>
          <a:p>
            <a:pPr marL="0" indent="0">
              <a:buNone/>
            </a:pP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a:t>
            </a:r>
            <a:r>
              <a:rPr lang="en-GB" sz="1800" dirty="0" err="1">
                <a:solidFill>
                  <a:srgbClr val="0070C0"/>
                </a:solidFill>
                <a:latin typeface="Consolas" panose="020B0609020204030204" pitchFamily="49" charset="0"/>
              </a:rPr>
              <a:t>samtools</a:t>
            </a:r>
            <a:r>
              <a:rPr lang="en-GB" sz="1800" dirty="0">
                <a:solidFill>
                  <a:srgbClr val="0070C0"/>
                </a:solidFill>
                <a:latin typeface="Consolas" panose="020B0609020204030204" pitchFamily="49" charset="0"/>
              </a:rPr>
              <a:t> </a:t>
            </a:r>
            <a:r>
              <a:rPr lang="en-GB" sz="1800" dirty="0">
                <a:latin typeface="Consolas" panose="020B0609020204030204" pitchFamily="49" charset="0"/>
              </a:rPr>
              <a:t>view -Sb sample1.sam -o sample1.bam</a:t>
            </a:r>
            <a:r>
              <a:rPr lang="en-GB" sz="1800" dirty="0">
                <a:solidFill>
                  <a:srgbClr val="0066FF"/>
                </a:solidFill>
                <a:latin typeface="Consolas" panose="020B0609020204030204" pitchFamily="49" charset="0"/>
              </a:rPr>
              <a:t>	</a:t>
            </a:r>
            <a:endParaRPr lang="en-GB" sz="1800" dirty="0">
              <a:latin typeface="Consolas" panose="020B0609020204030204" pitchFamily="49" charset="0"/>
            </a:endParaRPr>
          </a:p>
        </p:txBody>
      </p:sp>
      <p:sp>
        <p:nvSpPr>
          <p:cNvPr id="7" name="TextBox 6">
            <a:extLst>
              <a:ext uri="{FF2B5EF4-FFF2-40B4-BE49-F238E27FC236}">
                <a16:creationId xmlns:a16="http://schemas.microsoft.com/office/drawing/2014/main" id="{AAE428A4-C7A2-4182-8B32-50F4E0D1F9E8}"/>
              </a:ext>
            </a:extLst>
          </p:cNvPr>
          <p:cNvSpPr txBox="1"/>
          <p:nvPr/>
        </p:nvSpPr>
        <p:spPr>
          <a:xfrm>
            <a:off x="4414875" y="4826675"/>
            <a:ext cx="7025623" cy="1200329"/>
          </a:xfrm>
          <a:prstGeom prst="rect">
            <a:avLst/>
          </a:prstGeom>
          <a:noFill/>
        </p:spPr>
        <p:txBody>
          <a:bodyPr wrap="square" rtlCol="0">
            <a:spAutoFit/>
          </a:bodyPr>
          <a:lstStyle/>
          <a:p>
            <a:r>
              <a:rPr lang="en-GB" dirty="0">
                <a:solidFill>
                  <a:schemeClr val="bg2">
                    <a:lumMod val="50000"/>
                  </a:schemeClr>
                </a:solidFill>
                <a:latin typeface="Arial" panose="020B0604020202020204" pitchFamily="34" charset="0"/>
                <a:cs typeface="Arial" panose="020B0604020202020204" pitchFamily="34" charset="0"/>
              </a:rPr>
              <a:t>….. we are using the </a:t>
            </a:r>
            <a:r>
              <a:rPr lang="en-GB" dirty="0" err="1">
                <a:solidFill>
                  <a:schemeClr val="bg2">
                    <a:lumMod val="50000"/>
                  </a:schemeClr>
                </a:solidFill>
                <a:latin typeface="Arial" panose="020B0604020202020204" pitchFamily="34" charset="0"/>
                <a:cs typeface="Arial" panose="020B0604020202020204" pitchFamily="34" charset="0"/>
              </a:rPr>
              <a:t>samtools</a:t>
            </a:r>
            <a:r>
              <a:rPr lang="en-GB" dirty="0">
                <a:solidFill>
                  <a:schemeClr val="bg2">
                    <a:lumMod val="50000"/>
                  </a:schemeClr>
                </a:solidFill>
                <a:latin typeface="Arial" panose="020B0604020202020204" pitchFamily="34" charset="0"/>
                <a:cs typeface="Arial" panose="020B0604020202020204" pitchFamily="34" charset="0"/>
              </a:rPr>
              <a:t> software ‘view’ command to print our .</a:t>
            </a:r>
            <a:r>
              <a:rPr lang="en-GB" dirty="0" err="1">
                <a:solidFill>
                  <a:schemeClr val="bg2">
                    <a:lumMod val="50000"/>
                  </a:schemeClr>
                </a:solidFill>
                <a:latin typeface="Arial" panose="020B0604020202020204" pitchFamily="34" charset="0"/>
                <a:cs typeface="Arial" panose="020B0604020202020204" pitchFamily="34" charset="0"/>
              </a:rPr>
              <a:t>sam</a:t>
            </a:r>
            <a:r>
              <a:rPr lang="en-GB" dirty="0">
                <a:solidFill>
                  <a:schemeClr val="bg2">
                    <a:lumMod val="50000"/>
                  </a:schemeClr>
                </a:solidFill>
                <a:latin typeface="Arial" panose="020B0604020202020204" pitchFamily="34" charset="0"/>
                <a:cs typeface="Arial" panose="020B0604020202020204" pitchFamily="34" charset="0"/>
              </a:rPr>
              <a:t> file into a different file format, in this case a .bam file (basically same as a .</a:t>
            </a:r>
            <a:r>
              <a:rPr lang="en-GB" dirty="0" err="1">
                <a:solidFill>
                  <a:schemeClr val="bg2">
                    <a:lumMod val="50000"/>
                  </a:schemeClr>
                </a:solidFill>
                <a:latin typeface="Arial" panose="020B0604020202020204" pitchFamily="34" charset="0"/>
                <a:cs typeface="Arial" panose="020B0604020202020204" pitchFamily="34" charset="0"/>
              </a:rPr>
              <a:t>sam</a:t>
            </a:r>
            <a:r>
              <a:rPr lang="en-GB" dirty="0">
                <a:solidFill>
                  <a:schemeClr val="bg2">
                    <a:lumMod val="50000"/>
                  </a:schemeClr>
                </a:solidFill>
                <a:latin typeface="Arial" panose="020B0604020202020204" pitchFamily="34" charset="0"/>
                <a:cs typeface="Arial" panose="020B0604020202020204" pitchFamily="34" charset="0"/>
              </a:rPr>
              <a:t> file but takes up much less disk space and retains all of the information)</a:t>
            </a:r>
          </a:p>
        </p:txBody>
      </p:sp>
    </p:spTree>
    <p:extLst>
      <p:ext uri="{BB962C8B-B14F-4D97-AF65-F5344CB8AC3E}">
        <p14:creationId xmlns:p14="http://schemas.microsoft.com/office/powerpoint/2010/main" val="1792858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dirty="0">
                <a:latin typeface="Arial" panose="020B0604020202020204" pitchFamily="34" charset="0"/>
                <a:cs typeface="Arial" panose="020B0604020202020204" pitchFamily="34" charset="0"/>
              </a:rPr>
              <a:t>Part 3 - Alignment</a:t>
            </a:r>
          </a:p>
        </p:txBody>
      </p:sp>
      <p:sp>
        <p:nvSpPr>
          <p:cNvPr id="6" name="Content Placeholder 1">
            <a:extLst>
              <a:ext uri="{FF2B5EF4-FFF2-40B4-BE49-F238E27FC236}">
                <a16:creationId xmlns:a16="http://schemas.microsoft.com/office/drawing/2014/main" id="{4C7A92B5-91B4-41A5-8BED-E1C053D3BE88}"/>
              </a:ext>
            </a:extLst>
          </p:cNvPr>
          <p:cNvSpPr>
            <a:spLocks noGrp="1"/>
          </p:cNvSpPr>
          <p:nvPr>
            <p:ph idx="1"/>
          </p:nvPr>
        </p:nvSpPr>
        <p:spPr>
          <a:xfrm>
            <a:off x="712425" y="1770055"/>
            <a:ext cx="10838713" cy="4351338"/>
          </a:xfrm>
        </p:spPr>
        <p:txBody>
          <a:bodyPr>
            <a:normAutofit/>
          </a:bodyPr>
          <a:lstStyle/>
          <a:p>
            <a:pPr marL="0" indent="0">
              <a:buNone/>
            </a:pPr>
            <a:r>
              <a:rPr lang="en-GB" sz="2000" dirty="0">
                <a:latin typeface="Arial" panose="020B0604020202020204" pitchFamily="34" charset="0"/>
                <a:cs typeface="Arial" panose="020B0604020202020204" pitchFamily="34" charset="0"/>
              </a:rPr>
              <a:t>Sorting by genomic co-ordinate and indexing the .bam file</a:t>
            </a:r>
            <a:r>
              <a:rPr lang="en-GB" dirty="0">
                <a:latin typeface="Arial" panose="020B0604020202020204" pitchFamily="34" charset="0"/>
                <a:cs typeface="Arial" panose="020B0604020202020204" pitchFamily="34" charset="0"/>
              </a:rPr>
              <a:t> </a:t>
            </a:r>
          </a:p>
          <a:p>
            <a:pPr marL="0" indent="0">
              <a:buNone/>
            </a:pPr>
            <a:r>
              <a:rPr lang="en-GB" dirty="0">
                <a:latin typeface="Garamond" panose="02020404030301010803" pitchFamily="18" charset="0"/>
              </a:rPr>
              <a:t> </a:t>
            </a:r>
          </a:p>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At the Linux terminal type:</a:t>
            </a:r>
          </a:p>
          <a:p>
            <a:pPr marL="0" indent="0">
              <a:buNone/>
            </a:pP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a:t>
            </a:r>
            <a:r>
              <a:rPr lang="en-GB" sz="1800" dirty="0" err="1">
                <a:solidFill>
                  <a:srgbClr val="0070C0"/>
                </a:solidFill>
                <a:latin typeface="Consolas" panose="020B0609020204030204" pitchFamily="49" charset="0"/>
              </a:rPr>
              <a:t>samtools</a:t>
            </a:r>
            <a:r>
              <a:rPr lang="en-GB" sz="1800" dirty="0">
                <a:solidFill>
                  <a:srgbClr val="0070C0"/>
                </a:solidFill>
                <a:latin typeface="Consolas" panose="020B0609020204030204" pitchFamily="49" charset="0"/>
              </a:rPr>
              <a:t> </a:t>
            </a:r>
            <a:r>
              <a:rPr lang="pt-BR" sz="1800" dirty="0">
                <a:latin typeface="Consolas" panose="020B0609020204030204" pitchFamily="49" charset="0"/>
              </a:rPr>
              <a:t>sort sample1.bam -o sample1_sorted.bam</a:t>
            </a:r>
          </a:p>
          <a:p>
            <a:pPr marL="0" indent="0">
              <a:buNone/>
            </a:pPr>
            <a:endParaRPr lang="pt-BR" sz="1800" dirty="0">
              <a:solidFill>
                <a:srgbClr val="0066FF"/>
              </a:solidFill>
              <a:latin typeface="Consolas" panose="020B0609020204030204" pitchFamily="49" charset="0"/>
            </a:endParaRPr>
          </a:p>
          <a:p>
            <a:pPr marL="0" indent="0">
              <a:buNone/>
            </a:pP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a:t>
            </a:r>
            <a:r>
              <a:rPr lang="en-GB" sz="1800" dirty="0" err="1">
                <a:solidFill>
                  <a:srgbClr val="0070C0"/>
                </a:solidFill>
                <a:latin typeface="Consolas" panose="020B0609020204030204" pitchFamily="49" charset="0"/>
              </a:rPr>
              <a:t>samtools</a:t>
            </a:r>
            <a:r>
              <a:rPr lang="en-GB" sz="1800" dirty="0">
                <a:solidFill>
                  <a:srgbClr val="0070C0"/>
                </a:solidFill>
                <a:latin typeface="Consolas" panose="020B0609020204030204" pitchFamily="49" charset="0"/>
              </a:rPr>
              <a:t> </a:t>
            </a:r>
            <a:r>
              <a:rPr lang="pt-BR" sz="1800" dirty="0">
                <a:latin typeface="Consolas" panose="020B0609020204030204" pitchFamily="49" charset="0"/>
              </a:rPr>
              <a:t>index sample1_sorted.bam</a:t>
            </a:r>
            <a:r>
              <a:rPr lang="en-GB" sz="1800" dirty="0">
                <a:solidFill>
                  <a:srgbClr val="0066FF"/>
                </a:solidFill>
                <a:latin typeface="Consolas" panose="020B0609020204030204" pitchFamily="49" charset="0"/>
              </a:rPr>
              <a:t>	</a:t>
            </a:r>
            <a:endParaRPr lang="en-GB" sz="1800" dirty="0">
              <a:latin typeface="Consolas" panose="020B0609020204030204" pitchFamily="49" charset="0"/>
            </a:endParaRPr>
          </a:p>
        </p:txBody>
      </p:sp>
      <p:sp>
        <p:nvSpPr>
          <p:cNvPr id="7" name="TextBox 6">
            <a:extLst>
              <a:ext uri="{FF2B5EF4-FFF2-40B4-BE49-F238E27FC236}">
                <a16:creationId xmlns:a16="http://schemas.microsoft.com/office/drawing/2014/main" id="{7D3DA350-B6B1-45EF-A426-DBED0502D6E6}"/>
              </a:ext>
            </a:extLst>
          </p:cNvPr>
          <p:cNvSpPr txBox="1"/>
          <p:nvPr/>
        </p:nvSpPr>
        <p:spPr>
          <a:xfrm>
            <a:off x="4328177" y="4838241"/>
            <a:ext cx="7025623" cy="1938992"/>
          </a:xfrm>
          <a:prstGeom prst="rect">
            <a:avLst/>
          </a:prstGeom>
          <a:noFill/>
        </p:spPr>
        <p:txBody>
          <a:bodyPr wrap="square" rtlCol="0">
            <a:spAutoFit/>
          </a:bodyPr>
          <a:lstStyle/>
          <a:p>
            <a:r>
              <a:rPr lang="en-GB" sz="2000" dirty="0">
                <a:solidFill>
                  <a:schemeClr val="bg2">
                    <a:lumMod val="50000"/>
                  </a:schemeClr>
                </a:solidFill>
                <a:latin typeface="Arial" panose="020B0604020202020204" pitchFamily="34" charset="0"/>
                <a:cs typeface="Arial" panose="020B0604020202020204" pitchFamily="34" charset="0"/>
              </a:rPr>
              <a:t>….. we are using the </a:t>
            </a:r>
            <a:r>
              <a:rPr lang="en-GB" sz="2000" dirty="0" err="1">
                <a:solidFill>
                  <a:schemeClr val="bg2">
                    <a:lumMod val="50000"/>
                  </a:schemeClr>
                </a:solidFill>
                <a:latin typeface="Arial" panose="020B0604020202020204" pitchFamily="34" charset="0"/>
                <a:cs typeface="Arial" panose="020B0604020202020204" pitchFamily="34" charset="0"/>
              </a:rPr>
              <a:t>samtools</a:t>
            </a:r>
            <a:r>
              <a:rPr lang="en-GB" sz="2000" dirty="0">
                <a:solidFill>
                  <a:schemeClr val="bg2">
                    <a:lumMod val="50000"/>
                  </a:schemeClr>
                </a:solidFill>
                <a:latin typeface="Arial" panose="020B0604020202020204" pitchFamily="34" charset="0"/>
                <a:cs typeface="Arial" panose="020B0604020202020204" pitchFamily="34" charset="0"/>
              </a:rPr>
              <a:t> software ‘sort’ command to sort the alignment .bam file by genomic coordinate</a:t>
            </a:r>
          </a:p>
          <a:p>
            <a:endParaRPr lang="en-GB" sz="2000" dirty="0">
              <a:solidFill>
                <a:schemeClr val="bg2">
                  <a:lumMod val="50000"/>
                </a:schemeClr>
              </a:solidFill>
              <a:latin typeface="Arial" panose="020B0604020202020204" pitchFamily="34" charset="0"/>
              <a:cs typeface="Arial" panose="020B0604020202020204" pitchFamily="34" charset="0"/>
            </a:endParaRPr>
          </a:p>
          <a:p>
            <a:r>
              <a:rPr lang="en-GB" sz="2000" dirty="0">
                <a:solidFill>
                  <a:schemeClr val="bg2">
                    <a:lumMod val="50000"/>
                  </a:schemeClr>
                </a:solidFill>
                <a:latin typeface="Arial" panose="020B0604020202020204" pitchFamily="34" charset="0"/>
                <a:cs typeface="Arial" panose="020B0604020202020204" pitchFamily="34" charset="0"/>
              </a:rPr>
              <a:t>..then we are using the </a:t>
            </a:r>
            <a:r>
              <a:rPr lang="en-GB" sz="2000" dirty="0" err="1">
                <a:solidFill>
                  <a:schemeClr val="bg2">
                    <a:lumMod val="50000"/>
                  </a:schemeClr>
                </a:solidFill>
                <a:latin typeface="Arial" panose="020B0604020202020204" pitchFamily="34" charset="0"/>
                <a:cs typeface="Arial" panose="020B0604020202020204" pitchFamily="34" charset="0"/>
              </a:rPr>
              <a:t>samtools</a:t>
            </a:r>
            <a:r>
              <a:rPr lang="en-GB" sz="2000" dirty="0">
                <a:solidFill>
                  <a:schemeClr val="bg2">
                    <a:lumMod val="50000"/>
                  </a:schemeClr>
                </a:solidFill>
                <a:latin typeface="Arial" panose="020B0604020202020204" pitchFamily="34" charset="0"/>
                <a:cs typeface="Arial" panose="020B0604020202020204" pitchFamily="34" charset="0"/>
              </a:rPr>
              <a:t> ‘index’ command to create the .bai index – the .bam companion file that allows for faster read access for downstream steps</a:t>
            </a:r>
          </a:p>
        </p:txBody>
      </p:sp>
    </p:spTree>
    <p:extLst>
      <p:ext uri="{BB962C8B-B14F-4D97-AF65-F5344CB8AC3E}">
        <p14:creationId xmlns:p14="http://schemas.microsoft.com/office/powerpoint/2010/main" val="3705590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dirty="0">
                <a:latin typeface="Arial" panose="020B0604020202020204" pitchFamily="34" charset="0"/>
                <a:cs typeface="Arial" panose="020B0604020202020204" pitchFamily="34" charset="0"/>
              </a:rPr>
              <a:t>Part 3 - Alignment</a:t>
            </a:r>
          </a:p>
        </p:txBody>
      </p:sp>
      <p:sp>
        <p:nvSpPr>
          <p:cNvPr id="6" name="Content Placeholder 1">
            <a:extLst>
              <a:ext uri="{FF2B5EF4-FFF2-40B4-BE49-F238E27FC236}">
                <a16:creationId xmlns:a16="http://schemas.microsoft.com/office/drawing/2014/main" id="{4C7A92B5-91B4-41A5-8BED-E1C053D3BE88}"/>
              </a:ext>
            </a:extLst>
          </p:cNvPr>
          <p:cNvSpPr>
            <a:spLocks noGrp="1"/>
          </p:cNvSpPr>
          <p:nvPr>
            <p:ph idx="1"/>
          </p:nvPr>
        </p:nvSpPr>
        <p:spPr>
          <a:xfrm>
            <a:off x="712425" y="1770055"/>
            <a:ext cx="10838713" cy="4351338"/>
          </a:xfrm>
        </p:spPr>
        <p:txBody>
          <a:bodyPr>
            <a:normAutofit/>
          </a:bodyPr>
          <a:lstStyle/>
          <a:p>
            <a:pPr marL="0" indent="0">
              <a:buNone/>
            </a:pPr>
            <a:r>
              <a:rPr lang="en-GB" sz="2000" dirty="0">
                <a:latin typeface="Arial" panose="020B0604020202020204" pitchFamily="34" charset="0"/>
                <a:cs typeface="Arial" panose="020B0604020202020204" pitchFamily="34" charset="0"/>
              </a:rPr>
              <a:t>Deduplicate with picardtools in GATK </a:t>
            </a:r>
          </a:p>
          <a:p>
            <a:pPr marL="0" indent="0">
              <a:buNone/>
            </a:pPr>
            <a:r>
              <a:rPr lang="en-GB" dirty="0">
                <a:latin typeface="Garamond" panose="02020404030301010803" pitchFamily="18" charset="0"/>
              </a:rPr>
              <a:t> </a:t>
            </a:r>
          </a:p>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At the Linux terminal type:</a:t>
            </a:r>
          </a:p>
          <a:p>
            <a:pPr marL="0" indent="0">
              <a:buNone/>
            </a:pPr>
            <a:endParaRPr lang="en-GB" dirty="0">
              <a:latin typeface="Garamond" panose="02020404030301010803" pitchFamily="18" charset="0"/>
            </a:endParaRPr>
          </a:p>
          <a:p>
            <a:pPr marL="0" indent="0">
              <a:buNone/>
            </a:pPr>
            <a:r>
              <a:rPr lang="en-GB" sz="1800" dirty="0">
                <a:solidFill>
                  <a:srgbClr val="0070C0"/>
                </a:solidFill>
                <a:latin typeface="Consolas" panose="020B0609020204030204" pitchFamily="49" charset="0"/>
              </a:rPr>
              <a:t>java -</a:t>
            </a:r>
            <a:r>
              <a:rPr lang="en-GB" sz="1800" dirty="0">
                <a:latin typeface="Consolas" panose="020B0609020204030204" pitchFamily="49" charset="0"/>
              </a:rPr>
              <a:t>jar</a:t>
            </a:r>
            <a:r>
              <a:rPr lang="en-GB" sz="1800" dirty="0">
                <a:solidFill>
                  <a:srgbClr val="0070C0"/>
                </a:solidFill>
                <a:latin typeface="Consolas" panose="020B0609020204030204" pitchFamily="49" charset="0"/>
              </a:rPr>
              <a:t> </a:t>
            </a: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/gatk-package-4.0.4.0-local.jar </a:t>
            </a:r>
            <a:r>
              <a:rPr lang="en-GB" sz="1800" dirty="0" err="1">
                <a:latin typeface="Consolas" panose="020B0609020204030204" pitchFamily="49" charset="0"/>
              </a:rPr>
              <a:t>MarkDuplicates</a:t>
            </a:r>
            <a:r>
              <a:rPr lang="en-GB" sz="1800" dirty="0">
                <a:latin typeface="Consolas" panose="020B0609020204030204" pitchFamily="49" charset="0"/>
              </a:rPr>
              <a:t> -I sample1_sorted.bam -O sample1_sorted_unique.bam -M sample1_picard_metrics.txt</a:t>
            </a:r>
            <a:r>
              <a:rPr lang="en-GB" sz="1800" dirty="0">
                <a:solidFill>
                  <a:srgbClr val="0066FF"/>
                </a:solidFill>
                <a:latin typeface="Consolas" panose="020B0609020204030204" pitchFamily="49" charset="0"/>
              </a:rPr>
              <a:t>	</a:t>
            </a:r>
            <a:endParaRPr lang="en-GB" sz="1800" dirty="0">
              <a:latin typeface="Consolas" panose="020B0609020204030204" pitchFamily="49" charset="0"/>
            </a:endParaRPr>
          </a:p>
        </p:txBody>
      </p:sp>
      <p:sp>
        <p:nvSpPr>
          <p:cNvPr id="2" name="Rectangle 1">
            <a:extLst>
              <a:ext uri="{FF2B5EF4-FFF2-40B4-BE49-F238E27FC236}">
                <a16:creationId xmlns:a16="http://schemas.microsoft.com/office/drawing/2014/main" id="{B140F34D-CAF7-4BE2-A40B-4F8DD2834C27}"/>
              </a:ext>
            </a:extLst>
          </p:cNvPr>
          <p:cNvSpPr/>
          <p:nvPr/>
        </p:nvSpPr>
        <p:spPr>
          <a:xfrm>
            <a:off x="2561492" y="5079066"/>
            <a:ext cx="8575430" cy="1200329"/>
          </a:xfrm>
          <a:prstGeom prst="rect">
            <a:avLst/>
          </a:prstGeom>
        </p:spPr>
        <p:txBody>
          <a:bodyPr wrap="square">
            <a:spAutoFit/>
          </a:bodyPr>
          <a:lstStyle/>
          <a:p>
            <a:r>
              <a:rPr lang="en-GB" dirty="0">
                <a:solidFill>
                  <a:schemeClr val="bg2">
                    <a:lumMod val="50000"/>
                  </a:schemeClr>
                </a:solidFill>
                <a:latin typeface="Arial" panose="020B0604020202020204" pitchFamily="34" charset="0"/>
                <a:cs typeface="Arial" panose="020B0604020202020204" pitchFamily="34" charset="0"/>
              </a:rPr>
              <a:t>…the deduplication step locates and tags duplicate reads in the .bam, where duplicate reads are defined as originating from a single fragment of DNA. Duplicates can arise during sample preparation e.g. library construction using PCR.</a:t>
            </a:r>
          </a:p>
        </p:txBody>
      </p:sp>
    </p:spTree>
    <p:extLst>
      <p:ext uri="{BB962C8B-B14F-4D97-AF65-F5344CB8AC3E}">
        <p14:creationId xmlns:p14="http://schemas.microsoft.com/office/powerpoint/2010/main" val="2983942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p:txBody>
          <a:bodyPr/>
          <a:lstStyle/>
          <a:p>
            <a:pPr algn="ctr"/>
            <a:r>
              <a:rPr lang="en-GB" dirty="0">
                <a:latin typeface="Arial" panose="020B0604020202020204" pitchFamily="34" charset="0"/>
                <a:cs typeface="Arial" panose="020B0604020202020204" pitchFamily="34" charset="0"/>
              </a:rPr>
              <a:t>Part 3 - Alignment</a:t>
            </a:r>
          </a:p>
        </p:txBody>
      </p:sp>
      <p:sp>
        <p:nvSpPr>
          <p:cNvPr id="6" name="Content Placeholder 1">
            <a:extLst>
              <a:ext uri="{FF2B5EF4-FFF2-40B4-BE49-F238E27FC236}">
                <a16:creationId xmlns:a16="http://schemas.microsoft.com/office/drawing/2014/main" id="{4C7A92B5-91B4-41A5-8BED-E1C053D3BE88}"/>
              </a:ext>
            </a:extLst>
          </p:cNvPr>
          <p:cNvSpPr>
            <a:spLocks noGrp="1"/>
          </p:cNvSpPr>
          <p:nvPr>
            <p:ph idx="1"/>
          </p:nvPr>
        </p:nvSpPr>
        <p:spPr>
          <a:xfrm>
            <a:off x="712425" y="1770055"/>
            <a:ext cx="10838713" cy="4351338"/>
          </a:xfrm>
        </p:spPr>
        <p:txBody>
          <a:bodyPr>
            <a:normAutofit/>
          </a:bodyPr>
          <a:lstStyle/>
          <a:p>
            <a:pPr marL="0" indent="0">
              <a:buNone/>
            </a:pPr>
            <a:r>
              <a:rPr lang="en-GB" sz="2000" dirty="0">
                <a:latin typeface="Arial" panose="020B0604020202020204" pitchFamily="34" charset="0"/>
                <a:cs typeface="Arial" panose="020B0604020202020204" pitchFamily="34" charset="0"/>
              </a:rPr>
              <a:t>Base quality score recalibration with GATK </a:t>
            </a:r>
          </a:p>
          <a:p>
            <a:pPr marL="0" indent="0">
              <a:buNone/>
            </a:pPr>
            <a:r>
              <a:rPr lang="en-GB" sz="2000" dirty="0">
                <a:latin typeface="Arial" panose="020B0604020202020204" pitchFamily="34" charset="0"/>
                <a:cs typeface="Arial" panose="020B0604020202020204" pitchFamily="34" charset="0"/>
              </a:rPr>
              <a:t> </a:t>
            </a:r>
          </a:p>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At the Linux terminal type one after the other</a:t>
            </a:r>
          </a:p>
          <a:p>
            <a:pPr marL="0" indent="0">
              <a:buNone/>
            </a:pPr>
            <a:r>
              <a:rPr lang="en-GB" sz="1800" dirty="0">
                <a:solidFill>
                  <a:srgbClr val="0070C0"/>
                </a:solidFill>
                <a:latin typeface="Consolas" panose="020B0609020204030204" pitchFamily="49" charset="0"/>
              </a:rPr>
              <a:t>java -</a:t>
            </a:r>
            <a:r>
              <a:rPr lang="en-GB" sz="1800" dirty="0">
                <a:latin typeface="Consolas" panose="020B0609020204030204" pitchFamily="49" charset="0"/>
              </a:rPr>
              <a:t>jar</a:t>
            </a:r>
            <a:r>
              <a:rPr lang="en-GB" sz="1800" dirty="0">
                <a:solidFill>
                  <a:srgbClr val="0070C0"/>
                </a:solidFill>
                <a:latin typeface="Consolas" panose="020B0609020204030204" pitchFamily="49" charset="0"/>
              </a:rPr>
              <a:t> </a:t>
            </a: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/gatk-package-4.0.4.0-local.jar </a:t>
            </a:r>
            <a:r>
              <a:rPr lang="en-GB" sz="1800" dirty="0" err="1">
                <a:latin typeface="Consolas" panose="020B0609020204030204" pitchFamily="49" charset="0"/>
              </a:rPr>
              <a:t>BaseRecalibrator</a:t>
            </a:r>
            <a:r>
              <a:rPr lang="en-GB" sz="1800" dirty="0">
                <a:latin typeface="Consolas" panose="020B0609020204030204" pitchFamily="49" charset="0"/>
              </a:rPr>
              <a:t> -I sample1_sorted_unique.bam -R reference/</a:t>
            </a:r>
            <a:r>
              <a:rPr lang="en-GB" sz="1800" dirty="0" err="1">
                <a:latin typeface="Consolas" panose="020B0609020204030204" pitchFamily="49" charset="0"/>
              </a:rPr>
              <a:t>chrM.fa</a:t>
            </a:r>
            <a:r>
              <a:rPr lang="en-GB" sz="1800" dirty="0">
                <a:latin typeface="Consolas" panose="020B0609020204030204" pitchFamily="49" charset="0"/>
              </a:rPr>
              <a:t> --known-sites </a:t>
            </a:r>
            <a:r>
              <a:rPr lang="en-GB" sz="1800" dirty="0" err="1">
                <a:latin typeface="Consolas" panose="020B0609020204030204" pitchFamily="49" charset="0"/>
              </a:rPr>
              <a:t>software_update</a:t>
            </a:r>
            <a:r>
              <a:rPr lang="en-GB" sz="1800" dirty="0">
                <a:latin typeface="Consolas" panose="020B0609020204030204" pitchFamily="49" charset="0"/>
              </a:rPr>
              <a:t>/common_all_chrM.vcf.gz -O recal_data_table.txt</a:t>
            </a:r>
            <a:r>
              <a:rPr lang="en-GB" sz="1800" dirty="0">
                <a:solidFill>
                  <a:srgbClr val="0066FF"/>
                </a:solidFill>
                <a:latin typeface="Consolas" panose="020B0609020204030204" pitchFamily="49" charset="0"/>
              </a:rPr>
              <a:t>	</a:t>
            </a:r>
          </a:p>
          <a:p>
            <a:pPr marL="0" indent="0">
              <a:buNone/>
            </a:pPr>
            <a:endParaRPr lang="en-GB" sz="1800" dirty="0">
              <a:solidFill>
                <a:srgbClr val="0066FF"/>
              </a:solidFill>
              <a:latin typeface="Consolas" panose="020B0609020204030204" pitchFamily="49" charset="0"/>
            </a:endParaRPr>
          </a:p>
          <a:p>
            <a:pPr marL="0" indent="0">
              <a:buNone/>
            </a:pPr>
            <a:r>
              <a:rPr lang="en-GB" sz="1800" dirty="0">
                <a:solidFill>
                  <a:srgbClr val="0070C0"/>
                </a:solidFill>
                <a:latin typeface="Consolas" panose="020B0609020204030204" pitchFamily="49" charset="0"/>
              </a:rPr>
              <a:t>java -</a:t>
            </a:r>
            <a:r>
              <a:rPr lang="en-GB" sz="1800" dirty="0">
                <a:latin typeface="Consolas" panose="020B0609020204030204" pitchFamily="49" charset="0"/>
              </a:rPr>
              <a:t>jar</a:t>
            </a:r>
            <a:r>
              <a:rPr lang="en-GB" sz="1800" dirty="0">
                <a:solidFill>
                  <a:srgbClr val="0070C0"/>
                </a:solidFill>
                <a:latin typeface="Consolas" panose="020B0609020204030204" pitchFamily="49" charset="0"/>
              </a:rPr>
              <a:t> </a:t>
            </a: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/gatk-package-4.0.4.0-local.jar </a:t>
            </a:r>
            <a:r>
              <a:rPr lang="en-GB" sz="1800" dirty="0" err="1">
                <a:latin typeface="Consolas" panose="020B0609020204030204" pitchFamily="49" charset="0"/>
              </a:rPr>
              <a:t>ApplyBQSR</a:t>
            </a:r>
            <a:r>
              <a:rPr lang="en-GB" sz="1800" dirty="0">
                <a:latin typeface="Consolas" panose="020B0609020204030204" pitchFamily="49" charset="0"/>
              </a:rPr>
              <a:t> -I sample1_sorted_unique.bam -R reference/</a:t>
            </a:r>
            <a:r>
              <a:rPr lang="en-GB" sz="1800" dirty="0" err="1">
                <a:latin typeface="Consolas" panose="020B0609020204030204" pitchFamily="49" charset="0"/>
              </a:rPr>
              <a:t>chrM.fa</a:t>
            </a:r>
            <a:r>
              <a:rPr lang="en-GB" sz="1800" dirty="0">
                <a:latin typeface="Consolas" panose="020B0609020204030204" pitchFamily="49" charset="0"/>
              </a:rPr>
              <a:t> --</a:t>
            </a:r>
            <a:r>
              <a:rPr lang="en-GB" sz="1800" dirty="0" err="1">
                <a:latin typeface="Consolas" panose="020B0609020204030204" pitchFamily="49" charset="0"/>
              </a:rPr>
              <a:t>bqsr</a:t>
            </a:r>
            <a:r>
              <a:rPr lang="en-GB" sz="1800" dirty="0">
                <a:latin typeface="Consolas" panose="020B0609020204030204" pitchFamily="49" charset="0"/>
              </a:rPr>
              <a:t>-</a:t>
            </a:r>
            <a:r>
              <a:rPr lang="en-GB" sz="1800" dirty="0" err="1">
                <a:latin typeface="Consolas" panose="020B0609020204030204" pitchFamily="49" charset="0"/>
              </a:rPr>
              <a:t>recal</a:t>
            </a:r>
            <a:r>
              <a:rPr lang="en-GB" sz="1800" dirty="0">
                <a:latin typeface="Consolas" panose="020B0609020204030204" pitchFamily="49" charset="0"/>
              </a:rPr>
              <a:t>-file recal_data_table.txt -O sample1_sorted_unique_recalibrated.bam</a:t>
            </a:r>
            <a:r>
              <a:rPr lang="en-GB" sz="1800" dirty="0">
                <a:solidFill>
                  <a:srgbClr val="0066FF"/>
                </a:solidFill>
                <a:latin typeface="Consolas" panose="020B0609020204030204" pitchFamily="49" charset="0"/>
              </a:rPr>
              <a:t>	</a:t>
            </a:r>
            <a:endParaRPr lang="en-GB" sz="1800" dirty="0">
              <a:latin typeface="Consolas" panose="020B0609020204030204" pitchFamily="49" charset="0"/>
            </a:endParaRPr>
          </a:p>
          <a:p>
            <a:pPr marL="0" indent="0">
              <a:buNone/>
            </a:pPr>
            <a:endParaRPr lang="en-GB" sz="1800" dirty="0">
              <a:latin typeface="Consolas" panose="020B0609020204030204" pitchFamily="49" charset="0"/>
            </a:endParaRPr>
          </a:p>
        </p:txBody>
      </p:sp>
      <p:sp>
        <p:nvSpPr>
          <p:cNvPr id="7" name="Rectangle 6">
            <a:extLst>
              <a:ext uri="{FF2B5EF4-FFF2-40B4-BE49-F238E27FC236}">
                <a16:creationId xmlns:a16="http://schemas.microsoft.com/office/drawing/2014/main" id="{658E7F68-E907-41DB-9432-889DC0ADAD47}"/>
              </a:ext>
            </a:extLst>
          </p:cNvPr>
          <p:cNvSpPr/>
          <p:nvPr/>
        </p:nvSpPr>
        <p:spPr>
          <a:xfrm>
            <a:off x="2904145" y="5659728"/>
            <a:ext cx="8575430" cy="1200329"/>
          </a:xfrm>
          <a:prstGeom prst="rect">
            <a:avLst/>
          </a:prstGeom>
        </p:spPr>
        <p:txBody>
          <a:bodyPr wrap="square">
            <a:spAutoFit/>
          </a:bodyPr>
          <a:lstStyle/>
          <a:p>
            <a:r>
              <a:rPr lang="en-GB" dirty="0">
                <a:solidFill>
                  <a:schemeClr val="bg2">
                    <a:lumMod val="50000"/>
                  </a:schemeClr>
                </a:solidFill>
                <a:latin typeface="Arial" panose="020B0604020202020204" pitchFamily="34" charset="0"/>
                <a:cs typeface="Arial" panose="020B0604020202020204" pitchFamily="34" charset="0"/>
              </a:rPr>
              <a:t>…we are performing base quality score recalibration to recalculate the base calling quality scores. The sequencing machines tend to overestimate the data quality (!) ..so we can model the actual data quality on the number of mismatches in the observed data… and adjust them accordingly!</a:t>
            </a:r>
          </a:p>
        </p:txBody>
      </p:sp>
    </p:spTree>
    <p:extLst>
      <p:ext uri="{BB962C8B-B14F-4D97-AF65-F5344CB8AC3E}">
        <p14:creationId xmlns:p14="http://schemas.microsoft.com/office/powerpoint/2010/main" val="677420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97E0-552D-5D2C-E215-62DB6DBEE06A}"/>
              </a:ext>
            </a:extLst>
          </p:cNvPr>
          <p:cNvSpPr>
            <a:spLocks noGrp="1"/>
          </p:cNvSpPr>
          <p:nvPr>
            <p:ph type="title"/>
          </p:nvPr>
        </p:nvSpPr>
        <p:spPr/>
        <p:txBody>
          <a:bodyPr/>
          <a:lstStyle/>
          <a:p>
            <a:r>
              <a:rPr lang="en-GB" dirty="0"/>
              <a:t>BAM FILE</a:t>
            </a:r>
          </a:p>
        </p:txBody>
      </p:sp>
      <p:sp>
        <p:nvSpPr>
          <p:cNvPr id="3" name="Content Placeholder 1">
            <a:extLst>
              <a:ext uri="{FF2B5EF4-FFF2-40B4-BE49-F238E27FC236}">
                <a16:creationId xmlns:a16="http://schemas.microsoft.com/office/drawing/2014/main" id="{362890E5-B18F-9690-617F-29DBD3E47A4B}"/>
              </a:ext>
            </a:extLst>
          </p:cNvPr>
          <p:cNvSpPr txBox="1">
            <a:spLocks/>
          </p:cNvSpPr>
          <p:nvPr/>
        </p:nvSpPr>
        <p:spPr>
          <a:xfrm>
            <a:off x="190831" y="1825625"/>
            <a:ext cx="11774523" cy="132556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GB" sz="2400" dirty="0">
                <a:latin typeface="Arial" panose="020B0604020202020204" pitchFamily="34" charset="0"/>
                <a:cs typeface="Arial" panose="020B0604020202020204" pitchFamily="34" charset="0"/>
              </a:rPr>
              <a:t>At the Linux terminal type:</a:t>
            </a:r>
          </a:p>
          <a:p>
            <a:pPr marL="0" indent="0">
              <a:buFont typeface="Arial" panose="020B0604020202020204" pitchFamily="34" charset="0"/>
              <a:buNone/>
            </a:pPr>
            <a:r>
              <a:rPr lang="en-GB" sz="2400" dirty="0">
                <a:solidFill>
                  <a:srgbClr val="0066FF"/>
                </a:solidFill>
                <a:latin typeface="Garamond" panose="02020404030301010803" pitchFamily="18" charset="0"/>
              </a:rPr>
              <a:t>	</a:t>
            </a:r>
          </a:p>
          <a:p>
            <a:pPr marL="0" indent="0">
              <a:buNone/>
            </a:pPr>
            <a:r>
              <a:rPr lang="en-GB" sz="2400" dirty="0">
                <a:solidFill>
                  <a:srgbClr val="0066FF"/>
                </a:solidFill>
                <a:latin typeface="Garamond" panose="02020404030301010803" pitchFamily="18" charset="0"/>
              </a:rPr>
              <a:t>	</a:t>
            </a: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a:t>
            </a:r>
            <a:r>
              <a:rPr lang="en-GB" sz="1800" dirty="0" err="1">
                <a:solidFill>
                  <a:srgbClr val="0070C0"/>
                </a:solidFill>
                <a:latin typeface="Consolas" panose="020B0609020204030204" pitchFamily="49" charset="0"/>
              </a:rPr>
              <a:t>samtools</a:t>
            </a:r>
            <a:r>
              <a:rPr lang="en-GB" sz="1800" dirty="0">
                <a:solidFill>
                  <a:srgbClr val="0070C0"/>
                </a:solidFill>
                <a:latin typeface="Consolas" panose="020B0609020204030204" pitchFamily="49" charset="0"/>
              </a:rPr>
              <a:t> view sample1.bam</a:t>
            </a:r>
            <a:endParaRPr lang="en-GB" sz="1800" dirty="0">
              <a:latin typeface="Consolas" panose="020B0609020204030204" pitchFamily="49" charset="0"/>
            </a:endParaRPr>
          </a:p>
        </p:txBody>
      </p:sp>
      <p:pic>
        <p:nvPicPr>
          <p:cNvPr id="10" name="Picture 9">
            <a:extLst>
              <a:ext uri="{FF2B5EF4-FFF2-40B4-BE49-F238E27FC236}">
                <a16:creationId xmlns:a16="http://schemas.microsoft.com/office/drawing/2014/main" id="{B3DE7866-DDE2-2244-1E38-8340DEF752A7}"/>
              </a:ext>
            </a:extLst>
          </p:cNvPr>
          <p:cNvPicPr>
            <a:picLocks noChangeAspect="1"/>
          </p:cNvPicPr>
          <p:nvPr/>
        </p:nvPicPr>
        <p:blipFill>
          <a:blip r:embed="rId2"/>
          <a:stretch>
            <a:fillRect/>
          </a:stretch>
        </p:blipFill>
        <p:spPr>
          <a:xfrm>
            <a:off x="1078786" y="4152241"/>
            <a:ext cx="10574624" cy="1387570"/>
          </a:xfrm>
          <a:prstGeom prst="rect">
            <a:avLst/>
          </a:prstGeom>
        </p:spPr>
      </p:pic>
      <p:sp>
        <p:nvSpPr>
          <p:cNvPr id="12" name="TextBox 11">
            <a:extLst>
              <a:ext uri="{FF2B5EF4-FFF2-40B4-BE49-F238E27FC236}">
                <a16:creationId xmlns:a16="http://schemas.microsoft.com/office/drawing/2014/main" id="{DD6EE44B-AE46-64A3-1DB1-DA272045ABC8}"/>
              </a:ext>
            </a:extLst>
          </p:cNvPr>
          <p:cNvSpPr txBox="1"/>
          <p:nvPr/>
        </p:nvSpPr>
        <p:spPr>
          <a:xfrm>
            <a:off x="2150720" y="3500692"/>
            <a:ext cx="1238609" cy="369332"/>
          </a:xfrm>
          <a:prstGeom prst="rect">
            <a:avLst/>
          </a:prstGeom>
          <a:noFill/>
        </p:spPr>
        <p:txBody>
          <a:bodyPr wrap="none" rtlCol="0">
            <a:spAutoFit/>
          </a:bodyPr>
          <a:lstStyle/>
          <a:p>
            <a:r>
              <a:rPr lang="en-GB" dirty="0"/>
              <a:t>Read name</a:t>
            </a:r>
          </a:p>
        </p:txBody>
      </p:sp>
      <p:sp>
        <p:nvSpPr>
          <p:cNvPr id="13" name="TextBox 12">
            <a:extLst>
              <a:ext uri="{FF2B5EF4-FFF2-40B4-BE49-F238E27FC236}">
                <a16:creationId xmlns:a16="http://schemas.microsoft.com/office/drawing/2014/main" id="{A632D1C7-E357-095C-EF2C-DE12FCB4F9B4}"/>
              </a:ext>
            </a:extLst>
          </p:cNvPr>
          <p:cNvSpPr txBox="1"/>
          <p:nvPr/>
        </p:nvSpPr>
        <p:spPr>
          <a:xfrm>
            <a:off x="4179869" y="3522147"/>
            <a:ext cx="981359" cy="369332"/>
          </a:xfrm>
          <a:prstGeom prst="rect">
            <a:avLst/>
          </a:prstGeom>
          <a:noFill/>
        </p:spPr>
        <p:txBody>
          <a:bodyPr wrap="none" rtlCol="0">
            <a:spAutoFit/>
          </a:bodyPr>
          <a:lstStyle/>
          <a:p>
            <a:r>
              <a:rPr lang="en-GB" dirty="0"/>
              <a:t>Sam flag</a:t>
            </a:r>
          </a:p>
        </p:txBody>
      </p:sp>
      <p:sp>
        <p:nvSpPr>
          <p:cNvPr id="14" name="TextBox 13">
            <a:extLst>
              <a:ext uri="{FF2B5EF4-FFF2-40B4-BE49-F238E27FC236}">
                <a16:creationId xmlns:a16="http://schemas.microsoft.com/office/drawing/2014/main" id="{1B14F376-17CD-BEF4-0874-E123D0AC58B0}"/>
              </a:ext>
            </a:extLst>
          </p:cNvPr>
          <p:cNvSpPr txBox="1"/>
          <p:nvPr/>
        </p:nvSpPr>
        <p:spPr>
          <a:xfrm>
            <a:off x="5310159" y="3522147"/>
            <a:ext cx="1595920" cy="369332"/>
          </a:xfrm>
          <a:prstGeom prst="rect">
            <a:avLst/>
          </a:prstGeom>
          <a:noFill/>
        </p:spPr>
        <p:txBody>
          <a:bodyPr wrap="square" rtlCol="0">
            <a:spAutoFit/>
          </a:bodyPr>
          <a:lstStyle/>
          <a:p>
            <a:r>
              <a:rPr lang="en-GB" dirty="0"/>
              <a:t>Chr</a:t>
            </a:r>
          </a:p>
        </p:txBody>
      </p:sp>
      <p:sp>
        <p:nvSpPr>
          <p:cNvPr id="15" name="TextBox 14">
            <a:extLst>
              <a:ext uri="{FF2B5EF4-FFF2-40B4-BE49-F238E27FC236}">
                <a16:creationId xmlns:a16="http://schemas.microsoft.com/office/drawing/2014/main" id="{69BF2649-60E7-B088-7718-ABDFECBF8BDA}"/>
              </a:ext>
            </a:extLst>
          </p:cNvPr>
          <p:cNvSpPr txBox="1"/>
          <p:nvPr/>
        </p:nvSpPr>
        <p:spPr>
          <a:xfrm>
            <a:off x="5875239" y="3522147"/>
            <a:ext cx="700222" cy="369332"/>
          </a:xfrm>
          <a:prstGeom prst="rect">
            <a:avLst/>
          </a:prstGeom>
          <a:noFill/>
        </p:spPr>
        <p:txBody>
          <a:bodyPr wrap="square" rtlCol="0">
            <a:spAutoFit/>
          </a:bodyPr>
          <a:lstStyle/>
          <a:p>
            <a:r>
              <a:rPr lang="en-GB" dirty="0"/>
              <a:t>Pos</a:t>
            </a:r>
          </a:p>
        </p:txBody>
      </p:sp>
      <p:sp>
        <p:nvSpPr>
          <p:cNvPr id="16" name="TextBox 15">
            <a:extLst>
              <a:ext uri="{FF2B5EF4-FFF2-40B4-BE49-F238E27FC236}">
                <a16:creationId xmlns:a16="http://schemas.microsoft.com/office/drawing/2014/main" id="{5E705707-2D01-AAEC-524F-7521EE88A538}"/>
              </a:ext>
            </a:extLst>
          </p:cNvPr>
          <p:cNvSpPr txBox="1"/>
          <p:nvPr/>
        </p:nvSpPr>
        <p:spPr>
          <a:xfrm>
            <a:off x="6217710" y="2980257"/>
            <a:ext cx="1376738" cy="646331"/>
          </a:xfrm>
          <a:prstGeom prst="rect">
            <a:avLst/>
          </a:prstGeom>
          <a:noFill/>
        </p:spPr>
        <p:txBody>
          <a:bodyPr wrap="square" rtlCol="0">
            <a:spAutoFit/>
          </a:bodyPr>
          <a:lstStyle/>
          <a:p>
            <a:pPr algn="ctr"/>
            <a:r>
              <a:rPr lang="en-GB" dirty="0"/>
              <a:t>MAPQ</a:t>
            </a:r>
          </a:p>
          <a:p>
            <a:pPr algn="ctr"/>
            <a:r>
              <a:rPr lang="en-GB" dirty="0"/>
              <a:t>Map quality</a:t>
            </a:r>
          </a:p>
        </p:txBody>
      </p:sp>
      <p:sp>
        <p:nvSpPr>
          <p:cNvPr id="17" name="TextBox 16">
            <a:extLst>
              <a:ext uri="{FF2B5EF4-FFF2-40B4-BE49-F238E27FC236}">
                <a16:creationId xmlns:a16="http://schemas.microsoft.com/office/drawing/2014/main" id="{B9804C72-0C52-AFBD-7962-66570EDA2D68}"/>
              </a:ext>
            </a:extLst>
          </p:cNvPr>
          <p:cNvSpPr txBox="1"/>
          <p:nvPr/>
        </p:nvSpPr>
        <p:spPr>
          <a:xfrm>
            <a:off x="7386021" y="3475641"/>
            <a:ext cx="1595920" cy="369332"/>
          </a:xfrm>
          <a:prstGeom prst="rect">
            <a:avLst/>
          </a:prstGeom>
          <a:noFill/>
        </p:spPr>
        <p:txBody>
          <a:bodyPr wrap="square" rtlCol="0">
            <a:spAutoFit/>
          </a:bodyPr>
          <a:lstStyle/>
          <a:p>
            <a:r>
              <a:rPr lang="en-GB" dirty="0"/>
              <a:t>CIGAR</a:t>
            </a:r>
          </a:p>
        </p:txBody>
      </p:sp>
      <p:sp>
        <p:nvSpPr>
          <p:cNvPr id="18" name="Rectangle 17">
            <a:extLst>
              <a:ext uri="{FF2B5EF4-FFF2-40B4-BE49-F238E27FC236}">
                <a16:creationId xmlns:a16="http://schemas.microsoft.com/office/drawing/2014/main" id="{910F17B6-2CDD-DB17-99F7-63A262A88EC3}"/>
              </a:ext>
            </a:extLst>
          </p:cNvPr>
          <p:cNvSpPr/>
          <p:nvPr/>
        </p:nvSpPr>
        <p:spPr>
          <a:xfrm>
            <a:off x="10359957" y="4181425"/>
            <a:ext cx="1157592" cy="186295"/>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8ACB233C-B4AE-C20A-2C50-F6218F16E530}"/>
              </a:ext>
            </a:extLst>
          </p:cNvPr>
          <p:cNvSpPr/>
          <p:nvPr/>
        </p:nvSpPr>
        <p:spPr>
          <a:xfrm>
            <a:off x="1078786" y="4357992"/>
            <a:ext cx="8113852" cy="163581"/>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A64F6883-D801-661B-A1A5-445FD227B72C}"/>
              </a:ext>
            </a:extLst>
          </p:cNvPr>
          <p:cNvSpPr txBox="1"/>
          <p:nvPr/>
        </p:nvSpPr>
        <p:spPr>
          <a:xfrm>
            <a:off x="10369434" y="3676841"/>
            <a:ext cx="1595920" cy="369332"/>
          </a:xfrm>
          <a:prstGeom prst="rect">
            <a:avLst/>
          </a:prstGeom>
          <a:noFill/>
        </p:spPr>
        <p:txBody>
          <a:bodyPr wrap="square" rtlCol="0">
            <a:spAutoFit/>
          </a:bodyPr>
          <a:lstStyle/>
          <a:p>
            <a:r>
              <a:rPr lang="en-GB" dirty="0"/>
              <a:t>Sequence</a:t>
            </a:r>
          </a:p>
        </p:txBody>
      </p:sp>
      <p:sp>
        <p:nvSpPr>
          <p:cNvPr id="21" name="Rectangle 20">
            <a:extLst>
              <a:ext uri="{FF2B5EF4-FFF2-40B4-BE49-F238E27FC236}">
                <a16:creationId xmlns:a16="http://schemas.microsoft.com/office/drawing/2014/main" id="{6E6800AB-933D-A7AC-6705-6CFE98409716}"/>
              </a:ext>
            </a:extLst>
          </p:cNvPr>
          <p:cNvSpPr/>
          <p:nvPr/>
        </p:nvSpPr>
        <p:spPr>
          <a:xfrm>
            <a:off x="9656323" y="4375084"/>
            <a:ext cx="1861226" cy="169204"/>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D1887D9E-145B-2EA3-A97F-925B23C2B7C3}"/>
              </a:ext>
            </a:extLst>
          </p:cNvPr>
          <p:cNvSpPr/>
          <p:nvPr/>
        </p:nvSpPr>
        <p:spPr>
          <a:xfrm>
            <a:off x="1078786" y="4554015"/>
            <a:ext cx="7335640" cy="135357"/>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8F93FF5C-BFA8-B47A-DDC3-38D17242FD3A}"/>
              </a:ext>
            </a:extLst>
          </p:cNvPr>
          <p:cNvSpPr txBox="1"/>
          <p:nvPr/>
        </p:nvSpPr>
        <p:spPr>
          <a:xfrm>
            <a:off x="190831" y="4439782"/>
            <a:ext cx="1595920" cy="369332"/>
          </a:xfrm>
          <a:prstGeom prst="rect">
            <a:avLst/>
          </a:prstGeom>
          <a:noFill/>
        </p:spPr>
        <p:txBody>
          <a:bodyPr wrap="square" rtlCol="0">
            <a:spAutoFit/>
          </a:bodyPr>
          <a:lstStyle/>
          <a:p>
            <a:r>
              <a:rPr lang="en-GB" dirty="0"/>
              <a:t>QUAL</a:t>
            </a:r>
          </a:p>
        </p:txBody>
      </p:sp>
      <p:cxnSp>
        <p:nvCxnSpPr>
          <p:cNvPr id="25" name="Straight Arrow Connector 24">
            <a:extLst>
              <a:ext uri="{FF2B5EF4-FFF2-40B4-BE49-F238E27FC236}">
                <a16:creationId xmlns:a16="http://schemas.microsoft.com/office/drawing/2014/main" id="{B0C4FAF9-4A74-ABAB-6E4C-FE97191460B5}"/>
              </a:ext>
            </a:extLst>
          </p:cNvPr>
          <p:cNvCxnSpPr>
            <a:cxnSpLocks/>
          </p:cNvCxnSpPr>
          <p:nvPr/>
        </p:nvCxnSpPr>
        <p:spPr>
          <a:xfrm>
            <a:off x="10938753" y="3968885"/>
            <a:ext cx="0" cy="183356"/>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2FCEF54-502F-9345-9D0F-AA9F4DC82D8D}"/>
              </a:ext>
            </a:extLst>
          </p:cNvPr>
          <p:cNvCxnSpPr>
            <a:cxnSpLocks/>
          </p:cNvCxnSpPr>
          <p:nvPr/>
        </p:nvCxnSpPr>
        <p:spPr>
          <a:xfrm>
            <a:off x="838200" y="4621693"/>
            <a:ext cx="240586" cy="0"/>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8CA963A-AB59-86A5-8584-1836660B3709}"/>
              </a:ext>
            </a:extLst>
          </p:cNvPr>
          <p:cNvCxnSpPr>
            <a:cxnSpLocks/>
          </p:cNvCxnSpPr>
          <p:nvPr/>
        </p:nvCxnSpPr>
        <p:spPr>
          <a:xfrm>
            <a:off x="2761917" y="3810415"/>
            <a:ext cx="8107" cy="2501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1560E16-1CAD-55DD-9E29-CC2BD4BC5280}"/>
              </a:ext>
            </a:extLst>
          </p:cNvPr>
          <p:cNvCxnSpPr>
            <a:cxnSpLocks/>
          </p:cNvCxnSpPr>
          <p:nvPr/>
        </p:nvCxnSpPr>
        <p:spPr>
          <a:xfrm>
            <a:off x="4776822" y="3872473"/>
            <a:ext cx="8107" cy="2501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1CFA9AC-49C7-C002-DE8D-AD48DCFC8FA9}"/>
              </a:ext>
            </a:extLst>
          </p:cNvPr>
          <p:cNvCxnSpPr>
            <a:cxnSpLocks/>
          </p:cNvCxnSpPr>
          <p:nvPr/>
        </p:nvCxnSpPr>
        <p:spPr>
          <a:xfrm>
            <a:off x="5578419" y="3856254"/>
            <a:ext cx="8107" cy="2501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65AE5C7-37DF-7B21-B337-11146C82D3AE}"/>
              </a:ext>
            </a:extLst>
          </p:cNvPr>
          <p:cNvCxnSpPr>
            <a:cxnSpLocks/>
          </p:cNvCxnSpPr>
          <p:nvPr/>
        </p:nvCxnSpPr>
        <p:spPr>
          <a:xfrm>
            <a:off x="6172422" y="3869651"/>
            <a:ext cx="8107" cy="2501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978EE58-589D-AB92-8EC0-F18DB60A769F}"/>
              </a:ext>
            </a:extLst>
          </p:cNvPr>
          <p:cNvCxnSpPr>
            <a:cxnSpLocks/>
          </p:cNvCxnSpPr>
          <p:nvPr/>
        </p:nvCxnSpPr>
        <p:spPr>
          <a:xfrm>
            <a:off x="7743772" y="3843811"/>
            <a:ext cx="8107" cy="2501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290FBBC-A9A2-1520-69A4-6BBFD932115E}"/>
              </a:ext>
            </a:extLst>
          </p:cNvPr>
          <p:cNvCxnSpPr>
            <a:cxnSpLocks/>
          </p:cNvCxnSpPr>
          <p:nvPr/>
        </p:nvCxnSpPr>
        <p:spPr>
          <a:xfrm>
            <a:off x="6913878" y="3606106"/>
            <a:ext cx="14314" cy="45445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A41956C-4C30-A2A2-81C1-3256DBC9FC52}"/>
              </a:ext>
            </a:extLst>
          </p:cNvPr>
          <p:cNvSpPr txBox="1"/>
          <p:nvPr/>
        </p:nvSpPr>
        <p:spPr>
          <a:xfrm>
            <a:off x="9403842" y="3227284"/>
            <a:ext cx="1595920" cy="369332"/>
          </a:xfrm>
          <a:prstGeom prst="rect">
            <a:avLst/>
          </a:prstGeom>
          <a:noFill/>
        </p:spPr>
        <p:txBody>
          <a:bodyPr wrap="square" rtlCol="0">
            <a:spAutoFit/>
          </a:bodyPr>
          <a:lstStyle/>
          <a:p>
            <a:r>
              <a:rPr lang="en-GB" dirty="0"/>
              <a:t>Insert size</a:t>
            </a:r>
          </a:p>
        </p:txBody>
      </p:sp>
      <p:cxnSp>
        <p:nvCxnSpPr>
          <p:cNvPr id="40" name="Straight Arrow Connector 39">
            <a:extLst>
              <a:ext uri="{FF2B5EF4-FFF2-40B4-BE49-F238E27FC236}">
                <a16:creationId xmlns:a16="http://schemas.microsoft.com/office/drawing/2014/main" id="{2E78BF5D-E776-29E3-0B3D-75DBDDFB23F6}"/>
              </a:ext>
            </a:extLst>
          </p:cNvPr>
          <p:cNvCxnSpPr>
            <a:cxnSpLocks/>
          </p:cNvCxnSpPr>
          <p:nvPr/>
        </p:nvCxnSpPr>
        <p:spPr>
          <a:xfrm>
            <a:off x="9908517" y="3575952"/>
            <a:ext cx="10935" cy="5180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C989BAA-6251-9169-B62F-3861D8389902}"/>
              </a:ext>
            </a:extLst>
          </p:cNvPr>
          <p:cNvCxnSpPr>
            <a:cxnSpLocks/>
          </p:cNvCxnSpPr>
          <p:nvPr/>
        </p:nvCxnSpPr>
        <p:spPr>
          <a:xfrm>
            <a:off x="8299001" y="3382359"/>
            <a:ext cx="0" cy="69133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123E348-0162-DB07-2F30-F328867B6ABC}"/>
              </a:ext>
            </a:extLst>
          </p:cNvPr>
          <p:cNvSpPr txBox="1"/>
          <p:nvPr/>
        </p:nvSpPr>
        <p:spPr>
          <a:xfrm>
            <a:off x="7368446" y="2733206"/>
            <a:ext cx="2032153" cy="646331"/>
          </a:xfrm>
          <a:prstGeom prst="rect">
            <a:avLst/>
          </a:prstGeom>
          <a:noFill/>
        </p:spPr>
        <p:txBody>
          <a:bodyPr wrap="square" rtlCol="0">
            <a:spAutoFit/>
          </a:bodyPr>
          <a:lstStyle/>
          <a:p>
            <a:pPr algn="ctr"/>
            <a:r>
              <a:rPr lang="en-GB" dirty="0"/>
              <a:t>Ref mate</a:t>
            </a:r>
          </a:p>
          <a:p>
            <a:pPr algn="ctr"/>
            <a:r>
              <a:rPr lang="en-GB" dirty="0"/>
              <a:t>(= means matches)</a:t>
            </a:r>
          </a:p>
        </p:txBody>
      </p:sp>
      <p:sp>
        <p:nvSpPr>
          <p:cNvPr id="45" name="TextBox 44">
            <a:extLst>
              <a:ext uri="{FF2B5EF4-FFF2-40B4-BE49-F238E27FC236}">
                <a16:creationId xmlns:a16="http://schemas.microsoft.com/office/drawing/2014/main" id="{76E52228-8D3A-6235-F611-B9B8EA12B253}"/>
              </a:ext>
            </a:extLst>
          </p:cNvPr>
          <p:cNvSpPr txBox="1"/>
          <p:nvPr/>
        </p:nvSpPr>
        <p:spPr>
          <a:xfrm>
            <a:off x="8027855" y="3575952"/>
            <a:ext cx="2032153" cy="369332"/>
          </a:xfrm>
          <a:prstGeom prst="rect">
            <a:avLst/>
          </a:prstGeom>
          <a:noFill/>
        </p:spPr>
        <p:txBody>
          <a:bodyPr wrap="square" rtlCol="0">
            <a:spAutoFit/>
          </a:bodyPr>
          <a:lstStyle/>
          <a:p>
            <a:pPr algn="ctr"/>
            <a:r>
              <a:rPr lang="en-GB" dirty="0"/>
              <a:t>Pos mate</a:t>
            </a:r>
          </a:p>
        </p:txBody>
      </p:sp>
      <p:cxnSp>
        <p:nvCxnSpPr>
          <p:cNvPr id="46" name="Straight Arrow Connector 45">
            <a:extLst>
              <a:ext uri="{FF2B5EF4-FFF2-40B4-BE49-F238E27FC236}">
                <a16:creationId xmlns:a16="http://schemas.microsoft.com/office/drawing/2014/main" id="{0F9A139C-BB11-695C-6B2D-871FA68E584B}"/>
              </a:ext>
            </a:extLst>
          </p:cNvPr>
          <p:cNvCxnSpPr>
            <a:cxnSpLocks/>
          </p:cNvCxnSpPr>
          <p:nvPr/>
        </p:nvCxnSpPr>
        <p:spPr>
          <a:xfrm>
            <a:off x="9043932" y="3879895"/>
            <a:ext cx="8107" cy="2501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B8F2756-ECFF-9BC5-E671-B4E4CC01E918}"/>
              </a:ext>
            </a:extLst>
          </p:cNvPr>
          <p:cNvSpPr txBox="1"/>
          <p:nvPr/>
        </p:nvSpPr>
        <p:spPr>
          <a:xfrm>
            <a:off x="838199" y="5732489"/>
            <a:ext cx="10971179" cy="923330"/>
          </a:xfrm>
          <a:prstGeom prst="rect">
            <a:avLst/>
          </a:prstGeom>
          <a:noFill/>
        </p:spPr>
        <p:txBody>
          <a:bodyPr wrap="square" rtlCol="0">
            <a:spAutoFit/>
          </a:bodyPr>
          <a:lstStyle/>
          <a:p>
            <a:r>
              <a:rPr lang="en-GB" b="1" dirty="0"/>
              <a:t>CIGAR 101M </a:t>
            </a:r>
            <a:r>
              <a:rPr lang="en-GB" dirty="0"/>
              <a:t>: 101 read bases are aligned to 101 reference bases with no gaps</a:t>
            </a:r>
          </a:p>
          <a:p>
            <a:r>
              <a:rPr lang="en-GB" b="1" dirty="0"/>
              <a:t>MD:Z:40A60 </a:t>
            </a:r>
            <a:r>
              <a:rPr lang="en-GB" dirty="0"/>
              <a:t>of those 101 aligned positions, the first 40 are matches, then there is a mismatch where reference base is A, then 60 more matches. </a:t>
            </a:r>
          </a:p>
        </p:txBody>
      </p:sp>
    </p:spTree>
    <p:extLst>
      <p:ext uri="{BB962C8B-B14F-4D97-AF65-F5344CB8AC3E}">
        <p14:creationId xmlns:p14="http://schemas.microsoft.com/office/powerpoint/2010/main" val="27126944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a:xfrm>
            <a:off x="838200" y="28237"/>
            <a:ext cx="10515600" cy="1325563"/>
          </a:xfrm>
        </p:spPr>
        <p:txBody>
          <a:bodyPr/>
          <a:lstStyle/>
          <a:p>
            <a:pPr algn="ctr"/>
            <a:r>
              <a:rPr lang="en-GB" dirty="0">
                <a:latin typeface="Arial" panose="020B0604020202020204" pitchFamily="34" charset="0"/>
                <a:cs typeface="Arial" panose="020B0604020202020204" pitchFamily="34" charset="0"/>
              </a:rPr>
              <a:t>Part 4 – Variant Calling</a:t>
            </a:r>
          </a:p>
        </p:txBody>
      </p:sp>
      <p:sp>
        <p:nvSpPr>
          <p:cNvPr id="6" name="Rectangle 5">
            <a:extLst>
              <a:ext uri="{FF2B5EF4-FFF2-40B4-BE49-F238E27FC236}">
                <a16:creationId xmlns:a16="http://schemas.microsoft.com/office/drawing/2014/main" id="{720E432D-A2B7-4B7C-B7C8-F7F57C04955F}"/>
              </a:ext>
            </a:extLst>
          </p:cNvPr>
          <p:cNvSpPr/>
          <p:nvPr/>
        </p:nvSpPr>
        <p:spPr>
          <a:xfrm>
            <a:off x="132829" y="1092190"/>
            <a:ext cx="8723863" cy="400110"/>
          </a:xfrm>
          <a:prstGeom prst="rect">
            <a:avLst/>
          </a:prstGeom>
        </p:spPr>
        <p:txBody>
          <a:bodyPr wrap="none">
            <a:spAutoFit/>
          </a:bodyPr>
          <a:lstStyle/>
          <a:p>
            <a:r>
              <a:rPr lang="en-GB" sz="2000" dirty="0">
                <a:latin typeface="Arial" panose="020B0604020202020204" pitchFamily="34" charset="0"/>
                <a:cs typeface="Arial" panose="020B0604020202020204" pitchFamily="34" charset="0"/>
              </a:rPr>
              <a:t>Identifying single nucleotide variants and small indels in our aligned mtDNA</a:t>
            </a:r>
          </a:p>
        </p:txBody>
      </p:sp>
      <p:sp>
        <p:nvSpPr>
          <p:cNvPr id="7" name="Content Placeholder 1">
            <a:extLst>
              <a:ext uri="{FF2B5EF4-FFF2-40B4-BE49-F238E27FC236}">
                <a16:creationId xmlns:a16="http://schemas.microsoft.com/office/drawing/2014/main" id="{B1148C08-A3D6-4FF4-AA4F-0BDB6B3A7E5C}"/>
              </a:ext>
            </a:extLst>
          </p:cNvPr>
          <p:cNvSpPr>
            <a:spLocks noGrp="1"/>
          </p:cNvSpPr>
          <p:nvPr>
            <p:ph idx="1"/>
          </p:nvPr>
        </p:nvSpPr>
        <p:spPr>
          <a:xfrm>
            <a:off x="190831" y="1825625"/>
            <a:ext cx="11774523" cy="4951608"/>
          </a:xfrm>
        </p:spPr>
        <p:txBody>
          <a:bodyPr>
            <a:normAutofit/>
          </a:bodyPr>
          <a:lstStyle/>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At the Linux terminal type:</a:t>
            </a:r>
          </a:p>
          <a:p>
            <a:pPr marL="0" indent="0">
              <a:spcBef>
                <a:spcPts val="1800"/>
              </a:spcBef>
              <a:spcAft>
                <a:spcPts val="300"/>
              </a:spcAft>
              <a:buNone/>
            </a:pPr>
            <a:r>
              <a:rPr lang="en-GB" sz="2400" dirty="0">
                <a:solidFill>
                  <a:srgbClr val="0066FF"/>
                </a:solidFill>
                <a:latin typeface="Garamond" panose="02020404030301010803" pitchFamily="18" charset="0"/>
              </a:rPr>
              <a:t>	</a:t>
            </a:r>
            <a:r>
              <a:rPr lang="en-GB" sz="1800" dirty="0">
                <a:latin typeface="Consolas" panose="020B0609020204030204" pitchFamily="49" charset="0"/>
              </a:rPr>
              <a:t>java</a:t>
            </a:r>
            <a:r>
              <a:rPr lang="en-GB" sz="1800" dirty="0">
                <a:solidFill>
                  <a:srgbClr val="0070C0"/>
                </a:solidFill>
                <a:latin typeface="Consolas" panose="020B0609020204030204" pitchFamily="49" charset="0"/>
              </a:rPr>
              <a:t> -jar </a:t>
            </a:r>
            <a:r>
              <a:rPr lang="en-GB" sz="1800" dirty="0" err="1">
                <a:latin typeface="Consolas" panose="020B0609020204030204" pitchFamily="49" charset="0"/>
              </a:rPr>
              <a:t>software_update</a:t>
            </a:r>
            <a:r>
              <a:rPr lang="en-GB" sz="1800" dirty="0">
                <a:latin typeface="Consolas" panose="020B0609020204030204" pitchFamily="49" charset="0"/>
              </a:rPr>
              <a:t>/gatk-package-4.0.4.0-local.jar</a:t>
            </a:r>
            <a:r>
              <a:rPr lang="en-GB" sz="1800" dirty="0">
                <a:solidFill>
                  <a:srgbClr val="0070C0"/>
                </a:solidFill>
                <a:latin typeface="Consolas" panose="020B0609020204030204" pitchFamily="49" charset="0"/>
              </a:rPr>
              <a:t> </a:t>
            </a:r>
            <a:r>
              <a:rPr lang="en-GB" sz="1800" dirty="0" err="1">
                <a:solidFill>
                  <a:srgbClr val="0070C0"/>
                </a:solidFill>
                <a:latin typeface="Consolas" panose="020B0609020204030204" pitchFamily="49" charset="0"/>
              </a:rPr>
              <a:t>HaplotypeCaller</a:t>
            </a:r>
            <a:r>
              <a:rPr lang="en-GB" sz="1800" dirty="0">
                <a:solidFill>
                  <a:srgbClr val="0070C0"/>
                </a:solidFill>
                <a:latin typeface="Consolas" panose="020B0609020204030204" pitchFamily="49" charset="0"/>
              </a:rPr>
              <a:t> \ </a:t>
            </a:r>
            <a:br>
              <a:rPr lang="en-GB" sz="1800" dirty="0">
                <a:solidFill>
                  <a:srgbClr val="0070C0"/>
                </a:solidFill>
                <a:latin typeface="Consolas" panose="020B0609020204030204" pitchFamily="49" charset="0"/>
              </a:rPr>
            </a:br>
            <a:r>
              <a:rPr lang="en-GB" sz="1800" dirty="0">
                <a:solidFill>
                  <a:srgbClr val="0070C0"/>
                </a:solidFill>
                <a:latin typeface="Consolas" panose="020B0609020204030204" pitchFamily="49" charset="0"/>
              </a:rPr>
              <a:t>	-I sample1_sorted_unique_recalibrated.bam \</a:t>
            </a:r>
          </a:p>
          <a:p>
            <a:pPr marL="0" indent="0">
              <a:spcBef>
                <a:spcPts val="0"/>
              </a:spcBef>
              <a:spcAft>
                <a:spcPts val="300"/>
              </a:spcAft>
              <a:buNone/>
            </a:pPr>
            <a:r>
              <a:rPr lang="en-GB" sz="1800" dirty="0">
                <a:solidFill>
                  <a:srgbClr val="0070C0"/>
                </a:solidFill>
                <a:latin typeface="Consolas" panose="020B0609020204030204" pitchFamily="49" charset="0"/>
              </a:rPr>
              <a:t>	-R reference/</a:t>
            </a:r>
            <a:r>
              <a:rPr lang="en-GB" sz="1800" dirty="0" err="1">
                <a:solidFill>
                  <a:srgbClr val="0070C0"/>
                </a:solidFill>
                <a:latin typeface="Consolas" panose="020B0609020204030204" pitchFamily="49" charset="0"/>
              </a:rPr>
              <a:t>chrM.fa</a:t>
            </a:r>
            <a:r>
              <a:rPr lang="en-GB" sz="1800" dirty="0">
                <a:solidFill>
                  <a:srgbClr val="0070C0"/>
                </a:solidFill>
                <a:latin typeface="Consolas" panose="020B0609020204030204" pitchFamily="49" charset="0"/>
              </a:rPr>
              <a:t> -G </a:t>
            </a:r>
            <a:r>
              <a:rPr lang="en-GB" sz="1800" dirty="0" err="1">
                <a:solidFill>
                  <a:srgbClr val="0070C0"/>
                </a:solidFill>
                <a:latin typeface="Consolas" panose="020B0609020204030204" pitchFamily="49" charset="0"/>
              </a:rPr>
              <a:t>StandardAnnotation</a:t>
            </a:r>
            <a:r>
              <a:rPr lang="en-GB" sz="1800" dirty="0">
                <a:solidFill>
                  <a:srgbClr val="0070C0"/>
                </a:solidFill>
                <a:latin typeface="Consolas" panose="020B0609020204030204" pitchFamily="49" charset="0"/>
              </a:rPr>
              <a:t> \</a:t>
            </a:r>
          </a:p>
          <a:p>
            <a:pPr marL="0" indent="0">
              <a:spcBef>
                <a:spcPts val="0"/>
              </a:spcBef>
              <a:spcAft>
                <a:spcPts val="300"/>
              </a:spcAft>
              <a:buNone/>
            </a:pPr>
            <a:r>
              <a:rPr lang="en-GB" sz="1800" dirty="0">
                <a:solidFill>
                  <a:srgbClr val="0070C0"/>
                </a:solidFill>
                <a:latin typeface="Consolas" panose="020B0609020204030204" pitchFamily="49" charset="0"/>
              </a:rPr>
              <a:t>	-</a:t>
            </a:r>
            <a:r>
              <a:rPr lang="en-GB" sz="1800" dirty="0" err="1">
                <a:solidFill>
                  <a:srgbClr val="0070C0"/>
                </a:solidFill>
                <a:latin typeface="Consolas" panose="020B0609020204030204" pitchFamily="49" charset="0"/>
              </a:rPr>
              <a:t>bamout</a:t>
            </a:r>
            <a:r>
              <a:rPr lang="en-GB" sz="1800" dirty="0">
                <a:solidFill>
                  <a:srgbClr val="0070C0"/>
                </a:solidFill>
                <a:latin typeface="Consolas" panose="020B0609020204030204" pitchFamily="49" charset="0"/>
              </a:rPr>
              <a:t> sample1_sorted_unique_recalibrated.bamout.bam \</a:t>
            </a:r>
          </a:p>
          <a:p>
            <a:pPr marL="0" indent="0">
              <a:spcBef>
                <a:spcPts val="0"/>
              </a:spcBef>
              <a:buNone/>
            </a:pPr>
            <a:r>
              <a:rPr lang="en-GB" sz="1800" dirty="0">
                <a:solidFill>
                  <a:srgbClr val="0070C0"/>
                </a:solidFill>
                <a:latin typeface="Consolas" panose="020B0609020204030204" pitchFamily="49" charset="0"/>
              </a:rPr>
              <a:t>	-O sample1.vcf </a:t>
            </a:r>
            <a:endParaRPr lang="en-GB" sz="2400" dirty="0">
              <a:latin typeface="Garamond" panose="02020404030301010803" pitchFamily="18" charset="0"/>
            </a:endParaRPr>
          </a:p>
        </p:txBody>
      </p:sp>
      <p:sp>
        <p:nvSpPr>
          <p:cNvPr id="17" name="Rectangle 16">
            <a:extLst>
              <a:ext uri="{FF2B5EF4-FFF2-40B4-BE49-F238E27FC236}">
                <a16:creationId xmlns:a16="http://schemas.microsoft.com/office/drawing/2014/main" id="{24C270FD-4FEA-42C2-B6D9-36ADA4C23BB1}"/>
              </a:ext>
            </a:extLst>
          </p:cNvPr>
          <p:cNvSpPr/>
          <p:nvPr/>
        </p:nvSpPr>
        <p:spPr>
          <a:xfrm>
            <a:off x="511516" y="6537375"/>
            <a:ext cx="10461171" cy="584775"/>
          </a:xfrm>
          <a:prstGeom prst="rect">
            <a:avLst/>
          </a:prstGeom>
        </p:spPr>
        <p:txBody>
          <a:bodyPr wrap="square">
            <a:spAutoFit/>
          </a:bodyPr>
          <a:lstStyle/>
          <a:p>
            <a:r>
              <a:rPr lang="en-GB" sz="1400" dirty="0"/>
              <a:t>Read more here: </a:t>
            </a:r>
            <a:r>
              <a:rPr lang="en-GB" sz="1400" dirty="0">
                <a:hlinkClick r:id="rId2"/>
              </a:rPr>
              <a:t>https://gatk.broadinstitute.org/hc/en-us/articles/360035531412-HaplotypeCaller-in-a-nutshell</a:t>
            </a:r>
            <a:endParaRPr lang="en-GB" sz="1400" dirty="0"/>
          </a:p>
          <a:p>
            <a:endParaRPr lang="en-GB" dirty="0"/>
          </a:p>
        </p:txBody>
      </p:sp>
      <p:pic>
        <p:nvPicPr>
          <p:cNvPr id="21" name="Picture 20">
            <a:extLst>
              <a:ext uri="{FF2B5EF4-FFF2-40B4-BE49-F238E27FC236}">
                <a16:creationId xmlns:a16="http://schemas.microsoft.com/office/drawing/2014/main" id="{64BB71F9-06B9-465D-9739-0138AF26DA69}"/>
              </a:ext>
            </a:extLst>
          </p:cNvPr>
          <p:cNvPicPr>
            <a:picLocks noChangeAspect="1"/>
          </p:cNvPicPr>
          <p:nvPr/>
        </p:nvPicPr>
        <p:blipFill rotWithShape="1">
          <a:blip r:embed="rId3">
            <a:extLst>
              <a:ext uri="{28A0092B-C50C-407E-A947-70E740481C1C}">
                <a14:useLocalDpi xmlns:a14="http://schemas.microsoft.com/office/drawing/2010/main" val="0"/>
              </a:ext>
            </a:extLst>
          </a:blip>
          <a:srcRect l="9125" t="13111" r="2323" b="25001"/>
          <a:stretch/>
        </p:blipFill>
        <p:spPr>
          <a:xfrm>
            <a:off x="5711511" y="4159166"/>
            <a:ext cx="5576642" cy="2143628"/>
          </a:xfrm>
          <a:prstGeom prst="rect">
            <a:avLst/>
          </a:prstGeom>
        </p:spPr>
      </p:pic>
      <p:sp>
        <p:nvSpPr>
          <p:cNvPr id="24" name="TextBox 23">
            <a:extLst>
              <a:ext uri="{FF2B5EF4-FFF2-40B4-BE49-F238E27FC236}">
                <a16:creationId xmlns:a16="http://schemas.microsoft.com/office/drawing/2014/main" id="{049A74B2-2A77-4E75-89B4-692081BF48BC}"/>
              </a:ext>
            </a:extLst>
          </p:cNvPr>
          <p:cNvSpPr txBox="1"/>
          <p:nvPr/>
        </p:nvSpPr>
        <p:spPr>
          <a:xfrm>
            <a:off x="511516" y="4159166"/>
            <a:ext cx="4522795" cy="923330"/>
          </a:xfrm>
          <a:prstGeom prst="rect">
            <a:avLst/>
          </a:prstGeom>
          <a:noFill/>
        </p:spPr>
        <p:txBody>
          <a:bodyPr wrap="square" rtlCol="0">
            <a:spAutoFit/>
          </a:bodyPr>
          <a:lstStyle/>
          <a:p>
            <a:r>
              <a:rPr lang="en-GB" b="1" dirty="0" err="1">
                <a:solidFill>
                  <a:srgbClr val="0070C0"/>
                </a:solidFill>
                <a:latin typeface="Arial" panose="020B0604020202020204" pitchFamily="34" charset="0"/>
                <a:cs typeface="Arial" panose="020B0604020202020204" pitchFamily="34" charset="0"/>
              </a:rPr>
              <a:t>HaplotypeCaller</a:t>
            </a:r>
            <a:r>
              <a:rPr lang="en-GB" dirty="0">
                <a:latin typeface="Arial" panose="020B0604020202020204" pitchFamily="34" charset="0"/>
                <a:cs typeface="Arial" panose="020B0604020202020204" pitchFamily="34" charset="0"/>
              </a:rPr>
              <a:t> scans the aligned reads for mismatches against the reference genome</a:t>
            </a:r>
          </a:p>
        </p:txBody>
      </p:sp>
    </p:spTree>
    <p:extLst>
      <p:ext uri="{BB962C8B-B14F-4D97-AF65-F5344CB8AC3E}">
        <p14:creationId xmlns:p14="http://schemas.microsoft.com/office/powerpoint/2010/main" val="235263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a:xfrm>
            <a:off x="838200" y="28237"/>
            <a:ext cx="10515600" cy="1325563"/>
          </a:xfrm>
        </p:spPr>
        <p:txBody>
          <a:bodyPr/>
          <a:lstStyle/>
          <a:p>
            <a:pPr algn="ctr"/>
            <a:r>
              <a:rPr lang="en-GB" dirty="0">
                <a:latin typeface="Arial" panose="020B0604020202020204" pitchFamily="34" charset="0"/>
                <a:cs typeface="Arial" panose="020B0604020202020204" pitchFamily="34" charset="0"/>
              </a:rPr>
              <a:t>Part 4 – Variant calling</a:t>
            </a:r>
          </a:p>
        </p:txBody>
      </p:sp>
      <p:sp>
        <p:nvSpPr>
          <p:cNvPr id="6" name="Rectangle 5">
            <a:extLst>
              <a:ext uri="{FF2B5EF4-FFF2-40B4-BE49-F238E27FC236}">
                <a16:creationId xmlns:a16="http://schemas.microsoft.com/office/drawing/2014/main" id="{720E432D-A2B7-4B7C-B7C8-F7F57C04955F}"/>
              </a:ext>
            </a:extLst>
          </p:cNvPr>
          <p:cNvSpPr/>
          <p:nvPr/>
        </p:nvSpPr>
        <p:spPr>
          <a:xfrm>
            <a:off x="2749539" y="1092190"/>
            <a:ext cx="5386411" cy="400110"/>
          </a:xfrm>
          <a:prstGeom prst="rect">
            <a:avLst/>
          </a:prstGeom>
        </p:spPr>
        <p:txBody>
          <a:bodyPr wrap="none">
            <a:spAutoFit/>
          </a:bodyPr>
          <a:lstStyle/>
          <a:p>
            <a:r>
              <a:rPr lang="en-GB" sz="2000" dirty="0">
                <a:latin typeface="Arial" panose="020B0604020202020204" pitchFamily="34" charset="0"/>
                <a:cs typeface="Arial" panose="020B0604020202020204" pitchFamily="34" charset="0"/>
              </a:rPr>
              <a:t>Hard-Filtering of the previously called variants</a:t>
            </a:r>
          </a:p>
        </p:txBody>
      </p:sp>
      <p:sp>
        <p:nvSpPr>
          <p:cNvPr id="7" name="Content Placeholder 1">
            <a:extLst>
              <a:ext uri="{FF2B5EF4-FFF2-40B4-BE49-F238E27FC236}">
                <a16:creationId xmlns:a16="http://schemas.microsoft.com/office/drawing/2014/main" id="{B1148C08-A3D6-4FF4-AA4F-0BDB6B3A7E5C}"/>
              </a:ext>
            </a:extLst>
          </p:cNvPr>
          <p:cNvSpPr>
            <a:spLocks noGrp="1"/>
          </p:cNvSpPr>
          <p:nvPr>
            <p:ph idx="1"/>
          </p:nvPr>
        </p:nvSpPr>
        <p:spPr>
          <a:xfrm>
            <a:off x="190831" y="1825625"/>
            <a:ext cx="11774523" cy="2474232"/>
          </a:xfrm>
        </p:spPr>
        <p:txBody>
          <a:bodyPr>
            <a:normAutofit/>
          </a:bodyPr>
          <a:lstStyle/>
          <a:p>
            <a:pPr>
              <a:buFont typeface="Wingdings" panose="05000000000000000000" pitchFamily="2" charset="2"/>
              <a:buChar char="Ø"/>
            </a:pPr>
            <a:r>
              <a:rPr lang="en-GB" sz="2000" dirty="0">
                <a:latin typeface="Arial" panose="020B0604020202020204" pitchFamily="34" charset="0"/>
                <a:cs typeface="Arial" panose="020B0604020202020204" pitchFamily="34" charset="0"/>
              </a:rPr>
              <a:t>At the Linux terminal type:</a:t>
            </a:r>
          </a:p>
          <a:p>
            <a:pPr marL="457200" lvl="1" indent="0">
              <a:spcBef>
                <a:spcPts val="1800"/>
              </a:spcBef>
              <a:spcAft>
                <a:spcPts val="300"/>
              </a:spcAft>
              <a:buNone/>
            </a:pPr>
            <a:r>
              <a:rPr lang="en-GB" sz="1800" dirty="0">
                <a:solidFill>
                  <a:srgbClr val="0070C0"/>
                </a:solidFill>
                <a:latin typeface="Consolas" panose="020B0609020204030204" pitchFamily="49" charset="0"/>
              </a:rPr>
              <a:t>java</a:t>
            </a:r>
            <a:r>
              <a:rPr lang="en-GB" sz="1800" dirty="0">
                <a:latin typeface="Consolas" panose="020B0609020204030204" pitchFamily="49" charset="0"/>
              </a:rPr>
              <a:t> -jar </a:t>
            </a: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/gatk-package-4.0.4.0-local.jar</a:t>
            </a:r>
            <a:r>
              <a:rPr lang="en-GB" sz="1800" dirty="0">
                <a:latin typeface="Consolas" panose="020B0609020204030204" pitchFamily="49" charset="0"/>
              </a:rPr>
              <a:t> </a:t>
            </a:r>
            <a:r>
              <a:rPr lang="en-GB" sz="1800" dirty="0" err="1">
                <a:latin typeface="Consolas" panose="020B0609020204030204" pitchFamily="49" charset="0"/>
              </a:rPr>
              <a:t>VariantFiltration</a:t>
            </a:r>
            <a:r>
              <a:rPr lang="en-GB" sz="1800" dirty="0">
                <a:latin typeface="Consolas" panose="020B0609020204030204" pitchFamily="49" charset="0"/>
              </a:rPr>
              <a:t> </a:t>
            </a:r>
            <a:br>
              <a:rPr lang="en-GB" sz="1800" dirty="0">
                <a:latin typeface="Consolas" panose="020B0609020204030204" pitchFamily="49" charset="0"/>
              </a:rPr>
            </a:br>
            <a:r>
              <a:rPr lang="en-GB" sz="1800" dirty="0">
                <a:latin typeface="Consolas" panose="020B0609020204030204" pitchFamily="49" charset="0"/>
              </a:rPr>
              <a:t>-V sample1.vcf -R reference/</a:t>
            </a:r>
            <a:r>
              <a:rPr lang="en-GB" sz="1800" dirty="0" err="1">
                <a:latin typeface="Consolas" panose="020B0609020204030204" pitchFamily="49" charset="0"/>
              </a:rPr>
              <a:t>chrM.fa</a:t>
            </a:r>
            <a:r>
              <a:rPr lang="en-GB" sz="1800" dirty="0">
                <a:latin typeface="Consolas" panose="020B0609020204030204" pitchFamily="49" charset="0"/>
              </a:rPr>
              <a:t> </a:t>
            </a:r>
            <a:br>
              <a:rPr lang="en-GB" sz="1800" dirty="0">
                <a:latin typeface="Consolas" panose="020B0609020204030204" pitchFamily="49" charset="0"/>
              </a:rPr>
            </a:br>
            <a:r>
              <a:rPr lang="en-GB" sz="1800" dirty="0">
                <a:latin typeface="Consolas" panose="020B0609020204030204" pitchFamily="49" charset="0"/>
              </a:rPr>
              <a:t>--genotype-filter-expression "GQ &lt; 30.0“ --genotype-filter-name "</a:t>
            </a:r>
            <a:r>
              <a:rPr lang="en-GB" sz="1800" dirty="0" err="1">
                <a:latin typeface="Consolas" panose="020B0609020204030204" pitchFamily="49" charset="0"/>
              </a:rPr>
              <a:t>LowGQ</a:t>
            </a:r>
            <a:r>
              <a:rPr lang="en-GB" sz="1800" dirty="0">
                <a:latin typeface="Consolas" panose="020B0609020204030204" pitchFamily="49" charset="0"/>
              </a:rPr>
              <a:t>" \</a:t>
            </a:r>
            <a:br>
              <a:rPr lang="en-GB" sz="1800" dirty="0">
                <a:latin typeface="Consolas" panose="020B0609020204030204" pitchFamily="49" charset="0"/>
              </a:rPr>
            </a:br>
            <a:r>
              <a:rPr lang="en-GB" sz="1800" dirty="0">
                <a:latin typeface="Consolas" panose="020B0609020204030204" pitchFamily="49" charset="0"/>
              </a:rPr>
              <a:t>--filter-expression "QD &lt; 1.5" --filter-name "</a:t>
            </a:r>
            <a:r>
              <a:rPr lang="en-GB" sz="1800" dirty="0" err="1">
                <a:latin typeface="Consolas" panose="020B0609020204030204" pitchFamily="49" charset="0"/>
              </a:rPr>
              <a:t>LowQD</a:t>
            </a:r>
            <a:r>
              <a:rPr lang="en-GB" sz="1800" dirty="0">
                <a:latin typeface="Consolas" panose="020B0609020204030204" pitchFamily="49" charset="0"/>
              </a:rPr>
              <a:t>"</a:t>
            </a:r>
            <a:br>
              <a:rPr lang="en-GB" sz="1800" dirty="0">
                <a:latin typeface="Consolas" panose="020B0609020204030204" pitchFamily="49" charset="0"/>
              </a:rPr>
            </a:br>
            <a:r>
              <a:rPr lang="en-GB" sz="1800" dirty="0">
                <a:latin typeface="Consolas" panose="020B0609020204030204" pitchFamily="49" charset="0"/>
              </a:rPr>
              <a:t>--filter-expression "DP &lt; 6" --filter-name "</a:t>
            </a:r>
            <a:r>
              <a:rPr lang="en-GB" sz="1800" dirty="0" err="1">
                <a:latin typeface="Consolas" panose="020B0609020204030204" pitchFamily="49" charset="0"/>
              </a:rPr>
              <a:t>LowCoverage</a:t>
            </a:r>
            <a:r>
              <a:rPr lang="en-GB" sz="1800" dirty="0">
                <a:latin typeface="Consolas" panose="020B0609020204030204" pitchFamily="49" charset="0"/>
              </a:rPr>
              <a:t>" \</a:t>
            </a:r>
            <a:br>
              <a:rPr lang="en-GB" sz="1800" dirty="0">
                <a:latin typeface="Consolas" panose="020B0609020204030204" pitchFamily="49" charset="0"/>
              </a:rPr>
            </a:br>
            <a:r>
              <a:rPr lang="en-GB" sz="1800" dirty="0">
                <a:latin typeface="Consolas" panose="020B0609020204030204" pitchFamily="49" charset="0"/>
              </a:rPr>
              <a:t>--filter-expression "SOR &gt; 10.0" --filter-name "</a:t>
            </a:r>
            <a:r>
              <a:rPr lang="en-GB" sz="1800" dirty="0" err="1">
                <a:latin typeface="Consolas" panose="020B0609020204030204" pitchFamily="49" charset="0"/>
              </a:rPr>
              <a:t>StrandBias</a:t>
            </a:r>
            <a:r>
              <a:rPr lang="en-GB" sz="1800" dirty="0">
                <a:latin typeface="Consolas" panose="020B0609020204030204" pitchFamily="49" charset="0"/>
              </a:rPr>
              <a:t>" -O sample1.filtered.vcf</a:t>
            </a:r>
            <a:endParaRPr lang="en-GB" sz="3200" dirty="0">
              <a:latin typeface="Garamond" panose="02020404030301010803" pitchFamily="18" charset="0"/>
            </a:endParaRPr>
          </a:p>
        </p:txBody>
      </p:sp>
      <p:sp>
        <p:nvSpPr>
          <p:cNvPr id="2" name="Rectangle 1">
            <a:extLst>
              <a:ext uri="{FF2B5EF4-FFF2-40B4-BE49-F238E27FC236}">
                <a16:creationId xmlns:a16="http://schemas.microsoft.com/office/drawing/2014/main" id="{DF894EB8-0C80-45D1-80DE-82C384DE9E8A}"/>
              </a:ext>
            </a:extLst>
          </p:cNvPr>
          <p:cNvSpPr/>
          <p:nvPr/>
        </p:nvSpPr>
        <p:spPr>
          <a:xfrm>
            <a:off x="1320800" y="4277190"/>
            <a:ext cx="9626600" cy="2118529"/>
          </a:xfrm>
          <a:prstGeom prst="rect">
            <a:avLst/>
          </a:prstGeom>
        </p:spPr>
        <p:txBody>
          <a:bodyPr wrap="square">
            <a:spAutoFit/>
          </a:bodyPr>
          <a:lstStyle/>
          <a:p>
            <a:pPr algn="ctr">
              <a:lnSpc>
                <a:spcPct val="150000"/>
              </a:lnSpc>
            </a:pPr>
            <a:r>
              <a:rPr lang="en-GB" b="1" dirty="0">
                <a:latin typeface="Arial" panose="020B0604020202020204" pitchFamily="34" charset="0"/>
                <a:cs typeface="Arial" panose="020B0604020202020204" pitchFamily="34" charset="0"/>
              </a:rPr>
              <a:t>Filters used in this example</a:t>
            </a:r>
          </a:p>
          <a:p>
            <a:pPr marL="285750" indent="-285750">
              <a:lnSpc>
                <a:spcPct val="150000"/>
              </a:lnSpc>
              <a:buFont typeface="Arial" panose="020B0604020202020204" pitchFamily="34" charset="0"/>
              <a:buChar char="•"/>
            </a:pPr>
            <a:r>
              <a:rPr lang="en-GB" dirty="0">
                <a:latin typeface="Arial" panose="020B0604020202020204" pitchFamily="34" charset="0"/>
                <a:cs typeface="Arial" panose="020B0604020202020204" pitchFamily="34" charset="0"/>
              </a:rPr>
              <a:t>Genotype Quality less than 30.0: GQ &lt; 30 to tag variants with low genotype quality</a:t>
            </a:r>
          </a:p>
          <a:p>
            <a:pPr marL="285750" indent="-285750">
              <a:lnSpc>
                <a:spcPct val="150000"/>
              </a:lnSpc>
              <a:buFont typeface="Arial" panose="020B0604020202020204" pitchFamily="34" charset="0"/>
              <a:buChar char="•"/>
            </a:pPr>
            <a:r>
              <a:rPr lang="en-GB" dirty="0">
                <a:latin typeface="Arial" panose="020B0604020202020204" pitchFamily="34" charset="0"/>
                <a:cs typeface="Arial" panose="020B0604020202020204" pitchFamily="34" charset="0"/>
              </a:rPr>
              <a:t>Approximate read depth less than 6: DP &lt; 6 to tag variants with low read coverage</a:t>
            </a:r>
          </a:p>
          <a:p>
            <a:pPr marL="285750" indent="-285750">
              <a:lnSpc>
                <a:spcPct val="150000"/>
              </a:lnSpc>
              <a:buFont typeface="Arial" panose="020B0604020202020204" pitchFamily="34" charset="0"/>
              <a:buChar char="•"/>
            </a:pPr>
            <a:r>
              <a:rPr lang="en-GB" dirty="0">
                <a:latin typeface="Arial" panose="020B0604020202020204" pitchFamily="34" charset="0"/>
                <a:cs typeface="Arial" panose="020B0604020202020204" pitchFamily="34" charset="0"/>
              </a:rPr>
              <a:t>Quality of Depth less than 1.5: QD &lt; 1.5 to tag variants with low quality of depth</a:t>
            </a:r>
          </a:p>
          <a:p>
            <a:pPr marL="285750" indent="-285750">
              <a:lnSpc>
                <a:spcPct val="150000"/>
              </a:lnSpc>
              <a:buFont typeface="Arial" panose="020B0604020202020204" pitchFamily="34" charset="0"/>
              <a:buChar char="•"/>
            </a:pPr>
            <a:r>
              <a:rPr lang="en-GB" dirty="0">
                <a:latin typeface="Arial" panose="020B0604020202020204" pitchFamily="34" charset="0"/>
                <a:cs typeface="Arial" panose="020B0604020202020204" pitchFamily="34" charset="0"/>
              </a:rPr>
              <a:t>Strand Odds Ratio more than 10: SOR &gt; 10 to tag variants with strand bias</a:t>
            </a:r>
          </a:p>
        </p:txBody>
      </p:sp>
    </p:spTree>
    <p:extLst>
      <p:ext uri="{BB962C8B-B14F-4D97-AF65-F5344CB8AC3E}">
        <p14:creationId xmlns:p14="http://schemas.microsoft.com/office/powerpoint/2010/main" val="26966797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a:xfrm>
            <a:off x="838200" y="28237"/>
            <a:ext cx="10515600" cy="1325563"/>
          </a:xfrm>
        </p:spPr>
        <p:txBody>
          <a:bodyPr/>
          <a:lstStyle/>
          <a:p>
            <a:pPr algn="ctr"/>
            <a:r>
              <a:rPr lang="en-GB" dirty="0">
                <a:latin typeface="Arial" panose="020B0604020202020204" pitchFamily="34" charset="0"/>
                <a:cs typeface="Arial" panose="020B0604020202020204" pitchFamily="34" charset="0"/>
              </a:rPr>
              <a:t>Part 4 – Variant Calling</a:t>
            </a:r>
          </a:p>
        </p:txBody>
      </p:sp>
      <p:sp>
        <p:nvSpPr>
          <p:cNvPr id="6" name="Rectangle 5">
            <a:extLst>
              <a:ext uri="{FF2B5EF4-FFF2-40B4-BE49-F238E27FC236}">
                <a16:creationId xmlns:a16="http://schemas.microsoft.com/office/drawing/2014/main" id="{720E432D-A2B7-4B7C-B7C8-F7F57C04955F}"/>
              </a:ext>
            </a:extLst>
          </p:cNvPr>
          <p:cNvSpPr/>
          <p:nvPr/>
        </p:nvSpPr>
        <p:spPr>
          <a:xfrm>
            <a:off x="2749539" y="1092190"/>
            <a:ext cx="7484741" cy="523220"/>
          </a:xfrm>
          <a:prstGeom prst="rect">
            <a:avLst/>
          </a:prstGeom>
        </p:spPr>
        <p:txBody>
          <a:bodyPr wrap="none">
            <a:spAutoFit/>
          </a:bodyPr>
          <a:lstStyle/>
          <a:p>
            <a:r>
              <a:rPr lang="en-GB" sz="2800" dirty="0">
                <a:latin typeface="Arial" panose="020B0604020202020204" pitchFamily="34" charset="0"/>
                <a:cs typeface="Arial" panose="020B0604020202020204" pitchFamily="34" charset="0"/>
              </a:rPr>
              <a:t>Hard-Filtering of the previously called variants</a:t>
            </a:r>
          </a:p>
        </p:txBody>
      </p:sp>
      <p:sp>
        <p:nvSpPr>
          <p:cNvPr id="7" name="Content Placeholder 1">
            <a:extLst>
              <a:ext uri="{FF2B5EF4-FFF2-40B4-BE49-F238E27FC236}">
                <a16:creationId xmlns:a16="http://schemas.microsoft.com/office/drawing/2014/main" id="{B1148C08-A3D6-4FF4-AA4F-0BDB6B3A7E5C}"/>
              </a:ext>
            </a:extLst>
          </p:cNvPr>
          <p:cNvSpPr>
            <a:spLocks noGrp="1"/>
          </p:cNvSpPr>
          <p:nvPr>
            <p:ph idx="1"/>
          </p:nvPr>
        </p:nvSpPr>
        <p:spPr>
          <a:xfrm>
            <a:off x="190831" y="1825625"/>
            <a:ext cx="11774523" cy="2474232"/>
          </a:xfrm>
        </p:spPr>
        <p:txBody>
          <a:bodyPr>
            <a:normAutofit/>
          </a:bodyPr>
          <a:lstStyle/>
          <a:p>
            <a:pPr>
              <a:buFont typeface="Wingdings" panose="05000000000000000000" pitchFamily="2" charset="2"/>
              <a:buChar char="Ø"/>
            </a:pPr>
            <a:r>
              <a:rPr lang="en-GB" sz="2400" dirty="0">
                <a:latin typeface="Arial" panose="020B0604020202020204" pitchFamily="34" charset="0"/>
                <a:cs typeface="Arial" panose="020B0604020202020204" pitchFamily="34" charset="0"/>
              </a:rPr>
              <a:t>At the Linux terminal type:</a:t>
            </a:r>
          </a:p>
          <a:p>
            <a:pPr marL="457200" lvl="1" indent="0">
              <a:spcBef>
                <a:spcPts val="1800"/>
              </a:spcBef>
              <a:spcAft>
                <a:spcPts val="300"/>
              </a:spcAft>
              <a:buNone/>
            </a:pPr>
            <a:r>
              <a:rPr lang="en-GB" sz="1800" dirty="0">
                <a:solidFill>
                  <a:srgbClr val="0070C0"/>
                </a:solidFill>
                <a:latin typeface="Consolas" panose="020B0609020204030204" pitchFamily="49" charset="0"/>
              </a:rPr>
              <a:t>java</a:t>
            </a:r>
            <a:r>
              <a:rPr lang="en-GB" sz="1800" dirty="0">
                <a:latin typeface="Consolas" panose="020B0609020204030204" pitchFamily="49" charset="0"/>
              </a:rPr>
              <a:t> -jar </a:t>
            </a:r>
            <a:r>
              <a:rPr lang="en-GB" sz="1800" dirty="0" err="1">
                <a:solidFill>
                  <a:srgbClr val="0070C0"/>
                </a:solidFill>
                <a:latin typeface="Consolas" panose="020B0609020204030204" pitchFamily="49" charset="0"/>
              </a:rPr>
              <a:t>software_update</a:t>
            </a:r>
            <a:r>
              <a:rPr lang="en-GB" sz="1800" dirty="0">
                <a:solidFill>
                  <a:srgbClr val="0070C0"/>
                </a:solidFill>
                <a:latin typeface="Consolas" panose="020B0609020204030204" pitchFamily="49" charset="0"/>
              </a:rPr>
              <a:t>/gatk-package-4.0.4.0-local.jar</a:t>
            </a:r>
            <a:r>
              <a:rPr lang="en-GB" sz="1800" dirty="0">
                <a:latin typeface="Consolas" panose="020B0609020204030204" pitchFamily="49" charset="0"/>
              </a:rPr>
              <a:t> </a:t>
            </a:r>
            <a:r>
              <a:rPr lang="en-GB" sz="1800" dirty="0" err="1">
                <a:latin typeface="Consolas" panose="020B0609020204030204" pitchFamily="49" charset="0"/>
              </a:rPr>
              <a:t>VariantFiltration</a:t>
            </a:r>
            <a:r>
              <a:rPr lang="en-GB" sz="1800" dirty="0">
                <a:latin typeface="Consolas" panose="020B0609020204030204" pitchFamily="49" charset="0"/>
              </a:rPr>
              <a:t> </a:t>
            </a:r>
            <a:br>
              <a:rPr lang="en-GB" sz="1800" dirty="0">
                <a:latin typeface="Consolas" panose="020B0609020204030204" pitchFamily="49" charset="0"/>
              </a:rPr>
            </a:br>
            <a:r>
              <a:rPr lang="en-GB" sz="1800" dirty="0">
                <a:latin typeface="Consolas" panose="020B0609020204030204" pitchFamily="49" charset="0"/>
              </a:rPr>
              <a:t>-V sample1.vcf -R reference/</a:t>
            </a:r>
            <a:r>
              <a:rPr lang="en-GB" sz="1800" dirty="0" err="1">
                <a:latin typeface="Consolas" panose="020B0609020204030204" pitchFamily="49" charset="0"/>
              </a:rPr>
              <a:t>chrM.fa</a:t>
            </a:r>
            <a:r>
              <a:rPr lang="en-GB" sz="1800" dirty="0">
                <a:latin typeface="Consolas" panose="020B0609020204030204" pitchFamily="49" charset="0"/>
              </a:rPr>
              <a:t> </a:t>
            </a:r>
            <a:br>
              <a:rPr lang="en-GB" sz="1800" dirty="0">
                <a:latin typeface="Consolas" panose="020B0609020204030204" pitchFamily="49" charset="0"/>
              </a:rPr>
            </a:br>
            <a:r>
              <a:rPr lang="en-GB" sz="1800" dirty="0">
                <a:latin typeface="Consolas" panose="020B0609020204030204" pitchFamily="49" charset="0"/>
              </a:rPr>
              <a:t>--genotype-filter-expression "GQ &lt; 30.0“ --genotype-filter-name "</a:t>
            </a:r>
            <a:r>
              <a:rPr lang="en-GB" sz="1800" dirty="0" err="1">
                <a:latin typeface="Consolas" panose="020B0609020204030204" pitchFamily="49" charset="0"/>
              </a:rPr>
              <a:t>LowGQ</a:t>
            </a:r>
            <a:r>
              <a:rPr lang="en-GB" sz="1800" dirty="0">
                <a:latin typeface="Consolas" panose="020B0609020204030204" pitchFamily="49" charset="0"/>
              </a:rPr>
              <a:t>" \</a:t>
            </a:r>
            <a:br>
              <a:rPr lang="en-GB" sz="1800" dirty="0">
                <a:latin typeface="Consolas" panose="020B0609020204030204" pitchFamily="49" charset="0"/>
              </a:rPr>
            </a:br>
            <a:r>
              <a:rPr lang="en-GB" sz="1800" dirty="0">
                <a:latin typeface="Consolas" panose="020B0609020204030204" pitchFamily="49" charset="0"/>
              </a:rPr>
              <a:t>--filter-expression "QD &lt; 1.5" --filter-name "</a:t>
            </a:r>
            <a:r>
              <a:rPr lang="en-GB" sz="1800" dirty="0" err="1">
                <a:latin typeface="Consolas" panose="020B0609020204030204" pitchFamily="49" charset="0"/>
              </a:rPr>
              <a:t>LowQD</a:t>
            </a:r>
            <a:r>
              <a:rPr lang="en-GB" sz="1800" dirty="0">
                <a:latin typeface="Consolas" panose="020B0609020204030204" pitchFamily="49" charset="0"/>
              </a:rPr>
              <a:t>"</a:t>
            </a:r>
            <a:br>
              <a:rPr lang="en-GB" sz="1800" dirty="0">
                <a:latin typeface="Consolas" panose="020B0609020204030204" pitchFamily="49" charset="0"/>
              </a:rPr>
            </a:br>
            <a:r>
              <a:rPr lang="en-GB" sz="1800" dirty="0">
                <a:latin typeface="Consolas" panose="020B0609020204030204" pitchFamily="49" charset="0"/>
              </a:rPr>
              <a:t>--filter-expression "DP &lt; 6" --filter-name "</a:t>
            </a:r>
            <a:r>
              <a:rPr lang="en-GB" sz="1800" dirty="0" err="1">
                <a:latin typeface="Consolas" panose="020B0609020204030204" pitchFamily="49" charset="0"/>
              </a:rPr>
              <a:t>LowCoverage</a:t>
            </a:r>
            <a:r>
              <a:rPr lang="en-GB" sz="1800" dirty="0">
                <a:latin typeface="Consolas" panose="020B0609020204030204" pitchFamily="49" charset="0"/>
              </a:rPr>
              <a:t>" \</a:t>
            </a:r>
            <a:br>
              <a:rPr lang="en-GB" sz="1800" dirty="0">
                <a:latin typeface="Consolas" panose="020B0609020204030204" pitchFamily="49" charset="0"/>
              </a:rPr>
            </a:br>
            <a:r>
              <a:rPr lang="en-GB" sz="1800" dirty="0">
                <a:latin typeface="Consolas" panose="020B0609020204030204" pitchFamily="49" charset="0"/>
              </a:rPr>
              <a:t>--filter-expression "SOR &gt; 10.0" --filter-name "</a:t>
            </a:r>
            <a:r>
              <a:rPr lang="en-GB" sz="1800" dirty="0" err="1">
                <a:latin typeface="Consolas" panose="020B0609020204030204" pitchFamily="49" charset="0"/>
              </a:rPr>
              <a:t>StrandBias</a:t>
            </a:r>
            <a:r>
              <a:rPr lang="en-GB" sz="1800" dirty="0">
                <a:latin typeface="Consolas" panose="020B0609020204030204" pitchFamily="49" charset="0"/>
              </a:rPr>
              <a:t>" -O sample1.filtered.vcf</a:t>
            </a:r>
            <a:endParaRPr lang="en-GB" sz="3200" dirty="0">
              <a:latin typeface="Garamond" panose="02020404030301010803" pitchFamily="18" charset="0"/>
            </a:endParaRPr>
          </a:p>
        </p:txBody>
      </p:sp>
      <p:pic>
        <p:nvPicPr>
          <p:cNvPr id="8" name="Picture 7">
            <a:extLst>
              <a:ext uri="{FF2B5EF4-FFF2-40B4-BE49-F238E27FC236}">
                <a16:creationId xmlns:a16="http://schemas.microsoft.com/office/drawing/2014/main" id="{6EB8D7C7-8A3B-42D1-861C-092B47562702}"/>
              </a:ext>
            </a:extLst>
          </p:cNvPr>
          <p:cNvPicPr>
            <a:picLocks noChangeAspect="1"/>
          </p:cNvPicPr>
          <p:nvPr/>
        </p:nvPicPr>
        <p:blipFill rotWithShape="1">
          <a:blip r:embed="rId2">
            <a:extLst>
              <a:ext uri="{28A0092B-C50C-407E-A947-70E740481C1C}">
                <a14:useLocalDpi xmlns:a14="http://schemas.microsoft.com/office/drawing/2010/main" val="0"/>
              </a:ext>
            </a:extLst>
          </a:blip>
          <a:srcRect l="9321" t="13149" r="2214" b="18057"/>
          <a:stretch/>
        </p:blipFill>
        <p:spPr>
          <a:xfrm>
            <a:off x="838200" y="4050747"/>
            <a:ext cx="6374677" cy="2726486"/>
          </a:xfrm>
          <a:prstGeom prst="rect">
            <a:avLst/>
          </a:prstGeom>
        </p:spPr>
      </p:pic>
      <p:cxnSp>
        <p:nvCxnSpPr>
          <p:cNvPr id="10" name="Straight Arrow Connector 9">
            <a:extLst>
              <a:ext uri="{FF2B5EF4-FFF2-40B4-BE49-F238E27FC236}">
                <a16:creationId xmlns:a16="http://schemas.microsoft.com/office/drawing/2014/main" id="{9EAFCF44-120B-4AFD-BD87-EE28BC6584BE}"/>
              </a:ext>
            </a:extLst>
          </p:cNvPr>
          <p:cNvCxnSpPr/>
          <p:nvPr/>
        </p:nvCxnSpPr>
        <p:spPr>
          <a:xfrm flipV="1">
            <a:off x="3903619" y="5316567"/>
            <a:ext cx="174171" cy="14673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4614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DB150-277E-5A02-3EC0-EFECF841B8F2}"/>
              </a:ext>
            </a:extLst>
          </p:cNvPr>
          <p:cNvSpPr>
            <a:spLocks noGrp="1"/>
          </p:cNvSpPr>
          <p:nvPr>
            <p:ph type="title"/>
          </p:nvPr>
        </p:nvSpPr>
        <p:spPr/>
        <p:txBody>
          <a:bodyPr/>
          <a:lstStyle/>
          <a:p>
            <a:r>
              <a:rPr lang="en-GB" b="1" dirty="0"/>
              <a:t>VCF File</a:t>
            </a:r>
          </a:p>
        </p:txBody>
      </p:sp>
      <p:sp>
        <p:nvSpPr>
          <p:cNvPr id="3" name="TextBox 2">
            <a:extLst>
              <a:ext uri="{FF2B5EF4-FFF2-40B4-BE49-F238E27FC236}">
                <a16:creationId xmlns:a16="http://schemas.microsoft.com/office/drawing/2014/main" id="{DE969861-C19B-02DF-B0DF-857545F48765}"/>
              </a:ext>
            </a:extLst>
          </p:cNvPr>
          <p:cNvSpPr txBox="1"/>
          <p:nvPr/>
        </p:nvSpPr>
        <p:spPr>
          <a:xfrm>
            <a:off x="6877455" y="6377166"/>
            <a:ext cx="5120697" cy="369332"/>
          </a:xfrm>
          <a:prstGeom prst="rect">
            <a:avLst/>
          </a:prstGeom>
          <a:noFill/>
        </p:spPr>
        <p:txBody>
          <a:bodyPr wrap="none" rtlCol="0">
            <a:spAutoFit/>
          </a:bodyPr>
          <a:lstStyle/>
          <a:p>
            <a:r>
              <a:rPr lang="en-GB" dirty="0"/>
              <a:t>Get more information about VCF format </a:t>
            </a:r>
            <a:r>
              <a:rPr lang="en-GB" dirty="0">
                <a:hlinkClick r:id="rId2"/>
              </a:rPr>
              <a:t>VCFv4.2.pdf</a:t>
            </a:r>
            <a:endParaRPr lang="en-GB" dirty="0"/>
          </a:p>
        </p:txBody>
      </p:sp>
      <p:pic>
        <p:nvPicPr>
          <p:cNvPr id="5" name="Picture 4">
            <a:extLst>
              <a:ext uri="{FF2B5EF4-FFF2-40B4-BE49-F238E27FC236}">
                <a16:creationId xmlns:a16="http://schemas.microsoft.com/office/drawing/2014/main" id="{1D38D30C-4E80-118B-CEE2-2345310983D2}"/>
              </a:ext>
            </a:extLst>
          </p:cNvPr>
          <p:cNvPicPr>
            <a:picLocks noChangeAspect="1"/>
          </p:cNvPicPr>
          <p:nvPr/>
        </p:nvPicPr>
        <p:blipFill>
          <a:blip r:embed="rId3"/>
          <a:srcRect b="6916"/>
          <a:stretch>
            <a:fillRect/>
          </a:stretch>
        </p:blipFill>
        <p:spPr>
          <a:xfrm>
            <a:off x="1745451" y="1541307"/>
            <a:ext cx="8478433" cy="2952870"/>
          </a:xfrm>
          <a:prstGeom prst="rect">
            <a:avLst/>
          </a:prstGeom>
        </p:spPr>
      </p:pic>
      <p:cxnSp>
        <p:nvCxnSpPr>
          <p:cNvPr id="4" name="Straight Arrow Connector 3">
            <a:extLst>
              <a:ext uri="{FF2B5EF4-FFF2-40B4-BE49-F238E27FC236}">
                <a16:creationId xmlns:a16="http://schemas.microsoft.com/office/drawing/2014/main" id="{BC04654C-D21F-BC07-C826-46DE8F4F53A8}"/>
              </a:ext>
            </a:extLst>
          </p:cNvPr>
          <p:cNvCxnSpPr>
            <a:cxnSpLocks/>
          </p:cNvCxnSpPr>
          <p:nvPr/>
        </p:nvCxnSpPr>
        <p:spPr>
          <a:xfrm>
            <a:off x="9602507" y="3130263"/>
            <a:ext cx="0" cy="69133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FE8FB66-0654-FE38-86F4-6E7645B22854}"/>
              </a:ext>
            </a:extLst>
          </p:cNvPr>
          <p:cNvSpPr txBox="1"/>
          <p:nvPr/>
        </p:nvSpPr>
        <p:spPr>
          <a:xfrm>
            <a:off x="8704319" y="2785893"/>
            <a:ext cx="2032153" cy="369332"/>
          </a:xfrm>
          <a:prstGeom prst="rect">
            <a:avLst/>
          </a:prstGeom>
          <a:noFill/>
        </p:spPr>
        <p:txBody>
          <a:bodyPr wrap="square" rtlCol="0">
            <a:spAutoFit/>
          </a:bodyPr>
          <a:lstStyle/>
          <a:p>
            <a:pPr algn="ctr"/>
            <a:r>
              <a:rPr lang="en-GB" dirty="0"/>
              <a:t>Sample IDs</a:t>
            </a:r>
          </a:p>
        </p:txBody>
      </p:sp>
      <p:cxnSp>
        <p:nvCxnSpPr>
          <p:cNvPr id="7" name="Straight Arrow Connector 6">
            <a:extLst>
              <a:ext uri="{FF2B5EF4-FFF2-40B4-BE49-F238E27FC236}">
                <a16:creationId xmlns:a16="http://schemas.microsoft.com/office/drawing/2014/main" id="{D8E2223E-51B8-3CB0-0688-6861E85C542B}"/>
              </a:ext>
            </a:extLst>
          </p:cNvPr>
          <p:cNvCxnSpPr>
            <a:cxnSpLocks/>
          </p:cNvCxnSpPr>
          <p:nvPr/>
        </p:nvCxnSpPr>
        <p:spPr>
          <a:xfrm>
            <a:off x="8704319" y="3307403"/>
            <a:ext cx="0" cy="5113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8F84224-D6CC-33E4-2A19-A3ADC1F79D69}"/>
              </a:ext>
            </a:extLst>
          </p:cNvPr>
          <p:cNvCxnSpPr>
            <a:cxnSpLocks/>
          </p:cNvCxnSpPr>
          <p:nvPr/>
        </p:nvCxnSpPr>
        <p:spPr>
          <a:xfrm>
            <a:off x="7838558" y="3307403"/>
            <a:ext cx="0" cy="5113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E7EAB7-C1CC-2742-5274-0C3247343452}"/>
              </a:ext>
            </a:extLst>
          </p:cNvPr>
          <p:cNvCxnSpPr/>
          <p:nvPr/>
        </p:nvCxnSpPr>
        <p:spPr>
          <a:xfrm>
            <a:off x="7838558" y="3307403"/>
            <a:ext cx="176394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FB0EAA38-326D-702C-E243-388EF4141283}"/>
              </a:ext>
            </a:extLst>
          </p:cNvPr>
          <p:cNvSpPr/>
          <p:nvPr/>
        </p:nvSpPr>
        <p:spPr>
          <a:xfrm>
            <a:off x="6877455" y="4319015"/>
            <a:ext cx="1663430" cy="175127"/>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Arrow Connector 13">
            <a:extLst>
              <a:ext uri="{FF2B5EF4-FFF2-40B4-BE49-F238E27FC236}">
                <a16:creationId xmlns:a16="http://schemas.microsoft.com/office/drawing/2014/main" id="{92E3BC31-228D-A58E-322B-8DBAC58C5CF2}"/>
              </a:ext>
            </a:extLst>
          </p:cNvPr>
          <p:cNvCxnSpPr>
            <a:cxnSpLocks/>
          </p:cNvCxnSpPr>
          <p:nvPr/>
        </p:nvCxnSpPr>
        <p:spPr>
          <a:xfrm flipH="1">
            <a:off x="6207335" y="4494142"/>
            <a:ext cx="670120" cy="1008346"/>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2EAE4A5-FA79-0B82-DBCF-1F6841C1E3FD}"/>
              </a:ext>
            </a:extLst>
          </p:cNvPr>
          <p:cNvSpPr txBox="1"/>
          <p:nvPr/>
        </p:nvSpPr>
        <p:spPr>
          <a:xfrm>
            <a:off x="2722309" y="5556244"/>
            <a:ext cx="3435556" cy="369332"/>
          </a:xfrm>
          <a:prstGeom prst="rect">
            <a:avLst/>
          </a:prstGeom>
          <a:noFill/>
        </p:spPr>
        <p:txBody>
          <a:bodyPr wrap="none" rtlCol="0">
            <a:spAutoFit/>
          </a:bodyPr>
          <a:lstStyle/>
          <a:p>
            <a:r>
              <a:rPr lang="en-GB" dirty="0"/>
              <a:t>GT:GQ:DP:HQ	0|0:54:7:56,60</a:t>
            </a:r>
          </a:p>
        </p:txBody>
      </p:sp>
      <p:sp>
        <p:nvSpPr>
          <p:cNvPr id="17" name="Rectangle 16">
            <a:extLst>
              <a:ext uri="{FF2B5EF4-FFF2-40B4-BE49-F238E27FC236}">
                <a16:creationId xmlns:a16="http://schemas.microsoft.com/office/drawing/2014/main" id="{2A35BD73-1296-E914-377C-0BC1D3E68502}"/>
              </a:ext>
            </a:extLst>
          </p:cNvPr>
          <p:cNvSpPr/>
          <p:nvPr/>
        </p:nvSpPr>
        <p:spPr>
          <a:xfrm>
            <a:off x="2672838" y="5502488"/>
            <a:ext cx="3534497" cy="476844"/>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CA047C6E-2716-60F6-7747-92E7AE249A0A}"/>
              </a:ext>
            </a:extLst>
          </p:cNvPr>
          <p:cNvSpPr txBox="1"/>
          <p:nvPr/>
        </p:nvSpPr>
        <p:spPr>
          <a:xfrm>
            <a:off x="210383" y="5066339"/>
            <a:ext cx="6528476" cy="369332"/>
          </a:xfrm>
          <a:prstGeom prst="rect">
            <a:avLst/>
          </a:prstGeom>
          <a:noFill/>
        </p:spPr>
        <p:txBody>
          <a:bodyPr wrap="square" rtlCol="0">
            <a:spAutoFit/>
          </a:bodyPr>
          <a:lstStyle/>
          <a:p>
            <a:pPr algn="ctr"/>
            <a:r>
              <a:rPr lang="en-GB" dirty="0"/>
              <a:t>Genotype : Genotype Quality : Depth : Haplotype Quality</a:t>
            </a:r>
          </a:p>
        </p:txBody>
      </p:sp>
    </p:spTree>
    <p:extLst>
      <p:ext uri="{BB962C8B-B14F-4D97-AF65-F5344CB8AC3E}">
        <p14:creationId xmlns:p14="http://schemas.microsoft.com/office/powerpoint/2010/main" val="132727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1DC40711-18E4-40D5-9AC3-0E6445F8EC69}"/>
              </a:ext>
            </a:extLst>
          </p:cNvPr>
          <p:cNvSpPr>
            <a:spLocks noGrp="1"/>
          </p:cNvSpPr>
          <p:nvPr>
            <p:ph type="title"/>
          </p:nvPr>
        </p:nvSpPr>
        <p:spPr>
          <a:xfrm>
            <a:off x="838200" y="0"/>
            <a:ext cx="10515600" cy="1325563"/>
          </a:xfrm>
        </p:spPr>
        <p:txBody>
          <a:bodyPr/>
          <a:lstStyle/>
          <a:p>
            <a:pPr algn="ctr"/>
            <a:r>
              <a:rPr lang="en-GB" dirty="0">
                <a:latin typeface="Arial" panose="020B0604020202020204" pitchFamily="34" charset="0"/>
                <a:cs typeface="Arial" panose="020B0604020202020204" pitchFamily="34" charset="0"/>
              </a:rPr>
              <a:t>Part 5 – Functional Annotation</a:t>
            </a:r>
          </a:p>
        </p:txBody>
      </p:sp>
      <p:sp>
        <p:nvSpPr>
          <p:cNvPr id="2" name="TextBox 1">
            <a:extLst>
              <a:ext uri="{FF2B5EF4-FFF2-40B4-BE49-F238E27FC236}">
                <a16:creationId xmlns:a16="http://schemas.microsoft.com/office/drawing/2014/main" id="{8A916133-89B7-9C24-0192-EAE9DC64C820}"/>
              </a:ext>
            </a:extLst>
          </p:cNvPr>
          <p:cNvSpPr txBox="1"/>
          <p:nvPr/>
        </p:nvSpPr>
        <p:spPr>
          <a:xfrm>
            <a:off x="2021693" y="2199767"/>
            <a:ext cx="4575291" cy="707886"/>
          </a:xfrm>
          <a:prstGeom prst="rect">
            <a:avLst/>
          </a:prstGeom>
          <a:noFill/>
        </p:spPr>
        <p:txBody>
          <a:bodyPr wrap="none" rtlCol="0">
            <a:spAutoFit/>
          </a:bodyPr>
          <a:lstStyle/>
          <a:p>
            <a:r>
              <a:rPr lang="en-GB" sz="4000" dirty="0"/>
              <a:t>chr7:100807375 G&gt;A</a:t>
            </a:r>
          </a:p>
        </p:txBody>
      </p:sp>
      <p:pic>
        <p:nvPicPr>
          <p:cNvPr id="4" name="Graphic 3" descr="Question Mark with solid fill">
            <a:extLst>
              <a:ext uri="{FF2B5EF4-FFF2-40B4-BE49-F238E27FC236}">
                <a16:creationId xmlns:a16="http://schemas.microsoft.com/office/drawing/2014/main" id="{B4FC1869-105B-9DC4-6CB1-4E2E93B412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68342" y="1786424"/>
            <a:ext cx="1642575" cy="1642575"/>
          </a:xfrm>
          <a:prstGeom prst="rect">
            <a:avLst/>
          </a:prstGeom>
        </p:spPr>
      </p:pic>
      <p:pic>
        <p:nvPicPr>
          <p:cNvPr id="6" name="Picture 5">
            <a:extLst>
              <a:ext uri="{FF2B5EF4-FFF2-40B4-BE49-F238E27FC236}">
                <a16:creationId xmlns:a16="http://schemas.microsoft.com/office/drawing/2014/main" id="{5BC9044D-DB96-3897-DAFE-AFC911D1A21D}"/>
              </a:ext>
            </a:extLst>
          </p:cNvPr>
          <p:cNvPicPr>
            <a:picLocks noChangeAspect="1"/>
          </p:cNvPicPr>
          <p:nvPr/>
        </p:nvPicPr>
        <p:blipFill>
          <a:blip r:embed="rId4"/>
          <a:stretch>
            <a:fillRect/>
          </a:stretch>
        </p:blipFill>
        <p:spPr>
          <a:xfrm>
            <a:off x="621322" y="4807718"/>
            <a:ext cx="2800741" cy="1276528"/>
          </a:xfrm>
          <a:prstGeom prst="rect">
            <a:avLst/>
          </a:prstGeom>
        </p:spPr>
      </p:pic>
      <p:pic>
        <p:nvPicPr>
          <p:cNvPr id="9" name="Picture 8">
            <a:extLst>
              <a:ext uri="{FF2B5EF4-FFF2-40B4-BE49-F238E27FC236}">
                <a16:creationId xmlns:a16="http://schemas.microsoft.com/office/drawing/2014/main" id="{111900A3-A2AD-19A7-F9A0-A6EB22124C41}"/>
              </a:ext>
            </a:extLst>
          </p:cNvPr>
          <p:cNvPicPr>
            <a:picLocks noChangeAspect="1"/>
          </p:cNvPicPr>
          <p:nvPr/>
        </p:nvPicPr>
        <p:blipFill>
          <a:blip r:embed="rId5"/>
          <a:stretch>
            <a:fillRect/>
          </a:stretch>
        </p:blipFill>
        <p:spPr>
          <a:xfrm>
            <a:off x="3857376" y="5017297"/>
            <a:ext cx="3562847" cy="857370"/>
          </a:xfrm>
          <a:prstGeom prst="rect">
            <a:avLst/>
          </a:prstGeom>
        </p:spPr>
      </p:pic>
      <p:pic>
        <p:nvPicPr>
          <p:cNvPr id="13" name="Picture 12">
            <a:extLst>
              <a:ext uri="{FF2B5EF4-FFF2-40B4-BE49-F238E27FC236}">
                <a16:creationId xmlns:a16="http://schemas.microsoft.com/office/drawing/2014/main" id="{E6489B79-E342-428C-1465-216915F5C207}"/>
              </a:ext>
            </a:extLst>
          </p:cNvPr>
          <p:cNvPicPr>
            <a:picLocks noChangeAspect="1"/>
          </p:cNvPicPr>
          <p:nvPr/>
        </p:nvPicPr>
        <p:blipFill>
          <a:blip r:embed="rId6"/>
          <a:stretch>
            <a:fillRect/>
          </a:stretch>
        </p:blipFill>
        <p:spPr>
          <a:xfrm>
            <a:off x="7420223" y="4372501"/>
            <a:ext cx="4406952" cy="1936485"/>
          </a:xfrm>
          <a:prstGeom prst="rect">
            <a:avLst/>
          </a:prstGeom>
        </p:spPr>
      </p:pic>
      <p:sp>
        <p:nvSpPr>
          <p:cNvPr id="19" name="TextBox 18">
            <a:extLst>
              <a:ext uri="{FF2B5EF4-FFF2-40B4-BE49-F238E27FC236}">
                <a16:creationId xmlns:a16="http://schemas.microsoft.com/office/drawing/2014/main" id="{71935E0D-FD04-26D4-51F8-A52D1D71081C}"/>
              </a:ext>
            </a:extLst>
          </p:cNvPr>
          <p:cNvSpPr txBox="1"/>
          <p:nvPr/>
        </p:nvSpPr>
        <p:spPr>
          <a:xfrm>
            <a:off x="718457" y="3777809"/>
            <a:ext cx="2538965" cy="400110"/>
          </a:xfrm>
          <a:prstGeom prst="rect">
            <a:avLst/>
          </a:prstGeom>
          <a:noFill/>
        </p:spPr>
        <p:txBody>
          <a:bodyPr wrap="none" rtlCol="0">
            <a:spAutoFit/>
          </a:bodyPr>
          <a:lstStyle/>
          <a:p>
            <a:r>
              <a:rPr lang="en-GB" sz="2000" dirty="0"/>
              <a:t>Web based resources :</a:t>
            </a:r>
          </a:p>
        </p:txBody>
      </p:sp>
    </p:spTree>
    <p:extLst>
      <p:ext uri="{BB962C8B-B14F-4D97-AF65-F5344CB8AC3E}">
        <p14:creationId xmlns:p14="http://schemas.microsoft.com/office/powerpoint/2010/main" val="14617073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661C8-CF5D-A912-8FA7-5A58E81123AF}"/>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AD263008-0D99-4420-9C11-9391382AE3AA}"/>
              </a:ext>
            </a:extLst>
          </p:cNvPr>
          <p:cNvSpPr>
            <a:spLocks noGrp="1"/>
          </p:cNvSpPr>
          <p:nvPr>
            <p:ph type="title"/>
          </p:nvPr>
        </p:nvSpPr>
        <p:spPr>
          <a:xfrm>
            <a:off x="838200" y="0"/>
            <a:ext cx="10515600" cy="1325563"/>
          </a:xfrm>
        </p:spPr>
        <p:txBody>
          <a:bodyPr/>
          <a:lstStyle/>
          <a:p>
            <a:pPr algn="ctr"/>
            <a:r>
              <a:rPr lang="en-GB" dirty="0">
                <a:latin typeface="Arial" panose="020B0604020202020204" pitchFamily="34" charset="0"/>
                <a:cs typeface="Arial" panose="020B0604020202020204" pitchFamily="34" charset="0"/>
              </a:rPr>
              <a:t>Part 5 – Functional Annotation</a:t>
            </a:r>
          </a:p>
        </p:txBody>
      </p:sp>
      <p:sp>
        <p:nvSpPr>
          <p:cNvPr id="2" name="TextBox 1">
            <a:extLst>
              <a:ext uri="{FF2B5EF4-FFF2-40B4-BE49-F238E27FC236}">
                <a16:creationId xmlns:a16="http://schemas.microsoft.com/office/drawing/2014/main" id="{AA2F7FA0-EB7B-1A6F-802C-FF06D27B3AA8}"/>
              </a:ext>
            </a:extLst>
          </p:cNvPr>
          <p:cNvSpPr txBox="1"/>
          <p:nvPr/>
        </p:nvSpPr>
        <p:spPr>
          <a:xfrm>
            <a:off x="4615542" y="1354451"/>
            <a:ext cx="2382383" cy="400110"/>
          </a:xfrm>
          <a:prstGeom prst="rect">
            <a:avLst/>
          </a:prstGeom>
          <a:noFill/>
        </p:spPr>
        <p:txBody>
          <a:bodyPr wrap="none" rtlCol="0">
            <a:spAutoFit/>
          </a:bodyPr>
          <a:lstStyle/>
          <a:p>
            <a:r>
              <a:rPr lang="en-GB" sz="2000" dirty="0"/>
              <a:t>chr7:100807375 G&gt;A</a:t>
            </a:r>
          </a:p>
        </p:txBody>
      </p:sp>
      <p:pic>
        <p:nvPicPr>
          <p:cNvPr id="4" name="Graphic 3" descr="Question Mark with solid fill">
            <a:extLst>
              <a:ext uri="{FF2B5EF4-FFF2-40B4-BE49-F238E27FC236}">
                <a16:creationId xmlns:a16="http://schemas.microsoft.com/office/drawing/2014/main" id="{8C43F3AD-7DE7-508B-6659-6F34004B90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34764" y="1172554"/>
            <a:ext cx="763903" cy="763903"/>
          </a:xfrm>
          <a:prstGeom prst="rect">
            <a:avLst/>
          </a:prstGeom>
        </p:spPr>
      </p:pic>
      <p:sp>
        <p:nvSpPr>
          <p:cNvPr id="3" name="TextBox 2">
            <a:extLst>
              <a:ext uri="{FF2B5EF4-FFF2-40B4-BE49-F238E27FC236}">
                <a16:creationId xmlns:a16="http://schemas.microsoft.com/office/drawing/2014/main" id="{FDF06076-8C58-D680-B398-184469EC3A38}"/>
              </a:ext>
            </a:extLst>
          </p:cNvPr>
          <p:cNvSpPr txBox="1"/>
          <p:nvPr/>
        </p:nvSpPr>
        <p:spPr>
          <a:xfrm>
            <a:off x="1400110" y="1910101"/>
            <a:ext cx="2353016" cy="369332"/>
          </a:xfrm>
          <a:prstGeom prst="rect">
            <a:avLst/>
          </a:prstGeom>
          <a:noFill/>
        </p:spPr>
        <p:txBody>
          <a:bodyPr wrap="none" rtlCol="0">
            <a:spAutoFit/>
          </a:bodyPr>
          <a:lstStyle/>
          <a:p>
            <a:pPr marL="285750" indent="-285750">
              <a:buFont typeface="Wingdings" panose="05000000000000000000" pitchFamily="2" charset="2"/>
              <a:buChar char="Ø"/>
            </a:pPr>
            <a:r>
              <a:rPr lang="en-GB" dirty="0"/>
              <a:t>What is the impact?</a:t>
            </a:r>
          </a:p>
        </p:txBody>
      </p:sp>
      <p:pic>
        <p:nvPicPr>
          <p:cNvPr id="7" name="Picture 6">
            <a:extLst>
              <a:ext uri="{FF2B5EF4-FFF2-40B4-BE49-F238E27FC236}">
                <a16:creationId xmlns:a16="http://schemas.microsoft.com/office/drawing/2014/main" id="{F86C6000-5CFE-92B3-8E6B-93D9C649DAB3}"/>
              </a:ext>
            </a:extLst>
          </p:cNvPr>
          <p:cNvPicPr>
            <a:picLocks noChangeAspect="1"/>
          </p:cNvPicPr>
          <p:nvPr/>
        </p:nvPicPr>
        <p:blipFill>
          <a:blip r:embed="rId4"/>
          <a:stretch>
            <a:fillRect/>
          </a:stretch>
        </p:blipFill>
        <p:spPr>
          <a:xfrm>
            <a:off x="2389909" y="2520995"/>
            <a:ext cx="8293018" cy="3496330"/>
          </a:xfrm>
          <a:prstGeom prst="rect">
            <a:avLst/>
          </a:prstGeom>
        </p:spPr>
      </p:pic>
      <p:sp>
        <p:nvSpPr>
          <p:cNvPr id="10" name="TextBox 9">
            <a:extLst>
              <a:ext uri="{FF2B5EF4-FFF2-40B4-BE49-F238E27FC236}">
                <a16:creationId xmlns:a16="http://schemas.microsoft.com/office/drawing/2014/main" id="{0D558B3B-937A-70D6-AFCA-87B3F19B87B7}"/>
              </a:ext>
            </a:extLst>
          </p:cNvPr>
          <p:cNvSpPr txBox="1"/>
          <p:nvPr/>
        </p:nvSpPr>
        <p:spPr>
          <a:xfrm>
            <a:off x="8857508" y="6017325"/>
            <a:ext cx="2712602" cy="369332"/>
          </a:xfrm>
          <a:prstGeom prst="rect">
            <a:avLst/>
          </a:prstGeom>
          <a:noFill/>
        </p:spPr>
        <p:txBody>
          <a:bodyPr wrap="none" rtlCol="0">
            <a:spAutoFit/>
          </a:bodyPr>
          <a:lstStyle/>
          <a:p>
            <a:r>
              <a:rPr lang="en-GB" dirty="0"/>
              <a:t>https://www.ensembl.org/</a:t>
            </a:r>
          </a:p>
        </p:txBody>
      </p:sp>
    </p:spTree>
    <p:extLst>
      <p:ext uri="{BB962C8B-B14F-4D97-AF65-F5344CB8AC3E}">
        <p14:creationId xmlns:p14="http://schemas.microsoft.com/office/powerpoint/2010/main" val="7173567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2BA4-3561-9586-A3FA-C66A1645948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6242EB9-9E69-9F89-FDC8-0B3AC2EDD5F5}"/>
              </a:ext>
            </a:extLst>
          </p:cNvPr>
          <p:cNvPicPr>
            <a:picLocks noChangeAspect="1"/>
          </p:cNvPicPr>
          <p:nvPr/>
        </p:nvPicPr>
        <p:blipFill>
          <a:blip r:embed="rId2"/>
          <a:stretch>
            <a:fillRect/>
          </a:stretch>
        </p:blipFill>
        <p:spPr>
          <a:xfrm>
            <a:off x="9105089" y="1480803"/>
            <a:ext cx="2590800" cy="1350210"/>
          </a:xfrm>
          <a:prstGeom prst="rect">
            <a:avLst/>
          </a:prstGeom>
        </p:spPr>
      </p:pic>
      <p:sp>
        <p:nvSpPr>
          <p:cNvPr id="8" name="Title 3">
            <a:extLst>
              <a:ext uri="{FF2B5EF4-FFF2-40B4-BE49-F238E27FC236}">
                <a16:creationId xmlns:a16="http://schemas.microsoft.com/office/drawing/2014/main" id="{E3E1E939-B8E2-912E-4245-9533D0D00E47}"/>
              </a:ext>
            </a:extLst>
          </p:cNvPr>
          <p:cNvSpPr>
            <a:spLocks noGrp="1"/>
          </p:cNvSpPr>
          <p:nvPr>
            <p:ph type="title"/>
          </p:nvPr>
        </p:nvSpPr>
        <p:spPr>
          <a:xfrm>
            <a:off x="838200" y="0"/>
            <a:ext cx="10515600" cy="1325563"/>
          </a:xfrm>
        </p:spPr>
        <p:txBody>
          <a:bodyPr/>
          <a:lstStyle/>
          <a:p>
            <a:pPr algn="ctr"/>
            <a:r>
              <a:rPr lang="en-GB" dirty="0">
                <a:latin typeface="Arial" panose="020B0604020202020204" pitchFamily="34" charset="0"/>
                <a:cs typeface="Arial" panose="020B0604020202020204" pitchFamily="34" charset="0"/>
              </a:rPr>
              <a:t>Part 5 – Functional Annotation</a:t>
            </a:r>
          </a:p>
        </p:txBody>
      </p:sp>
      <p:sp>
        <p:nvSpPr>
          <p:cNvPr id="2" name="TextBox 1">
            <a:extLst>
              <a:ext uri="{FF2B5EF4-FFF2-40B4-BE49-F238E27FC236}">
                <a16:creationId xmlns:a16="http://schemas.microsoft.com/office/drawing/2014/main" id="{BE94239E-8B6F-75B2-54A1-FF2F1D02FE04}"/>
              </a:ext>
            </a:extLst>
          </p:cNvPr>
          <p:cNvSpPr txBox="1"/>
          <p:nvPr/>
        </p:nvSpPr>
        <p:spPr>
          <a:xfrm>
            <a:off x="4615542" y="1354451"/>
            <a:ext cx="2382383" cy="400110"/>
          </a:xfrm>
          <a:prstGeom prst="rect">
            <a:avLst/>
          </a:prstGeom>
          <a:noFill/>
        </p:spPr>
        <p:txBody>
          <a:bodyPr wrap="none" rtlCol="0">
            <a:spAutoFit/>
          </a:bodyPr>
          <a:lstStyle/>
          <a:p>
            <a:r>
              <a:rPr lang="en-GB" sz="2000" dirty="0"/>
              <a:t>chr7:100807375 G&gt;A</a:t>
            </a:r>
          </a:p>
        </p:txBody>
      </p:sp>
      <p:pic>
        <p:nvPicPr>
          <p:cNvPr id="4" name="Graphic 3" descr="Question Mark with solid fill">
            <a:extLst>
              <a:ext uri="{FF2B5EF4-FFF2-40B4-BE49-F238E27FC236}">
                <a16:creationId xmlns:a16="http://schemas.microsoft.com/office/drawing/2014/main" id="{AAD857E6-1AE8-0721-9B3D-13A1587D72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05652" y="1087487"/>
            <a:ext cx="763903" cy="763903"/>
          </a:xfrm>
          <a:prstGeom prst="rect">
            <a:avLst/>
          </a:prstGeom>
        </p:spPr>
      </p:pic>
      <p:sp>
        <p:nvSpPr>
          <p:cNvPr id="3" name="TextBox 2">
            <a:extLst>
              <a:ext uri="{FF2B5EF4-FFF2-40B4-BE49-F238E27FC236}">
                <a16:creationId xmlns:a16="http://schemas.microsoft.com/office/drawing/2014/main" id="{8FBBDE39-E61C-EBB7-A149-2F02FE74B358}"/>
              </a:ext>
            </a:extLst>
          </p:cNvPr>
          <p:cNvSpPr txBox="1"/>
          <p:nvPr/>
        </p:nvSpPr>
        <p:spPr>
          <a:xfrm>
            <a:off x="838200" y="1630467"/>
            <a:ext cx="10049345" cy="5078313"/>
          </a:xfrm>
          <a:prstGeom prst="rect">
            <a:avLst/>
          </a:prstGeom>
          <a:noFill/>
        </p:spPr>
        <p:txBody>
          <a:bodyPr wrap="square" rtlCol="0">
            <a:spAutoFit/>
          </a:bodyPr>
          <a:lstStyle/>
          <a:p>
            <a:endParaRPr lang="en-GB" dirty="0"/>
          </a:p>
          <a:p>
            <a:pPr marL="285750" indent="-285750">
              <a:buFont typeface="Wingdings" panose="05000000000000000000" pitchFamily="2" charset="2"/>
              <a:buChar char="Ø"/>
            </a:pPr>
            <a:r>
              <a:rPr lang="en-GB" dirty="0"/>
              <a:t>Interpreting missense variants – </a:t>
            </a:r>
            <a:r>
              <a:rPr lang="en-GB" dirty="0" err="1"/>
              <a:t>AlphaMissense</a:t>
            </a:r>
            <a:r>
              <a:rPr lang="en-GB" dirty="0"/>
              <a:t>, REVEL, CADD, Sift, </a:t>
            </a:r>
            <a:r>
              <a:rPr lang="en-GB" dirty="0" err="1"/>
              <a:t>PolyPhen</a:t>
            </a:r>
            <a:r>
              <a:rPr lang="en-GB" dirty="0"/>
              <a:t> etc.</a:t>
            </a:r>
          </a:p>
          <a:p>
            <a:endParaRPr lang="en-GB" dirty="0"/>
          </a:p>
          <a:p>
            <a:pPr marL="285750" indent="-285750">
              <a:buFont typeface="Wingdings" panose="05000000000000000000" pitchFamily="2" charset="2"/>
              <a:buChar char="Ø"/>
            </a:pPr>
            <a:r>
              <a:rPr lang="en-GB" dirty="0"/>
              <a:t>Understanding frequency in general population – </a:t>
            </a:r>
            <a:r>
              <a:rPr lang="en-GB" dirty="0" err="1"/>
              <a:t>gnomAD</a:t>
            </a:r>
            <a:endParaRPr lang="en-GB"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endParaRPr lang="en-GB"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pPr marL="285750" indent="-285750">
              <a:buFont typeface="Wingdings" panose="05000000000000000000" pitchFamily="2" charset="2"/>
              <a:buChar char="Ø"/>
            </a:pPr>
            <a:endParaRPr lang="en-GB" dirty="0"/>
          </a:p>
          <a:p>
            <a:endParaRPr lang="en-GB" dirty="0"/>
          </a:p>
          <a:p>
            <a:pPr marL="285750" indent="-285750">
              <a:buFont typeface="Wingdings" panose="05000000000000000000" pitchFamily="2" charset="2"/>
              <a:buChar char="Ø"/>
            </a:pPr>
            <a:r>
              <a:rPr lang="en-GB" dirty="0"/>
              <a:t>ACMG Guidelines - </a:t>
            </a:r>
            <a:r>
              <a:rPr lang="en-GB" dirty="0">
                <a:hlinkClick r:id="rId5"/>
              </a:rPr>
              <a:t>Standards and guidelines for the interpretation of sequence variants: a joint consensus recommendation of the American College of Medical Genetics and Genomics and the Association for Molecular Pathology</a:t>
            </a:r>
            <a:endParaRPr lang="en-GB" dirty="0"/>
          </a:p>
        </p:txBody>
      </p:sp>
      <p:pic>
        <p:nvPicPr>
          <p:cNvPr id="5" name="Picture 4">
            <a:extLst>
              <a:ext uri="{FF2B5EF4-FFF2-40B4-BE49-F238E27FC236}">
                <a16:creationId xmlns:a16="http://schemas.microsoft.com/office/drawing/2014/main" id="{0D6E13FF-3A1B-2B1B-D2EA-2525D24184F2}"/>
              </a:ext>
            </a:extLst>
          </p:cNvPr>
          <p:cNvPicPr>
            <a:picLocks noChangeAspect="1"/>
          </p:cNvPicPr>
          <p:nvPr/>
        </p:nvPicPr>
        <p:blipFill>
          <a:blip r:embed="rId6"/>
          <a:stretch>
            <a:fillRect/>
          </a:stretch>
        </p:blipFill>
        <p:spPr>
          <a:xfrm>
            <a:off x="642025" y="3429000"/>
            <a:ext cx="3289708" cy="1445550"/>
          </a:xfrm>
          <a:prstGeom prst="rect">
            <a:avLst/>
          </a:prstGeom>
        </p:spPr>
      </p:pic>
      <p:pic>
        <p:nvPicPr>
          <p:cNvPr id="11" name="Picture 10">
            <a:extLst>
              <a:ext uri="{FF2B5EF4-FFF2-40B4-BE49-F238E27FC236}">
                <a16:creationId xmlns:a16="http://schemas.microsoft.com/office/drawing/2014/main" id="{BDE8CB85-EC00-43EE-EE15-F553E1D9CFE1}"/>
              </a:ext>
            </a:extLst>
          </p:cNvPr>
          <p:cNvPicPr>
            <a:picLocks noChangeAspect="1"/>
          </p:cNvPicPr>
          <p:nvPr/>
        </p:nvPicPr>
        <p:blipFill>
          <a:blip r:embed="rId7"/>
          <a:srcRect l="-3636" t="-14316" r="3636" b="29855"/>
          <a:stretch>
            <a:fillRect/>
          </a:stretch>
        </p:blipFill>
        <p:spPr>
          <a:xfrm>
            <a:off x="4202349" y="2831013"/>
            <a:ext cx="5119448" cy="2546184"/>
          </a:xfrm>
          <a:prstGeom prst="rect">
            <a:avLst/>
          </a:prstGeom>
        </p:spPr>
      </p:pic>
    </p:spTree>
    <p:extLst>
      <p:ext uri="{BB962C8B-B14F-4D97-AF65-F5344CB8AC3E}">
        <p14:creationId xmlns:p14="http://schemas.microsoft.com/office/powerpoint/2010/main" val="2569688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241AB7-4E2A-479B-89AC-F32889E898CF}"/>
              </a:ext>
            </a:extLst>
          </p:cNvPr>
          <p:cNvSpPr txBox="1"/>
          <p:nvPr/>
        </p:nvSpPr>
        <p:spPr>
          <a:xfrm>
            <a:off x="11817627" y="6407901"/>
            <a:ext cx="45719" cy="369332"/>
          </a:xfrm>
          <a:prstGeom prst="rect">
            <a:avLst/>
          </a:prstGeom>
          <a:noFill/>
        </p:spPr>
        <p:txBody>
          <a:bodyPr wrap="square" rtlCol="0">
            <a:spAutoFit/>
          </a:bodyPr>
          <a:lstStyle/>
          <a:p>
            <a:r>
              <a:rPr lang="en-GB" dirty="0"/>
              <a:t>D</a:t>
            </a:r>
          </a:p>
        </p:txBody>
      </p:sp>
      <p:sp>
        <p:nvSpPr>
          <p:cNvPr id="8" name="Title 3">
            <a:extLst>
              <a:ext uri="{FF2B5EF4-FFF2-40B4-BE49-F238E27FC236}">
                <a16:creationId xmlns:a16="http://schemas.microsoft.com/office/drawing/2014/main" id="{1DC40711-18E4-40D5-9AC3-0E6445F8EC69}"/>
              </a:ext>
            </a:extLst>
          </p:cNvPr>
          <p:cNvSpPr>
            <a:spLocks noGrp="1"/>
          </p:cNvSpPr>
          <p:nvPr>
            <p:ph type="title"/>
          </p:nvPr>
        </p:nvSpPr>
        <p:spPr>
          <a:xfrm>
            <a:off x="838200" y="0"/>
            <a:ext cx="10515600" cy="1325563"/>
          </a:xfrm>
        </p:spPr>
        <p:txBody>
          <a:bodyPr/>
          <a:lstStyle/>
          <a:p>
            <a:pPr algn="ctr"/>
            <a:r>
              <a:rPr lang="en-GB" dirty="0">
                <a:latin typeface="Garamond" panose="02020404030301010803" pitchFamily="18" charset="0"/>
              </a:rPr>
              <a:t>Part 5</a:t>
            </a:r>
          </a:p>
        </p:txBody>
      </p:sp>
      <p:sp>
        <p:nvSpPr>
          <p:cNvPr id="9" name="Rectangle 8">
            <a:extLst>
              <a:ext uri="{FF2B5EF4-FFF2-40B4-BE49-F238E27FC236}">
                <a16:creationId xmlns:a16="http://schemas.microsoft.com/office/drawing/2014/main" id="{9BF382E5-2B6B-4D83-8112-719D04E417EC}"/>
              </a:ext>
            </a:extLst>
          </p:cNvPr>
          <p:cNvSpPr/>
          <p:nvPr/>
        </p:nvSpPr>
        <p:spPr>
          <a:xfrm>
            <a:off x="2430221" y="1092190"/>
            <a:ext cx="8284640" cy="523220"/>
          </a:xfrm>
          <a:prstGeom prst="rect">
            <a:avLst/>
          </a:prstGeom>
        </p:spPr>
        <p:txBody>
          <a:bodyPr wrap="none">
            <a:spAutoFit/>
          </a:bodyPr>
          <a:lstStyle/>
          <a:p>
            <a:r>
              <a:rPr lang="en-GB" sz="2800" dirty="0">
                <a:latin typeface="Arial" panose="020B0604020202020204" pitchFamily="34" charset="0"/>
                <a:cs typeface="Arial" panose="020B0604020202020204" pitchFamily="34" charset="0"/>
              </a:rPr>
              <a:t>Functional annotation of the called genetic variants</a:t>
            </a:r>
          </a:p>
        </p:txBody>
      </p:sp>
      <p:sp>
        <p:nvSpPr>
          <p:cNvPr id="10" name="Content Placeholder 1">
            <a:extLst>
              <a:ext uri="{FF2B5EF4-FFF2-40B4-BE49-F238E27FC236}">
                <a16:creationId xmlns:a16="http://schemas.microsoft.com/office/drawing/2014/main" id="{0A4930D3-797D-45E8-B3DB-91467AC3FC20}"/>
              </a:ext>
            </a:extLst>
          </p:cNvPr>
          <p:cNvSpPr>
            <a:spLocks noGrp="1"/>
          </p:cNvSpPr>
          <p:nvPr>
            <p:ph idx="1"/>
          </p:nvPr>
        </p:nvSpPr>
        <p:spPr>
          <a:xfrm>
            <a:off x="190831" y="1825625"/>
            <a:ext cx="11774523" cy="4712740"/>
          </a:xfrm>
        </p:spPr>
        <p:txBody>
          <a:bodyPr>
            <a:normAutofit fontScale="92500"/>
          </a:bodyPr>
          <a:lstStyle/>
          <a:p>
            <a:pPr marL="0" indent="0">
              <a:buNone/>
            </a:pPr>
            <a:r>
              <a:rPr lang="en-GB" sz="2400" dirty="0">
                <a:latin typeface="Arial" panose="020B0604020202020204" pitchFamily="34" charset="0"/>
                <a:cs typeface="Arial" panose="020B0604020202020204" pitchFamily="34" charset="0"/>
              </a:rPr>
              <a:t>We are using an online freely available annotation tool: (ensemble VEP)</a:t>
            </a:r>
          </a:p>
          <a:p>
            <a:pPr marL="0" indent="0">
              <a:buNone/>
            </a:pPr>
            <a:endParaRPr lang="en-GB" sz="2400" dirty="0">
              <a:latin typeface="Arial" panose="020B0604020202020204" pitchFamily="34" charset="0"/>
              <a:cs typeface="Arial" panose="020B0604020202020204" pitchFamily="34" charset="0"/>
            </a:endParaRPr>
          </a:p>
          <a:p>
            <a:pPr marL="357188"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Open an internet browser (Mozilla Firefox, Google Chrome)</a:t>
            </a:r>
          </a:p>
          <a:p>
            <a:pPr marL="357188"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Navigate to </a:t>
            </a:r>
            <a:r>
              <a:rPr lang="en-GB" sz="1900" dirty="0">
                <a:latin typeface="Arial" panose="020B0604020202020204" pitchFamily="34" charset="0"/>
                <a:cs typeface="Arial" panose="020B0604020202020204" pitchFamily="34" charset="0"/>
                <a:hlinkClick r:id="rId2"/>
              </a:rPr>
              <a:t>https://www.ensembl.org/Multi/Tools/VEP</a:t>
            </a:r>
            <a:endParaRPr lang="en-GB" sz="1900" dirty="0">
              <a:latin typeface="Arial" panose="020B0604020202020204" pitchFamily="34" charset="0"/>
              <a:cs typeface="Arial" panose="020B0604020202020204" pitchFamily="34" charset="0"/>
            </a:endParaRPr>
          </a:p>
          <a:p>
            <a:pPr marL="357188"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Double check the human genome build you are using  (Here, we are using hg38/GRCh38)</a:t>
            </a:r>
          </a:p>
          <a:p>
            <a:pPr marL="357188"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Fill the job form using:</a:t>
            </a:r>
          </a:p>
          <a:p>
            <a:pPr marL="814388" lvl="1"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Name for this job: </a:t>
            </a:r>
            <a:r>
              <a:rPr lang="en-GB" sz="1900" dirty="0" err="1">
                <a:latin typeface="Arial" panose="020B0604020202020204" pitchFamily="34" charset="0"/>
                <a:cs typeface="Arial" panose="020B0604020202020204" pitchFamily="34" charset="0"/>
              </a:rPr>
              <a:t>sgul_workshop</a:t>
            </a:r>
            <a:r>
              <a:rPr lang="en-GB" sz="1900" dirty="0">
                <a:latin typeface="Arial" panose="020B0604020202020204" pitchFamily="34" charset="0"/>
                <a:cs typeface="Arial" panose="020B0604020202020204" pitchFamily="34" charset="0"/>
              </a:rPr>
              <a:t>_ followed by your initials (e.g. </a:t>
            </a:r>
            <a:r>
              <a:rPr lang="en-GB" sz="1900" dirty="0" err="1">
                <a:latin typeface="Arial" panose="020B0604020202020204" pitchFamily="34" charset="0"/>
                <a:cs typeface="Arial" panose="020B0604020202020204" pitchFamily="34" charset="0"/>
              </a:rPr>
              <a:t>sgul_workshop_SED</a:t>
            </a:r>
            <a:r>
              <a:rPr lang="en-GB" sz="1900" dirty="0">
                <a:latin typeface="Arial" panose="020B0604020202020204" pitchFamily="34" charset="0"/>
                <a:cs typeface="Arial" panose="020B0604020202020204" pitchFamily="34" charset="0"/>
              </a:rPr>
              <a:t>)</a:t>
            </a:r>
          </a:p>
          <a:p>
            <a:pPr marL="814388" lvl="1"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Input data -&gt; Or upload file: -&gt; Choose file -&gt; Navigate and select your sample1.filtered.vcf file</a:t>
            </a:r>
          </a:p>
          <a:p>
            <a:pPr marL="814388" lvl="1"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Transcript database to use: </a:t>
            </a:r>
            <a:r>
              <a:rPr lang="en-GB" sz="1900" dirty="0" err="1">
                <a:latin typeface="Arial" panose="020B0604020202020204" pitchFamily="34" charset="0"/>
                <a:cs typeface="Arial" panose="020B0604020202020204" pitchFamily="34" charset="0"/>
              </a:rPr>
              <a:t>Ensembl</a:t>
            </a:r>
            <a:r>
              <a:rPr lang="en-GB" sz="1900" dirty="0">
                <a:latin typeface="Arial" panose="020B0604020202020204" pitchFamily="34" charset="0"/>
                <a:cs typeface="Arial" panose="020B0604020202020204" pitchFamily="34" charset="0"/>
              </a:rPr>
              <a:t>/GENCODE transcripts</a:t>
            </a:r>
          </a:p>
          <a:p>
            <a:pPr marL="814388" lvl="1"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Make sure you will leave Additional configurations field untouched using the pre-defined default fields.</a:t>
            </a:r>
          </a:p>
          <a:p>
            <a:pPr marL="357188"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Click </a:t>
            </a:r>
            <a:r>
              <a:rPr lang="en-GB" sz="1900" dirty="0">
                <a:solidFill>
                  <a:srgbClr val="33478C"/>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[Run]</a:t>
            </a:r>
            <a:endParaRPr lang="en-GB" sz="1900" dirty="0">
              <a:latin typeface="Arial" panose="020B0604020202020204" pitchFamily="34" charset="0"/>
              <a:cs typeface="Arial" panose="020B0604020202020204" pitchFamily="34" charset="0"/>
            </a:endParaRPr>
          </a:p>
          <a:p>
            <a:pPr marL="357188"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Wait for the job to finish</a:t>
            </a:r>
          </a:p>
          <a:p>
            <a:pPr marL="357188" indent="-357188">
              <a:buFont typeface="Wingdings" panose="05000000000000000000" pitchFamily="2" charset="2"/>
              <a:buChar char="Ø"/>
            </a:pPr>
            <a:r>
              <a:rPr lang="en-GB" sz="1900" dirty="0">
                <a:latin typeface="Arial" panose="020B0604020202020204" pitchFamily="34" charset="0"/>
                <a:cs typeface="Arial" panose="020B0604020202020204" pitchFamily="34" charset="0"/>
              </a:rPr>
              <a:t>When finished, click </a:t>
            </a:r>
            <a:r>
              <a:rPr lang="en-GB" sz="1900" dirty="0">
                <a:solidFill>
                  <a:srgbClr val="33478C"/>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[View results]</a:t>
            </a:r>
            <a:endParaRPr lang="en-GB"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7304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a:xfrm>
            <a:off x="838198" y="80767"/>
            <a:ext cx="10515600" cy="1325563"/>
          </a:xfrm>
        </p:spPr>
        <p:txBody>
          <a:bodyPr/>
          <a:lstStyle/>
          <a:p>
            <a:pPr algn="ctr"/>
            <a:r>
              <a:rPr lang="en-GB" dirty="0">
                <a:latin typeface="Arial" panose="020B0604020202020204" pitchFamily="34" charset="0"/>
                <a:cs typeface="Arial" panose="020B0604020202020204" pitchFamily="34" charset="0"/>
              </a:rPr>
              <a:t>Part 6</a:t>
            </a:r>
          </a:p>
        </p:txBody>
      </p:sp>
      <p:sp>
        <p:nvSpPr>
          <p:cNvPr id="6" name="Content Placeholder 1">
            <a:extLst>
              <a:ext uri="{FF2B5EF4-FFF2-40B4-BE49-F238E27FC236}">
                <a16:creationId xmlns:a16="http://schemas.microsoft.com/office/drawing/2014/main" id="{F91DF027-B572-4200-B9AF-6237E0C1DB6D}"/>
              </a:ext>
            </a:extLst>
          </p:cNvPr>
          <p:cNvSpPr>
            <a:spLocks noGrp="1"/>
          </p:cNvSpPr>
          <p:nvPr>
            <p:ph idx="1"/>
          </p:nvPr>
        </p:nvSpPr>
        <p:spPr>
          <a:xfrm>
            <a:off x="328654" y="1915409"/>
            <a:ext cx="8721828" cy="4731483"/>
          </a:xfrm>
        </p:spPr>
        <p:txBody>
          <a:bodyPr>
            <a:normAutofit lnSpcReduction="10000"/>
          </a:bodyPr>
          <a:lstStyle/>
          <a:p>
            <a:pPr>
              <a:buFont typeface="Wingdings" panose="05000000000000000000" pitchFamily="2" charset="2"/>
              <a:buChar char="Ø"/>
            </a:pPr>
            <a:r>
              <a:rPr lang="en-GB" sz="2200" dirty="0">
                <a:latin typeface="Arial" panose="020B0604020202020204" pitchFamily="34" charset="0"/>
                <a:cs typeface="Arial" panose="020B0604020202020204" pitchFamily="34" charset="0"/>
              </a:rPr>
              <a:t>Open a web browser and navigate to IGV : https://igv.org/app/</a:t>
            </a:r>
          </a:p>
          <a:p>
            <a:pPr>
              <a:buFont typeface="Wingdings" panose="05000000000000000000" pitchFamily="2" charset="2"/>
              <a:buChar char="Ø"/>
            </a:pPr>
            <a:r>
              <a:rPr lang="en-GB" sz="2200" dirty="0">
                <a:latin typeface="Arial" panose="020B0604020202020204" pitchFamily="34" charset="0"/>
                <a:cs typeface="Arial" panose="020B0604020202020204" pitchFamily="34" charset="0"/>
              </a:rPr>
              <a:t>Go to 'Genome' and select 'Human (GRCh38/hg38)’</a:t>
            </a:r>
          </a:p>
          <a:p>
            <a:pPr>
              <a:buFont typeface="Wingdings" panose="05000000000000000000" pitchFamily="2" charset="2"/>
              <a:buChar char="Ø"/>
            </a:pPr>
            <a:r>
              <a:rPr lang="en-GB" sz="2200" dirty="0">
                <a:latin typeface="Arial" panose="020B0604020202020204" pitchFamily="34" charset="0"/>
                <a:cs typeface="Arial" panose="020B0604020202020204" pitchFamily="34" charset="0"/>
              </a:rPr>
              <a:t>Go to Tracks and then select Local File</a:t>
            </a:r>
          </a:p>
          <a:p>
            <a:pPr lvl="1"/>
            <a:r>
              <a:rPr lang="en-GB" sz="2200" dirty="0">
                <a:latin typeface="Arial" panose="020B0604020202020204" pitchFamily="34" charset="0"/>
                <a:cs typeface="Arial" panose="020B0604020202020204" pitchFamily="34" charset="0"/>
              </a:rPr>
              <a:t>Locate the "sample1_sorted_unique_recalibrated.bam" "sample1_sorted_unique_recalibrated.bai" file in your project directory and open.</a:t>
            </a:r>
          </a:p>
          <a:p>
            <a:pPr lvl="1"/>
            <a:endParaRPr lang="en-GB" sz="22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GB" sz="2200" dirty="0">
                <a:latin typeface="Arial" panose="020B0604020202020204" pitchFamily="34" charset="0"/>
                <a:cs typeface="Arial" panose="020B0604020202020204" pitchFamily="34" charset="0"/>
              </a:rPr>
              <a:t>You can also load a track showing the actual called variants:</a:t>
            </a:r>
          </a:p>
          <a:p>
            <a:pPr lvl="1"/>
            <a:r>
              <a:rPr lang="en-GB" sz="2200" dirty="0">
                <a:latin typeface="Arial" panose="020B0604020202020204" pitchFamily="34" charset="0"/>
                <a:cs typeface="Arial" panose="020B0604020202020204" pitchFamily="34" charset="0"/>
              </a:rPr>
              <a:t>Go to Tracks and then select Local File</a:t>
            </a:r>
          </a:p>
          <a:p>
            <a:pPr lvl="1"/>
            <a:r>
              <a:rPr lang="en-GB" sz="2200" dirty="0">
                <a:latin typeface="Arial" panose="020B0604020202020204" pitchFamily="34" charset="0"/>
                <a:cs typeface="Arial" panose="020B0604020202020204" pitchFamily="34" charset="0"/>
              </a:rPr>
              <a:t>Locate the sample1.filtered.vcf and open.</a:t>
            </a:r>
          </a:p>
          <a:p>
            <a:pPr lvl="1"/>
            <a:endParaRPr lang="en-GB" sz="22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GB" sz="2200" dirty="0">
                <a:latin typeface="Arial" panose="020B0604020202020204" pitchFamily="34" charset="0"/>
                <a:cs typeface="Arial" panose="020B0604020202020204" pitchFamily="34" charset="0"/>
              </a:rPr>
              <a:t>In the bar at the top select a position to view (e.g. chrM:8860) to view the read alignments at this position.</a:t>
            </a:r>
          </a:p>
          <a:p>
            <a:pPr marL="0" indent="0">
              <a:buNone/>
            </a:pPr>
            <a:endParaRPr lang="en-GB" sz="2400" dirty="0">
              <a:latin typeface="Garamond" panose="02020404030301010803" pitchFamily="18" charset="0"/>
            </a:endParaRPr>
          </a:p>
          <a:p>
            <a:pPr>
              <a:buFont typeface="Wingdings" panose="05000000000000000000" pitchFamily="2" charset="2"/>
              <a:buChar char="Ø"/>
            </a:pPr>
            <a:endParaRPr lang="en-GB" sz="2400" dirty="0">
              <a:latin typeface="Garamond" panose="02020404030301010803" pitchFamily="18" charset="0"/>
            </a:endParaRPr>
          </a:p>
          <a:p>
            <a:pPr>
              <a:buFont typeface="Wingdings" panose="05000000000000000000" pitchFamily="2" charset="2"/>
              <a:buChar char="Ø"/>
            </a:pPr>
            <a:endParaRPr lang="en-GB" sz="2400" dirty="0">
              <a:latin typeface="Garamond" panose="02020404030301010803" pitchFamily="18" charset="0"/>
            </a:endParaRPr>
          </a:p>
          <a:p>
            <a:pPr>
              <a:buFont typeface="Wingdings" panose="05000000000000000000" pitchFamily="2" charset="2"/>
              <a:buChar char="Ø"/>
            </a:pPr>
            <a:endParaRPr lang="en-GB" sz="2400" dirty="0">
              <a:latin typeface="Garamond" panose="02020404030301010803" pitchFamily="18" charset="0"/>
            </a:endParaRPr>
          </a:p>
          <a:p>
            <a:pPr>
              <a:buFont typeface="Wingdings" panose="05000000000000000000" pitchFamily="2" charset="2"/>
              <a:buChar char="Ø"/>
            </a:pPr>
            <a:endParaRPr lang="en-GB" sz="2400" dirty="0">
              <a:latin typeface="Garamond" panose="02020404030301010803" pitchFamily="18" charset="0"/>
            </a:endParaRPr>
          </a:p>
          <a:p>
            <a:pPr>
              <a:buFont typeface="Wingdings" panose="05000000000000000000" pitchFamily="2" charset="2"/>
              <a:buChar char="Ø"/>
            </a:pPr>
            <a:endParaRPr lang="en-GB" sz="2400" dirty="0">
              <a:latin typeface="Garamond" panose="02020404030301010803" pitchFamily="18" charset="0"/>
            </a:endParaRPr>
          </a:p>
          <a:p>
            <a:pPr lvl="1">
              <a:buFont typeface="Wingdings" panose="05000000000000000000" pitchFamily="2" charset="2"/>
              <a:buChar char="§"/>
            </a:pPr>
            <a:endParaRPr lang="en-GB" sz="2000" dirty="0">
              <a:latin typeface="Consolas" panose="020B0609020204030204" pitchFamily="49" charset="0"/>
            </a:endParaRPr>
          </a:p>
          <a:p>
            <a:pPr lvl="1">
              <a:buFont typeface="Wingdings" panose="05000000000000000000" pitchFamily="2" charset="2"/>
              <a:buChar char="§"/>
            </a:pPr>
            <a:endParaRPr lang="en-GB" sz="2000" dirty="0">
              <a:latin typeface="Consolas" panose="020B0609020204030204" pitchFamily="49" charset="0"/>
            </a:endParaRPr>
          </a:p>
        </p:txBody>
      </p:sp>
      <p:sp>
        <p:nvSpPr>
          <p:cNvPr id="7" name="Rectangle 6">
            <a:extLst>
              <a:ext uri="{FF2B5EF4-FFF2-40B4-BE49-F238E27FC236}">
                <a16:creationId xmlns:a16="http://schemas.microsoft.com/office/drawing/2014/main" id="{9D4A6C6F-3D58-42DC-B064-EE0C547021E6}"/>
              </a:ext>
            </a:extLst>
          </p:cNvPr>
          <p:cNvSpPr/>
          <p:nvPr/>
        </p:nvSpPr>
        <p:spPr>
          <a:xfrm>
            <a:off x="367416" y="1137650"/>
            <a:ext cx="11824584" cy="523220"/>
          </a:xfrm>
          <a:prstGeom prst="rect">
            <a:avLst/>
          </a:prstGeom>
        </p:spPr>
        <p:txBody>
          <a:bodyPr wrap="none">
            <a:spAutoFit/>
          </a:bodyPr>
          <a:lstStyle/>
          <a:p>
            <a:r>
              <a:rPr lang="en-GB" sz="2800" dirty="0" err="1">
                <a:latin typeface="Arial" panose="020B0604020202020204" pitchFamily="34" charset="0"/>
                <a:cs typeface="Arial" panose="020B0604020202020204" pitchFamily="34" charset="0"/>
              </a:rPr>
              <a:t>Aligment</a:t>
            </a:r>
            <a:r>
              <a:rPr lang="en-GB" sz="2800" dirty="0">
                <a:latin typeface="Arial" panose="020B0604020202020204" pitchFamily="34" charset="0"/>
                <a:cs typeface="Arial" panose="020B0604020202020204" pitchFamily="34" charset="0"/>
              </a:rPr>
              <a:t> &amp; Variants visualisation with Integrative Genomics Viewer (IGV)</a:t>
            </a:r>
            <a:r>
              <a:rPr lang="en-GB" dirty="0">
                <a:latin typeface="Arial" panose="020B0604020202020204" pitchFamily="34" charset="0"/>
                <a:cs typeface="Arial" panose="020B0604020202020204" pitchFamily="34" charset="0"/>
              </a:rPr>
              <a:t> </a:t>
            </a:r>
            <a:endParaRPr lang="en-GB" sz="28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2C197FA-883A-4A13-9FB6-9A47E43D783A}"/>
              </a:ext>
            </a:extLst>
          </p:cNvPr>
          <p:cNvSpPr txBox="1"/>
          <p:nvPr/>
        </p:nvSpPr>
        <p:spPr>
          <a:xfrm>
            <a:off x="8504673" y="6469456"/>
            <a:ext cx="3264612" cy="307777"/>
          </a:xfrm>
          <a:prstGeom prst="rect">
            <a:avLst/>
          </a:prstGeom>
          <a:noFill/>
        </p:spPr>
        <p:txBody>
          <a:bodyPr wrap="none" rtlCol="0">
            <a:spAutoFit/>
          </a:bodyPr>
          <a:lstStyle/>
          <a:p>
            <a:r>
              <a:rPr lang="en-GB" sz="1400" dirty="0"/>
              <a:t>There is also an stand alone version of IGV</a:t>
            </a:r>
          </a:p>
        </p:txBody>
      </p:sp>
      <p:pic>
        <p:nvPicPr>
          <p:cNvPr id="1028" name="Picture 4" descr="Image result for igv logo&quot;">
            <a:extLst>
              <a:ext uri="{FF2B5EF4-FFF2-40B4-BE49-F238E27FC236}">
                <a16:creationId xmlns:a16="http://schemas.microsoft.com/office/drawing/2014/main" id="{8DB0C5F6-8405-4115-9C12-F51D6CF007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805" t="32695" r="68565" b="32638"/>
          <a:stretch/>
        </p:blipFill>
        <p:spPr bwMode="auto">
          <a:xfrm>
            <a:off x="10025052" y="2769041"/>
            <a:ext cx="1328746" cy="1319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718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107625-14D4-4C6E-AD02-70A40374D649}"/>
              </a:ext>
            </a:extLst>
          </p:cNvPr>
          <p:cNvSpPr>
            <a:spLocks noGrp="1"/>
          </p:cNvSpPr>
          <p:nvPr>
            <p:ph type="title"/>
          </p:nvPr>
        </p:nvSpPr>
        <p:spPr>
          <a:xfrm>
            <a:off x="838200" y="-334590"/>
            <a:ext cx="10515600" cy="1325563"/>
          </a:xfrm>
        </p:spPr>
        <p:txBody>
          <a:bodyPr/>
          <a:lstStyle/>
          <a:p>
            <a:pPr algn="ctr"/>
            <a:r>
              <a:rPr lang="en-GB" dirty="0">
                <a:latin typeface="Arial" panose="020B0604020202020204" pitchFamily="34" charset="0"/>
                <a:cs typeface="Arial" panose="020B0604020202020204" pitchFamily="34" charset="0"/>
              </a:rPr>
              <a:t>Quiz</a:t>
            </a:r>
          </a:p>
        </p:txBody>
      </p:sp>
      <p:sp>
        <p:nvSpPr>
          <p:cNvPr id="6" name="Content Placeholder 1">
            <a:extLst>
              <a:ext uri="{FF2B5EF4-FFF2-40B4-BE49-F238E27FC236}">
                <a16:creationId xmlns:a16="http://schemas.microsoft.com/office/drawing/2014/main" id="{86F3A05D-0A4D-423C-8899-659FD6B9BF9E}"/>
              </a:ext>
            </a:extLst>
          </p:cNvPr>
          <p:cNvSpPr>
            <a:spLocks noGrp="1"/>
          </p:cNvSpPr>
          <p:nvPr>
            <p:ph idx="1"/>
          </p:nvPr>
        </p:nvSpPr>
        <p:spPr>
          <a:xfrm>
            <a:off x="208738" y="1311966"/>
            <a:ext cx="11774523" cy="5405686"/>
          </a:xfrm>
        </p:spPr>
        <p:txBody>
          <a:bodyPr>
            <a:normAutofit/>
          </a:bodyPr>
          <a:lstStyle/>
          <a:p>
            <a:pPr marL="342900" indent="-342900">
              <a:buAutoNum type="arabicPeriod"/>
            </a:pPr>
            <a:r>
              <a:rPr lang="en-GB" sz="1800" dirty="0">
                <a:latin typeface="Arial" panose="020B0604020202020204" pitchFamily="34" charset="0"/>
                <a:cs typeface="Arial" panose="020B0604020202020204" pitchFamily="34" charset="0"/>
              </a:rPr>
              <a:t>In the VEP annotation results table, find the genomic coordinates of the missense variant with the highest </a:t>
            </a:r>
            <a:r>
              <a:rPr lang="en-GB" sz="1800" dirty="0" err="1">
                <a:latin typeface="Arial" panose="020B0604020202020204" pitchFamily="34" charset="0"/>
                <a:cs typeface="Arial" panose="020B0604020202020204" pitchFamily="34" charset="0"/>
              </a:rPr>
              <a:t>Polyphen</a:t>
            </a:r>
            <a:r>
              <a:rPr lang="en-GB" sz="1800" dirty="0">
                <a:latin typeface="Arial" panose="020B0604020202020204" pitchFamily="34" charset="0"/>
                <a:cs typeface="Arial" panose="020B0604020202020204" pitchFamily="34" charset="0"/>
              </a:rPr>
              <a:t> score.</a:t>
            </a:r>
          </a:p>
          <a:p>
            <a:pPr marL="342900" indent="-342900">
              <a:buAutoNum type="arabicPeriod"/>
            </a:pPr>
            <a:r>
              <a:rPr lang="en-GB" sz="1800" dirty="0">
                <a:latin typeface="Arial" panose="020B0604020202020204" pitchFamily="34" charset="0"/>
                <a:cs typeface="Arial" panose="020B0604020202020204" pitchFamily="34" charset="0"/>
              </a:rPr>
              <a:t>Download the annotated </a:t>
            </a:r>
            <a:r>
              <a:rPr lang="en-GB" sz="1800" dirty="0" err="1">
                <a:latin typeface="Arial" panose="020B0604020202020204" pitchFamily="34" charset="0"/>
                <a:cs typeface="Arial" panose="020B0604020202020204" pitchFamily="34" charset="0"/>
              </a:rPr>
              <a:t>vcf</a:t>
            </a:r>
            <a:r>
              <a:rPr lang="en-GB" sz="1800" dirty="0">
                <a:latin typeface="Arial" panose="020B0604020202020204" pitchFamily="34" charset="0"/>
                <a:cs typeface="Arial" panose="020B0604020202020204" pitchFamily="34" charset="0"/>
              </a:rPr>
              <a:t> file using the VCF download button on the upper-right corner.</a:t>
            </a:r>
          </a:p>
          <a:p>
            <a:pPr marL="342900" indent="-342900">
              <a:buAutoNum type="arabicPeriod"/>
            </a:pPr>
            <a:r>
              <a:rPr lang="en-GB" sz="1800" dirty="0">
                <a:latin typeface="Arial" panose="020B0604020202020204" pitchFamily="34" charset="0"/>
                <a:cs typeface="Arial" panose="020B0604020202020204" pitchFamily="34" charset="0"/>
              </a:rPr>
              <a:t>Get the genomic position of the variant you selected in question 1 and extract this variant’s information from the sample1.filtered.vcf file (using the </a:t>
            </a:r>
            <a:r>
              <a:rPr lang="en-GB" sz="1400" dirty="0">
                <a:highlight>
                  <a:srgbClr val="C0C0C0"/>
                </a:highlight>
                <a:latin typeface="Arial" panose="020B0604020202020204" pitchFamily="34" charset="0"/>
                <a:cs typeface="Arial" panose="020B0604020202020204" pitchFamily="34" charset="0"/>
              </a:rPr>
              <a:t>grep</a:t>
            </a:r>
            <a:r>
              <a:rPr lang="en-GB" sz="1800" dirty="0">
                <a:latin typeface="Arial" panose="020B0604020202020204" pitchFamily="34" charset="0"/>
                <a:cs typeface="Arial" panose="020B0604020202020204" pitchFamily="34" charset="0"/>
              </a:rPr>
              <a:t> command) and save it into a new file (</a:t>
            </a:r>
            <a:r>
              <a:rPr lang="en-GB" sz="1800" dirty="0">
                <a:latin typeface="Arial" panose="020B0604020202020204" pitchFamily="34" charset="0"/>
                <a:cs typeface="Arial" panose="020B0604020202020204" pitchFamily="34" charset="0"/>
                <a:hlinkClick r:id="rId2"/>
              </a:rPr>
              <a:t>using the </a:t>
            </a:r>
            <a:r>
              <a:rPr lang="en-GB" sz="1600" dirty="0">
                <a:highlight>
                  <a:srgbClr val="C0C0C0"/>
                </a:highlight>
                <a:latin typeface="Arial" panose="020B0604020202020204" pitchFamily="34" charset="0"/>
                <a:cs typeface="Arial" panose="020B0604020202020204" pitchFamily="34" charset="0"/>
                <a:hlinkClick r:id="rId2"/>
              </a:rPr>
              <a:t>&gt;</a:t>
            </a:r>
            <a:r>
              <a:rPr lang="en-GB" sz="1800" dirty="0">
                <a:latin typeface="Arial" panose="020B0604020202020204" pitchFamily="34" charset="0"/>
                <a:cs typeface="Arial" panose="020B0604020202020204" pitchFamily="34" charset="0"/>
                <a:hlinkClick r:id="rId2"/>
              </a:rPr>
              <a:t> symbol</a:t>
            </a:r>
            <a:r>
              <a:rPr lang="en-GB" sz="1800" dirty="0">
                <a:latin typeface="Arial" panose="020B0604020202020204" pitchFamily="34" charset="0"/>
                <a:cs typeface="Arial" panose="020B0604020202020204" pitchFamily="34" charset="0"/>
              </a:rPr>
              <a:t>).</a:t>
            </a:r>
          </a:p>
          <a:p>
            <a:pPr marL="342900" indent="-342900">
              <a:buAutoNum type="arabicPeriod"/>
            </a:pPr>
            <a:r>
              <a:rPr lang="en-GB" sz="1800" dirty="0">
                <a:latin typeface="Arial" panose="020B0604020202020204" pitchFamily="34" charset="0"/>
                <a:cs typeface="Arial" panose="020B0604020202020204" pitchFamily="34" charset="0"/>
              </a:rPr>
              <a:t>By looking into the new file you created:</a:t>
            </a:r>
          </a:p>
          <a:p>
            <a:pPr marL="800100" lvl="1" indent="-342900">
              <a:buAutoNum type="arabicPeriod"/>
            </a:pPr>
            <a:r>
              <a:rPr lang="en-GB" sz="1400" dirty="0">
                <a:latin typeface="Arial" panose="020B0604020202020204" pitchFamily="34" charset="0"/>
                <a:cs typeface="Arial" panose="020B0604020202020204" pitchFamily="34" charset="0"/>
              </a:rPr>
              <a:t>Find out if the sequenced sample is homozygous or heterozygous for this variant.</a:t>
            </a:r>
          </a:p>
          <a:p>
            <a:pPr marL="800100" lvl="1" indent="-342900">
              <a:buAutoNum type="arabicPeriod"/>
            </a:pPr>
            <a:r>
              <a:rPr lang="en-GB" sz="1400" dirty="0">
                <a:latin typeface="Arial" panose="020B0604020202020204" pitchFamily="34" charset="0"/>
                <a:cs typeface="Arial" panose="020B0604020202020204" pitchFamily="34" charset="0"/>
              </a:rPr>
              <a:t>Report the Strand Odds Ratio for this variant.</a:t>
            </a:r>
          </a:p>
          <a:p>
            <a:pPr marL="800100" lvl="1" indent="-342900">
              <a:buAutoNum type="arabicPeriod"/>
            </a:pPr>
            <a:r>
              <a:rPr lang="en-GB" sz="1400" dirty="0">
                <a:latin typeface="Arial" panose="020B0604020202020204" pitchFamily="34" charset="0"/>
                <a:cs typeface="Arial" panose="020B0604020202020204" pitchFamily="34" charset="0"/>
              </a:rPr>
              <a:t>Report the Genotype Quality and the Quality of Depth values for this variant.</a:t>
            </a:r>
          </a:p>
          <a:p>
            <a:pPr marL="457200" lvl="1" indent="0">
              <a:buNone/>
            </a:pPr>
            <a:r>
              <a:rPr lang="en-GB" sz="1400" dirty="0">
                <a:latin typeface="Arial" panose="020B0604020202020204" pitchFamily="34" charset="0"/>
                <a:cs typeface="Arial" panose="020B0604020202020204" pitchFamily="34" charset="0"/>
              </a:rPr>
              <a:t>Hint! Check the .VCF specification here: </a:t>
            </a:r>
            <a:r>
              <a:rPr lang="en-GB" sz="1000" dirty="0">
                <a:latin typeface="Arial" panose="020B0604020202020204" pitchFamily="34" charset="0"/>
                <a:cs typeface="Arial" panose="020B0604020202020204" pitchFamily="34" charset="0"/>
                <a:hlinkClick r:id="rId3"/>
              </a:rPr>
              <a:t>https://samtools.github.io/hts-specs/VCFv4.2.pdf</a:t>
            </a:r>
            <a:r>
              <a:rPr lang="en-GB" sz="1000" dirty="0">
                <a:latin typeface="Arial" panose="020B0604020202020204" pitchFamily="34" charset="0"/>
                <a:cs typeface="Arial" panose="020B0604020202020204" pitchFamily="34" charset="0"/>
              </a:rPr>
              <a:t> </a:t>
            </a:r>
            <a:r>
              <a:rPr lang="en-GB" sz="1400" dirty="0">
                <a:latin typeface="Arial" panose="020B0604020202020204" pitchFamily="34" charset="0"/>
                <a:cs typeface="Arial" panose="020B0604020202020204" pitchFamily="34" charset="0"/>
              </a:rPr>
              <a:t>and Part4 of the workshop.</a:t>
            </a:r>
          </a:p>
          <a:p>
            <a:pPr marL="342900" indent="-342900">
              <a:buAutoNum type="arabicPeriod"/>
            </a:pPr>
            <a:r>
              <a:rPr lang="en-GB" sz="1800" dirty="0">
                <a:latin typeface="Arial" panose="020B0604020202020204" pitchFamily="34" charset="0"/>
                <a:cs typeface="Arial" panose="020B0604020202020204" pitchFamily="34" charset="0"/>
              </a:rPr>
              <a:t>Load the IGV software with the alignment (.BAM) file and the variant calling (.VCF) file.</a:t>
            </a:r>
          </a:p>
          <a:p>
            <a:pPr marL="800100" lvl="1" indent="-342900">
              <a:buAutoNum type="arabicPeriod"/>
            </a:pPr>
            <a:r>
              <a:rPr lang="en-GB" sz="1400" dirty="0">
                <a:latin typeface="Arial" panose="020B0604020202020204" pitchFamily="34" charset="0"/>
                <a:cs typeface="Arial" panose="020B0604020202020204" pitchFamily="34" charset="0"/>
              </a:rPr>
              <a:t>Point the IGV viewer to the previously selected variant</a:t>
            </a:r>
          </a:p>
          <a:p>
            <a:pPr marL="800100" lvl="1" indent="-342900">
              <a:buAutoNum type="arabicPeriod"/>
            </a:pPr>
            <a:r>
              <a:rPr lang="en-GB" sz="1400" dirty="0">
                <a:latin typeface="Arial" panose="020B0604020202020204" pitchFamily="34" charset="0"/>
                <a:cs typeface="Arial" panose="020B0604020202020204" pitchFamily="34" charset="0"/>
              </a:rPr>
              <a:t>Does it seem real to you? What do you think?</a:t>
            </a:r>
          </a:p>
          <a:p>
            <a:pPr marL="342900" indent="-342900">
              <a:buAutoNum type="arabicPeriod"/>
            </a:pPr>
            <a:r>
              <a:rPr lang="en-GB" sz="1800" dirty="0">
                <a:latin typeface="Arial" panose="020B0604020202020204" pitchFamily="34" charset="0"/>
                <a:cs typeface="Arial" panose="020B0604020202020204" pitchFamily="34" charset="0"/>
              </a:rPr>
              <a:t>Count the reads covering the position of the selected variants in the alignment file (.BAM) using the </a:t>
            </a:r>
            <a:r>
              <a:rPr lang="en-GB" sz="1800" dirty="0" err="1">
                <a:latin typeface="Arial" panose="020B0604020202020204" pitchFamily="34" charset="0"/>
                <a:cs typeface="Arial" panose="020B0604020202020204" pitchFamily="34" charset="0"/>
              </a:rPr>
              <a:t>samtools</a:t>
            </a:r>
            <a:r>
              <a:rPr lang="en-GB" sz="1800" dirty="0">
                <a:latin typeface="Arial" panose="020B0604020202020204" pitchFamily="34" charset="0"/>
                <a:cs typeface="Arial" panose="020B0604020202020204" pitchFamily="34" charset="0"/>
              </a:rPr>
              <a:t> tool.</a:t>
            </a:r>
          </a:p>
          <a:p>
            <a:pPr marL="457200" lvl="1" indent="0">
              <a:buNone/>
            </a:pPr>
            <a:r>
              <a:rPr lang="en-GB" sz="1400" dirty="0">
                <a:latin typeface="Arial" panose="020B0604020202020204" pitchFamily="34" charset="0"/>
                <a:cs typeface="Arial" panose="020B0604020202020204" pitchFamily="34" charset="0"/>
              </a:rPr>
              <a:t>Hint! You can find </a:t>
            </a:r>
            <a:r>
              <a:rPr lang="en-GB" sz="1400" dirty="0" err="1">
                <a:latin typeface="Arial" panose="020B0604020202020204" pitchFamily="34" charset="0"/>
                <a:cs typeface="Arial" panose="020B0604020202020204" pitchFamily="34" charset="0"/>
              </a:rPr>
              <a:t>samtools</a:t>
            </a:r>
            <a:r>
              <a:rPr lang="en-GB" sz="1400" dirty="0">
                <a:latin typeface="Arial" panose="020B0604020202020204" pitchFamily="34" charset="0"/>
                <a:cs typeface="Arial" panose="020B0604020202020204" pitchFamily="34" charset="0"/>
              </a:rPr>
              <a:t> in </a:t>
            </a:r>
            <a:r>
              <a:rPr lang="en-GB" sz="1400" dirty="0" err="1">
                <a:latin typeface="Arial" panose="020B0604020202020204" pitchFamily="34" charset="0"/>
                <a:cs typeface="Arial" panose="020B0604020202020204" pitchFamily="34" charset="0"/>
              </a:rPr>
              <a:t>software_update</a:t>
            </a:r>
            <a:r>
              <a:rPr lang="en-GB" sz="1400" dirty="0">
                <a:latin typeface="Arial" panose="020B0604020202020204" pitchFamily="34" charset="0"/>
                <a:cs typeface="Arial" panose="020B0604020202020204" pitchFamily="34" charset="0"/>
              </a:rPr>
              <a:t>/</a:t>
            </a:r>
            <a:r>
              <a:rPr lang="en-GB" sz="1400" dirty="0" err="1">
                <a:latin typeface="Arial" panose="020B0604020202020204" pitchFamily="34" charset="0"/>
                <a:cs typeface="Arial" panose="020B0604020202020204" pitchFamily="34" charset="0"/>
              </a:rPr>
              <a:t>samtools</a:t>
            </a:r>
            <a:r>
              <a:rPr lang="en-GB" sz="1400" dirty="0">
                <a:latin typeface="Arial" panose="020B0604020202020204" pitchFamily="34" charset="0"/>
                <a:cs typeface="Arial" panose="020B0604020202020204" pitchFamily="34" charset="0"/>
              </a:rPr>
              <a:t>).</a:t>
            </a:r>
          </a:p>
          <a:p>
            <a:pPr marL="457200" lvl="1" indent="0">
              <a:buNone/>
            </a:pPr>
            <a:r>
              <a:rPr lang="en-GB" sz="1400" dirty="0">
                <a:latin typeface="Arial" panose="020B0604020202020204" pitchFamily="34" charset="0"/>
                <a:cs typeface="Arial" panose="020B0604020202020204" pitchFamily="34" charset="0"/>
              </a:rPr>
              <a:t>Hint! Check </a:t>
            </a:r>
            <a:r>
              <a:rPr lang="en-GB" sz="1400" dirty="0" err="1">
                <a:latin typeface="Arial" panose="020B0604020202020204" pitchFamily="34" charset="0"/>
                <a:cs typeface="Arial" panose="020B0604020202020204" pitchFamily="34" charset="0"/>
              </a:rPr>
              <a:t>samtools</a:t>
            </a:r>
            <a:r>
              <a:rPr lang="en-GB" sz="1400" dirty="0">
                <a:latin typeface="Arial" panose="020B0604020202020204" pitchFamily="34" charset="0"/>
                <a:cs typeface="Arial" panose="020B0604020202020204" pitchFamily="34" charset="0"/>
              </a:rPr>
              <a:t> documentation here: </a:t>
            </a:r>
            <a:r>
              <a:rPr lang="en-GB" sz="1050" dirty="0">
                <a:latin typeface="Arial" panose="020B0604020202020204" pitchFamily="34" charset="0"/>
                <a:cs typeface="Arial" panose="020B0604020202020204" pitchFamily="34" charset="0"/>
                <a:hlinkClick r:id="rId4"/>
              </a:rPr>
              <a:t>http://www.htslib.org/doc/samtools.html</a:t>
            </a:r>
            <a:endParaRPr lang="en-GB" sz="1400" dirty="0">
              <a:latin typeface="Arial" panose="020B0604020202020204" pitchFamily="34" charset="0"/>
              <a:cs typeface="Arial" panose="020B0604020202020204" pitchFamily="34" charset="0"/>
            </a:endParaRPr>
          </a:p>
          <a:p>
            <a:pPr marL="457200" lvl="1" indent="0">
              <a:buNone/>
            </a:pPr>
            <a:r>
              <a:rPr lang="en-GB" sz="1400" dirty="0">
                <a:latin typeface="Arial" panose="020B0604020202020204" pitchFamily="34" charset="0"/>
                <a:cs typeface="Arial" panose="020B0604020202020204" pitchFamily="34" charset="0"/>
              </a:rPr>
              <a:t>Hint! Use the </a:t>
            </a:r>
            <a:r>
              <a:rPr lang="en-GB" sz="1400" dirty="0" err="1">
                <a:latin typeface="Arial" panose="020B0604020202020204" pitchFamily="34" charset="0"/>
                <a:cs typeface="Arial" panose="020B0604020202020204" pitchFamily="34" charset="0"/>
              </a:rPr>
              <a:t>samtools</a:t>
            </a:r>
            <a:r>
              <a:rPr lang="en-GB" sz="1400" dirty="0">
                <a:latin typeface="Arial" panose="020B0604020202020204" pitchFamily="34" charset="0"/>
                <a:cs typeface="Arial" panose="020B0604020202020204" pitchFamily="34" charset="0"/>
              </a:rPr>
              <a:t> view function.</a:t>
            </a:r>
            <a:endParaRPr lang="en-GB" sz="1800" dirty="0">
              <a:latin typeface="Arial" panose="020B0604020202020204" pitchFamily="34" charset="0"/>
              <a:cs typeface="Arial" panose="020B0604020202020204" pitchFamily="34" charset="0"/>
            </a:endParaRPr>
          </a:p>
          <a:p>
            <a:pPr marL="457200" lvl="1" indent="0">
              <a:buNone/>
            </a:pPr>
            <a:endParaRPr lang="en-GB" sz="1400" dirty="0">
              <a:latin typeface="Garamond" panose="02020404030301010803" pitchFamily="18" charset="0"/>
            </a:endParaRPr>
          </a:p>
          <a:p>
            <a:pPr marL="457200" lvl="1" indent="0">
              <a:buNone/>
            </a:pPr>
            <a:endParaRPr lang="en-GB" sz="1400" dirty="0">
              <a:latin typeface="Garamond" panose="02020404030301010803" pitchFamily="18" charset="0"/>
            </a:endParaRPr>
          </a:p>
        </p:txBody>
      </p:sp>
      <p:sp>
        <p:nvSpPr>
          <p:cNvPr id="2" name="TextBox 1">
            <a:extLst>
              <a:ext uri="{FF2B5EF4-FFF2-40B4-BE49-F238E27FC236}">
                <a16:creationId xmlns:a16="http://schemas.microsoft.com/office/drawing/2014/main" id="{1F11ADD8-847C-46F6-9DC3-7A4242012338}"/>
              </a:ext>
            </a:extLst>
          </p:cNvPr>
          <p:cNvSpPr txBox="1"/>
          <p:nvPr/>
        </p:nvSpPr>
        <p:spPr>
          <a:xfrm>
            <a:off x="3738717" y="790918"/>
            <a:ext cx="4996881" cy="400110"/>
          </a:xfrm>
          <a:prstGeom prst="rect">
            <a:avLst/>
          </a:prstGeom>
          <a:noFill/>
        </p:spPr>
        <p:txBody>
          <a:bodyPr wrap="none" rtlCol="0">
            <a:spAutoFit/>
          </a:bodyPr>
          <a:lstStyle/>
          <a:p>
            <a:r>
              <a:rPr lang="en-GB" sz="2000" dirty="0">
                <a:latin typeface="Arial" panose="020B0604020202020204" pitchFamily="34" charset="0"/>
                <a:cs typeface="Arial" panose="020B0604020202020204" pitchFamily="34" charset="0"/>
              </a:rPr>
              <a:t>Don’t be shy! Seek advice if you get stuck!</a:t>
            </a:r>
          </a:p>
        </p:txBody>
      </p:sp>
    </p:spTree>
    <p:extLst>
      <p:ext uri="{BB962C8B-B14F-4D97-AF65-F5344CB8AC3E}">
        <p14:creationId xmlns:p14="http://schemas.microsoft.com/office/powerpoint/2010/main" val="842352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3772</TotalTime>
  <Words>3712</Words>
  <Application>Microsoft Office PowerPoint</Application>
  <PresentationFormat>Widescreen</PresentationFormat>
  <Paragraphs>438</Paragraphs>
  <Slides>42</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ＭＳ Ｐゴシック</vt:lpstr>
      <vt:lpstr>Arial</vt:lpstr>
      <vt:lpstr>Calibri</vt:lpstr>
      <vt:lpstr>Calibri Light</vt:lpstr>
      <vt:lpstr>Consolas</vt:lpstr>
      <vt:lpstr>Garamond</vt:lpstr>
      <vt:lpstr>Wingdings</vt:lpstr>
      <vt:lpstr>Office Theme</vt:lpstr>
      <vt:lpstr>Next-Generation Sequencing Analysis</vt:lpstr>
      <vt:lpstr>Workshop set-up</vt:lpstr>
      <vt:lpstr>Workshop set-up</vt:lpstr>
      <vt:lpstr>Workshop set-up</vt:lpstr>
      <vt:lpstr>Workshop set-up</vt:lpstr>
      <vt:lpstr>Learning Objectives</vt:lpstr>
      <vt:lpstr>PowerPoint Presentation</vt:lpstr>
      <vt:lpstr>PowerPoint Presentation</vt:lpstr>
      <vt:lpstr>Introduction NGS</vt:lpstr>
      <vt:lpstr>Library Preparation</vt:lpstr>
      <vt:lpstr>Sequencing the library – Part I</vt:lpstr>
      <vt:lpstr>Sequencing the library – Part II</vt:lpstr>
      <vt:lpstr>Mapping The Short Reads</vt:lpstr>
      <vt:lpstr>Genomics – Data Sizes</vt:lpstr>
      <vt:lpstr>Genomics  – Data Sizes</vt:lpstr>
      <vt:lpstr>NGS– Processing Time </vt:lpstr>
      <vt:lpstr>Genomic Data - Practical Challenges </vt:lpstr>
      <vt:lpstr>Analysis of the Human mtDNA Sequence</vt:lpstr>
      <vt:lpstr>Part 1 – Preparing reference</vt:lpstr>
      <vt:lpstr>Part 1 – Preparing reference</vt:lpstr>
      <vt:lpstr>Part 1 – Preparing reference</vt:lpstr>
      <vt:lpstr>Part 1 – Preparing Reference</vt:lpstr>
      <vt:lpstr>Part 1 – Preparing Reference</vt:lpstr>
      <vt:lpstr>PowerPoint Presentation</vt:lpstr>
      <vt:lpstr>Part 2 – FASTQ files QC</vt:lpstr>
      <vt:lpstr>Part 2 – Fastq files QC</vt:lpstr>
      <vt:lpstr>Part 3 - Alignment</vt:lpstr>
      <vt:lpstr>Part 3 - Alignment</vt:lpstr>
      <vt:lpstr>Part 3 - Alignment</vt:lpstr>
      <vt:lpstr>Part 3 - Alignment</vt:lpstr>
      <vt:lpstr>Part 3 - Alignment</vt:lpstr>
      <vt:lpstr>BAM FILE</vt:lpstr>
      <vt:lpstr>Part 4 – Variant Calling</vt:lpstr>
      <vt:lpstr>Part 4 – Variant calling</vt:lpstr>
      <vt:lpstr>Part 4 – Variant Calling</vt:lpstr>
      <vt:lpstr>VCF File</vt:lpstr>
      <vt:lpstr>Part 5 – Functional Annotation</vt:lpstr>
      <vt:lpstr>Part 5 – Functional Annotation</vt:lpstr>
      <vt:lpstr>Part 5 – Functional Annotation</vt:lpstr>
      <vt:lpstr>Part 5</vt:lpstr>
      <vt:lpstr>Part 6</vt:lpstr>
      <vt:lpstr>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Next-Generation Sequencing Analysis</dc:title>
  <dc:creator>Alan Pittman</dc:creator>
  <cp:lastModifiedBy>Sara Dobbins</cp:lastModifiedBy>
  <cp:revision>34</cp:revision>
  <dcterms:created xsi:type="dcterms:W3CDTF">2020-01-28T15:52:23Z</dcterms:created>
  <dcterms:modified xsi:type="dcterms:W3CDTF">2026-01-12T13:57:05Z</dcterms:modified>
</cp:coreProperties>
</file>